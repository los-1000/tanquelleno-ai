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1.svg" ContentType="image/svg+xml"/>
  <Override PartName="/ppt/media/image12.svg" ContentType="image/svg+xml"/>
  <Override PartName="/ppt/media/image15.svg" ContentType="image/svg+xml"/>
  <Override PartName="/ppt/media/image4.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7" d="100"/>
          <a:sy n="77" d="100"/>
        </p:scale>
        <p:origin x="46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4115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tardes. Somos el equipo de Lunetra IA. En una frase: ayudamos al conductor de Lima a saber si hoy le conviene llenar el tanque o si es mejor esperar. Detrás hay seis años de precios oficiales; adelante, una sola frase.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Empecemos por la pregunta que motiva todo el proyecto. Cualquiera que maneje en Lima se la hace: lleno hoy, o espero unos días. Hoy nadie tiene la respuesta, así que se decide por costumbre: uno carga en el grifo de siempre, el día que se acordó. Ahí está el problema.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le hablamos a todo el Perú. Le hablamos a una persona concreta: alguien que vive en Lima, usa su carro para trabajar todos los días, carga unos ocho galones por semana y paga de su propio bolsillo. Para esa persona, ahorrar veinte soles al mes sí importa.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hallazgo más importante y el más fácil de entender. Miramos todos los grifos del país en un mismo día: el 28 de febrero. El más barato vendía la gasolina a trece treinta y nueve, y el más caro a quince setenta. Mismo día, mismo combustible, dos soles doce de diferencia por galón. No es inflación, no es el dólar: es simplemente dónde cargas.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Traduzcamos esos dos soles doce a lo que de verdad importa: plata. Una carga de ocho galones son diecisiete soles de diferencia. Al mes, sesenta y ocho. Al año, ochocientos catorce soles. Eso es casi un sueldo mínimo perdido por no saber dónde cargar.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Segundo hallazgo, y es la razón por la que el proyecto es posible. De cada cien grifos, noventa y seis mantienen exactamente el mismo precio de un día para otro. Los precios se mueven lento. Y eso es buena noticia: si fueran caóticos, no habría nada que anticipar. Como son lentos y predecibles, sí se puede avisar con tiempo.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pregunta que siempre nos hacen: de dónde sacan esos números. Todo sale de Osinergmin, el organismo que regula la energía en el Perú, y es información pública que cualquiera puede descargar. No compramos datos, no encuestamos a nadie y no inventamos nada. Son ocho mil ochocientos veinticinco grifos y casi medio millón de precios.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Entonces, qué es Lunetra IA. Es una aplicación que responde una sola pregunta, y la responde bien: carga hoy, o puedes esperar. No es un comparador con mil filtros ni un mapa. Es una respuesta corta, en español, con un rango de precio para que sepas si te están cobrando de más.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funciona, en cuatro pasos y sin tecnicismos. Uno: el conductor elige su ciudad y su combustible. Dos: Lunetra revisa el historial de precios. Tres: calcula si es más probable que suba o que baje el próximo mes. Cuatro: le responde en una frase y le da un rango de precio para que sepa si le están cobrando de más.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ve en el celular. Fíjense que no hay gráficos, ni porcentajes, ni percentiles. Hay una frase que cualquiera entiende, un rango de precio para que sepa si le están cobrando de más, y un aviso honesto de que es una estimación y no una garantía.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Preferimos decir de frente lo que Lunetra no hace, porque sabemos que nos lo van a preguntar. No te lleva al grifo más cercano, porque los datos públicos no traen la ubicación exacta de cada estación. No garantiza un precio, porque nadie puede. Y no es una app de pagos. Lo único que promete es decirte si conviene cargar hoy.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la misma honestidad, esto es lo que todavía nos falta. Primero: sumar el precio del petróleo y del dólar, porque son los que empujan el precio local. Segundo: poner la app en línea para que cualquiera la abra. Tercero: probarla con conductores de verdad. Tenemos fecha para las tres.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como empezamos. Hay dos soles doce de diferencia entre dos grifos el mismo día, y hoy nadie se lo dice al conductor. Lunetra IA se lo dice, en una frase. Eso es todo el proyecto. Muchas gracias, y quedamos atentos a sus preguntas.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svg"/><Relationship Id="rId4" Type="http://schemas.openxmlformats.org/officeDocument/2006/relationships/image" Target="../media/image2.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svg"/><Relationship Id="rId4" Type="http://schemas.openxmlformats.org/officeDocument/2006/relationships/image" Target="../media/image2.pn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svg"/><Relationship Id="rId4" Type="http://schemas.openxmlformats.org/officeDocument/2006/relationships/image" Target="../media/image2.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svg"/><Relationship Id="rId4" Type="http://schemas.openxmlformats.org/officeDocument/2006/relationships/image" Target="../media/image2.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svg"/><Relationship Id="rId4" Type="http://schemas.openxmlformats.org/officeDocument/2006/relationships/image" Target="../media/image2.png"/><Relationship Id="rId5"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B2440">
                  <a:alpha val="100000"/>
                </a:srgbClr>
              </a:gs>
              <a:gs pos="54000">
                <a:srgbClr val="061224">
                  <a:alpha val="100000"/>
                </a:srgbClr>
              </a:gs>
              <a:gs pos="100000">
                <a:srgbClr val="000000">
                  <a:alpha val="100000"/>
                </a:srgbClr>
              </a:gs>
            </a:gsLst>
            <a:path path="circle">
              <a:fillToRect l="50000" t="46000" r="50000" b="54000"/>
            </a:path>
          </a:gradFill>
          <a:ln/>
        </p:spPr>
        <p:txBody>
          <a:bodyPr/>
          <a:lstStyle/>
          <a:p>
            <a:endParaRPr lang="es-001"/>
          </a:p>
        </p:txBody>
      </p:sp>
      <p:pic>
        <p:nvPicPr>
          <p:cNvPr id="3" name="Image 0" descr="preencoded.png"/>
          <p:cNvPicPr>
            <a:picLocks noChangeAspect="1"/>
          </p:cNvPicPr>
          <p:nvPr/>
        </p:nvPicPr>
        <p:blipFill>
          <a:blip r:embed="rId3"/>
          <a:srcRect t="10604" b="33579"/>
          <a:stretch/>
        </p:blipFill>
        <p:spPr>
          <a:xfrm>
            <a:off x="0" y="0"/>
            <a:ext cx="18288000" cy="10287000"/>
          </a:xfrm>
          <a:prstGeom prst="rect">
            <a:avLst/>
          </a:prstGeom>
        </p:spPr>
      </p:pic>
      <p:sp>
        <p:nvSpPr>
          <p:cNvPr id="4" name="Shape 1"/>
          <p:cNvSpPr/>
          <p:nvPr/>
        </p:nvSpPr>
        <p:spPr>
          <a:xfrm>
            <a:off x="0" y="0"/>
            <a:ext cx="18288000" cy="10287000"/>
          </a:xfrm>
          <a:prstGeom prst="rect">
            <a:avLst/>
          </a:prstGeom>
          <a:gradFill rotWithShape="1">
            <a:gsLst>
              <a:gs pos="30000">
                <a:srgbClr val="02070E">
                  <a:alpha val="0"/>
                </a:srgbClr>
              </a:gs>
              <a:gs pos="72000">
                <a:srgbClr val="02070E">
                  <a:alpha val="50000"/>
                </a:srgbClr>
              </a:gs>
              <a:gs pos="100000">
                <a:srgbClr val="010409">
                  <a:alpha val="90000"/>
                </a:srgbClr>
              </a:gs>
            </a:gsLst>
            <a:path path="circle">
              <a:fillToRect l="50000" t="46000" r="50000" b="54000"/>
            </a:path>
          </a:gradFill>
          <a:ln/>
        </p:spPr>
        <p:txBody>
          <a:bodyPr/>
          <a:lstStyle/>
          <a:p>
            <a:endParaRPr lang="es-001"/>
          </a:p>
        </p:txBody>
      </p:sp>
      <p:sp>
        <p:nvSpPr>
          <p:cNvPr id="5" name="Shape 2"/>
          <p:cNvSpPr/>
          <p:nvPr/>
        </p:nvSpPr>
        <p:spPr>
          <a:xfrm>
            <a:off x="-2132083" y="-1447520"/>
            <a:ext cx="22985430" cy="12929304"/>
          </a:xfrm>
          <a:prstGeom prst="rect">
            <a:avLst/>
          </a:prstGeom>
          <a:gradFill rotWithShape="1">
            <a:gsLst>
              <a:gs pos="0">
                <a:srgbClr val="88C1ED">
                  <a:alpha val="31000"/>
                </a:srgbClr>
              </a:gs>
              <a:gs pos="36000">
                <a:srgbClr val="4686B7">
                  <a:alpha val="14000"/>
                </a:srgbClr>
              </a:gs>
              <a:gs pos="74000">
                <a:srgbClr val="4686B7">
                  <a:alpha val="0"/>
                </a:srgbClr>
              </a:gs>
            </a:gsLst>
            <a:path path="circle">
              <a:fillToRect l="24000" t="100000" r="76000"/>
            </a:path>
          </a:gradFill>
          <a:ln/>
        </p:spPr>
        <p:txBody>
          <a:bodyPr/>
          <a:lstStyle/>
          <a:p>
            <a:endParaRPr lang="es-001"/>
          </a:p>
        </p:txBody>
      </p:sp>
      <p:sp>
        <p:nvSpPr>
          <p:cNvPr id="6" name="Shape 3"/>
          <p:cNvSpPr/>
          <p:nvPr/>
        </p:nvSpPr>
        <p:spPr>
          <a:xfrm>
            <a:off x="0" y="6477000"/>
            <a:ext cx="18288000" cy="3810000"/>
          </a:xfrm>
          <a:prstGeom prst="rect">
            <a:avLst/>
          </a:prstGeom>
          <a:gradFill rotWithShape="1">
            <a:gsLst>
              <a:gs pos="0">
                <a:srgbClr val="010409">
                  <a:alpha val="0"/>
                </a:srgbClr>
              </a:gs>
              <a:gs pos="62000">
                <a:srgbClr val="010409">
                  <a:alpha val="86000"/>
                </a:srgbClr>
              </a:gs>
              <a:gs pos="100000">
                <a:srgbClr val="01040A">
                  <a:alpha val="100000"/>
                </a:srgbClr>
              </a:gs>
            </a:gsLst>
            <a:lin ang="5400000" scaled="0"/>
          </a:gradFill>
          <a:ln/>
        </p:spPr>
        <p:txBody>
          <a:bodyPr/>
          <a:lstStyle/>
          <a:p>
            <a:endParaRPr lang="es-001"/>
          </a:p>
        </p:txBody>
      </p:sp>
      <p:pic>
        <p:nvPicPr>
          <p:cNvPr id="7" name="Image 1" descr="preencoded.png"/>
          <p:cNvPicPr>
            <a:picLocks noChangeAspect="1"/>
          </p:cNvPicPr>
          <p:nvPr/>
        </p:nvPicPr>
        <p:blipFill>
          <a:blip r:embed="rId4">
            <a:alphaModFix amt="92000"/>
          </a:blip>
          <a:stretch>
            <a:fillRect/>
          </a:stretch>
        </p:blipFill>
        <p:spPr>
          <a:xfrm>
            <a:off x="1143000" y="552450"/>
            <a:ext cx="919907" cy="438150"/>
          </a:xfrm>
          <a:prstGeom prst="rect">
            <a:avLst/>
          </a:prstGeom>
        </p:spPr>
      </p:pic>
      <p:sp>
        <p:nvSpPr>
          <p:cNvPr id="8" name="Text 4"/>
          <p:cNvSpPr/>
          <p:nvPr/>
        </p:nvSpPr>
        <p:spPr>
          <a:xfrm>
            <a:off x="16526768" y="633413"/>
            <a:ext cx="694432" cy="314325"/>
          </a:xfrm>
          <a:prstGeom prst="rect">
            <a:avLst/>
          </a:prstGeom>
          <a:noFill/>
          <a:ln/>
        </p:spPr>
        <p:txBody>
          <a:bodyPr wrap="square" lIns="25400" tIns="25400" rIns="25400" bIns="25400" rtlCol="0" anchor="t">
            <a:normAutofit/>
          </a:bodyPr>
          <a:lstStyle/>
          <a:p>
            <a:pPr marL="0" indent="0" algn="l">
              <a:buNone/>
            </a:pPr>
            <a:r>
              <a:rPr lang="en-US" sz="1800" kern="0" spc="0" dirty="0">
                <a:solidFill>
                  <a:srgbClr val="FFFFFF">
                    <a:alpha val="72000"/>
                  </a:srgbClr>
                </a:solidFill>
                <a:latin typeface="Helvetica Neue" pitchFamily="34" charset="0"/>
                <a:ea typeface="Helvetica Neue" pitchFamily="34" charset="-122"/>
                <a:cs typeface="Helvetica Neue" pitchFamily="34" charset="-120"/>
              </a:rPr>
              <a:t>2026</a:t>
            </a:r>
            <a:endParaRPr lang="en-US" sz="1800" dirty="0"/>
          </a:p>
        </p:txBody>
      </p:sp>
      <p:pic>
        <p:nvPicPr>
          <p:cNvPr id="9" name="Image 2" descr="preencoded.png"/>
          <p:cNvPicPr>
            <a:picLocks noChangeAspect="1"/>
          </p:cNvPicPr>
          <p:nvPr/>
        </p:nvPicPr>
        <p:blipFill>
          <a:blip r:embed="rId5"/>
          <a:stretch>
            <a:fillRect/>
          </a:stretch>
        </p:blipFill>
        <p:spPr>
          <a:xfrm>
            <a:off x="4795838" y="4000500"/>
            <a:ext cx="6984950" cy="1905000"/>
          </a:xfrm>
          <a:prstGeom prst="rect">
            <a:avLst/>
          </a:prstGeom>
        </p:spPr>
      </p:pic>
      <p:sp>
        <p:nvSpPr>
          <p:cNvPr id="10" name="Text 5"/>
          <p:cNvSpPr/>
          <p:nvPr/>
        </p:nvSpPr>
        <p:spPr>
          <a:xfrm>
            <a:off x="12104638" y="4076700"/>
            <a:ext cx="1526932" cy="1790700"/>
          </a:xfrm>
          <a:prstGeom prst="rect">
            <a:avLst/>
          </a:prstGeom>
          <a:noFill/>
          <a:ln/>
          <a:effectLst>
            <a:outerShdw blurRad="666750" dist="50800" dir="16200000" algn="bl" rotWithShape="0">
              <a:srgbClr val="061224">
                <a:alpha val="95000"/>
              </a:srgbClr>
            </a:outerShdw>
          </a:effectLst>
        </p:spPr>
        <p:txBody>
          <a:bodyPr wrap="square" lIns="25400" tIns="25400" rIns="25400" bIns="25400" rtlCol="0" anchor="t">
            <a:normAutofit/>
          </a:bodyPr>
          <a:lstStyle/>
          <a:p>
            <a:pPr marL="0" indent="0" algn="l">
              <a:lnSpc>
                <a:spcPct val="82883"/>
              </a:lnSpc>
              <a:buNone/>
            </a:pPr>
            <a:r>
              <a:rPr lang="en-US" sz="13800" kern="0" spc="0" dirty="0">
                <a:solidFill>
                  <a:srgbClr val="FFFFFF"/>
                </a:solidFill>
                <a:latin typeface="Helvetica Neue" pitchFamily="34" charset="0"/>
                <a:ea typeface="Helvetica Neue" pitchFamily="34" charset="-122"/>
                <a:cs typeface="Helvetica Neue" pitchFamily="34" charset="-120"/>
              </a:rPr>
              <a:t>IA</a:t>
            </a:r>
            <a:endParaRPr lang="en-US" sz="13800" dirty="0"/>
          </a:p>
        </p:txBody>
      </p:sp>
      <p:sp>
        <p:nvSpPr>
          <p:cNvPr id="11" name="Shape 6"/>
          <p:cNvSpPr/>
          <p:nvPr/>
        </p:nvSpPr>
        <p:spPr>
          <a:xfrm>
            <a:off x="1143000" y="9039225"/>
            <a:ext cx="16002000" cy="9525"/>
          </a:xfrm>
          <a:prstGeom prst="rect">
            <a:avLst/>
          </a:prstGeom>
          <a:solidFill>
            <a:srgbClr val="BFDDF5">
              <a:alpha val="16000"/>
            </a:srgbClr>
          </a:solidFill>
          <a:ln/>
        </p:spPr>
        <p:txBody>
          <a:bodyPr/>
          <a:lstStyle/>
          <a:p>
            <a:endParaRPr lang="es-001"/>
          </a:p>
        </p:txBody>
      </p:sp>
      <p:sp>
        <p:nvSpPr>
          <p:cNvPr id="12" name="Text 7"/>
          <p:cNvSpPr/>
          <p:nvPr/>
        </p:nvSpPr>
        <p:spPr>
          <a:xfrm>
            <a:off x="1143000" y="9277350"/>
            <a:ext cx="7906583" cy="342900"/>
          </a:xfrm>
          <a:prstGeom prst="rect">
            <a:avLst/>
          </a:prstGeom>
          <a:noFill/>
          <a:ln/>
        </p:spPr>
        <p:txBody>
          <a:bodyPr wrap="square" lIns="25400" tIns="25400" rIns="25400" bIns="25400" rtlCol="0" anchor="t">
            <a:normAutofit/>
          </a:bodyPr>
          <a:lstStyle/>
          <a:p>
            <a:pPr marL="0" indent="0" algn="l">
              <a:buNone/>
            </a:pPr>
            <a:r>
              <a:rPr lang="en-US" sz="1950" dirty="0">
                <a:solidFill>
                  <a:srgbClr val="FFFFFF">
                    <a:alpha val="70000"/>
                  </a:srgbClr>
                </a:solidFill>
                <a:latin typeface="Helvetica Neue" pitchFamily="34" charset="0"/>
                <a:ea typeface="Helvetica Neue" pitchFamily="34" charset="-122"/>
                <a:cs typeface="Helvetica Neue" pitchFamily="34" charset="-120"/>
              </a:rPr>
              <a:t>Stefano Canales · Carlos Flores · Carlos Alcazar · Miguel Ángel Mori</a:t>
            </a:r>
            <a:endParaRPr lang="en-US" sz="1950" dirty="0"/>
          </a:p>
        </p:txBody>
      </p:sp>
      <p:sp>
        <p:nvSpPr>
          <p:cNvPr id="13" name="Text 8"/>
          <p:cNvSpPr/>
          <p:nvPr/>
        </p:nvSpPr>
        <p:spPr>
          <a:xfrm>
            <a:off x="10419011" y="9277350"/>
            <a:ext cx="7398588" cy="342900"/>
          </a:xfrm>
          <a:prstGeom prst="rect">
            <a:avLst/>
          </a:prstGeom>
          <a:noFill/>
          <a:ln/>
        </p:spPr>
        <p:txBody>
          <a:bodyPr wrap="square" lIns="25400" tIns="25400" rIns="25400" bIns="25400" rtlCol="0" anchor="t">
            <a:normAutofit/>
          </a:bodyPr>
          <a:lstStyle/>
          <a:p>
            <a:pPr marL="0" indent="0" algn="l">
              <a:buNone/>
            </a:pPr>
            <a:r>
              <a:rPr lang="en-US" sz="1950" dirty="0">
                <a:solidFill>
                  <a:srgbClr val="FFFFFF">
                    <a:alpha val="70000"/>
                  </a:srgbClr>
                </a:solidFill>
                <a:latin typeface="Helvetica Neue" pitchFamily="34" charset="0"/>
                <a:ea typeface="Helvetica Neue" pitchFamily="34" charset="-122"/>
                <a:cs typeface="Helvetica Neue" pitchFamily="34" charset="-120"/>
              </a:rPr>
              <a:t>Inteligencia Artificial para Negocios · 19 de septiembre de 2026</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23A5C">
                  <a:alpha val="100000"/>
                </a:srgbClr>
              </a:gs>
              <a:gs pos="30000">
                <a:srgbClr val="0A1E33">
                  <a:alpha val="100000"/>
                </a:srgbClr>
              </a:gs>
              <a:gs pos="64000">
                <a:srgbClr val="040B14">
                  <a:alpha val="100000"/>
                </a:srgbClr>
              </a:gs>
              <a:gs pos="100000">
                <a:srgbClr val="000000">
                  <a:alpha val="100000"/>
                </a:srgbClr>
              </a:gs>
            </a:gsLst>
            <a:path path="circle">
              <a:fillToRect l="50000" t="100000" r="50000"/>
            </a:path>
          </a:gradFill>
          <a:ln/>
        </p:spPr>
        <p:txBody>
          <a:bodyPr/>
          <a:lstStyle/>
          <a:p>
            <a:endParaRPr lang="es-001"/>
          </a:p>
        </p:txBody>
      </p:sp>
      <p:sp>
        <p:nvSpPr>
          <p:cNvPr id="3" name="Shape 1"/>
          <p:cNvSpPr/>
          <p:nvPr/>
        </p:nvSpPr>
        <p:spPr>
          <a:xfrm>
            <a:off x="-2244386" y="-1602605"/>
            <a:ext cx="23370467" cy="13145887"/>
          </a:xfrm>
          <a:prstGeom prst="rect">
            <a:avLst/>
          </a:prstGeom>
          <a:gradFill rotWithShape="1">
            <a:gsLst>
              <a:gs pos="0">
                <a:srgbClr val="EAF4FC">
                  <a:alpha val="64000"/>
                </a:srgbClr>
              </a:gs>
              <a:gs pos="20000">
                <a:srgbClr val="88C1ED">
                  <a:alpha val="38000"/>
                </a:srgbClr>
              </a:gs>
              <a:gs pos="46000">
                <a:srgbClr val="4686B7">
                  <a:alpha val="18000"/>
                </a:srgbClr>
              </a:gs>
              <a:gs pos="80000">
                <a:srgbClr val="4686B7">
                  <a:alpha val="0"/>
                </a:srgbClr>
              </a:gs>
            </a:gsLst>
            <a:path path="circle">
              <a:fillToRect l="50000" t="100000" r="50000"/>
            </a:path>
          </a:gradFill>
          <a:ln/>
        </p:spPr>
        <p:txBody>
          <a:bodyPr/>
          <a:lstStyle/>
          <a:p>
            <a:endParaRPr lang="es-001"/>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8288000" cy="10287000"/>
          </a:xfrm>
          <a:prstGeom prst="rect">
            <a:avLst/>
          </a:prstGeom>
        </p:spPr>
      </p:pic>
      <p:sp>
        <p:nvSpPr>
          <p:cNvPr id="5" name="Shape 2"/>
          <p:cNvSpPr/>
          <p:nvPr/>
        </p:nvSpPr>
        <p:spPr>
          <a:xfrm>
            <a:off x="1047750" y="647700"/>
            <a:ext cx="285750" cy="9525"/>
          </a:xfrm>
          <a:prstGeom prst="rect">
            <a:avLst/>
          </a:prstGeom>
          <a:solidFill>
            <a:srgbClr val="BFDDF5">
              <a:alpha val="50000"/>
            </a:srgbClr>
          </a:solidFill>
          <a:ln/>
        </p:spPr>
        <p:txBody>
          <a:bodyPr/>
          <a:lstStyle/>
          <a:p>
            <a:endParaRPr lang="es-001"/>
          </a:p>
        </p:txBody>
      </p:sp>
      <p:sp>
        <p:nvSpPr>
          <p:cNvPr id="6" name="Text 3"/>
          <p:cNvSpPr/>
          <p:nvPr/>
        </p:nvSpPr>
        <p:spPr>
          <a:xfrm>
            <a:off x="1466850" y="514350"/>
            <a:ext cx="2007641" cy="304800"/>
          </a:xfrm>
          <a:prstGeom prst="rect">
            <a:avLst/>
          </a:prstGeom>
          <a:noFill/>
          <a:ln/>
        </p:spPr>
        <p:txBody>
          <a:bodyPr wrap="square" lIns="0" tIns="0" rIns="0" bIns="0" rtlCol="0" anchor="t">
            <a:normAutofit/>
          </a:bodyPr>
          <a:lstStyle/>
          <a:p>
            <a:pPr marL="0" indent="0" algn="l">
              <a:buNone/>
            </a:pPr>
            <a:r>
              <a:rPr lang="en-US" sz="1800" kern="0" spc="0" dirty="0">
                <a:solidFill>
                  <a:srgbClr val="FFFFFF">
                    <a:alpha val="50000"/>
                  </a:srgbClr>
                </a:solidFill>
                <a:latin typeface="Helvetica Neue" pitchFamily="34" charset="0"/>
                <a:ea typeface="Helvetica Neue" pitchFamily="34" charset="-122"/>
                <a:cs typeface="Helvetica Neue" pitchFamily="34" charset="-120"/>
              </a:rPr>
              <a:t>EL PROBLEMA</a:t>
            </a:r>
            <a:endParaRPr lang="en-US" sz="1800" dirty="0"/>
          </a:p>
        </p:txBody>
      </p:sp>
      <p:sp>
        <p:nvSpPr>
          <p:cNvPr id="7" name="Text 4"/>
          <p:cNvSpPr/>
          <p:nvPr/>
        </p:nvSpPr>
        <p:spPr>
          <a:xfrm>
            <a:off x="1047750" y="1205451"/>
            <a:ext cx="11576685" cy="1314450"/>
          </a:xfrm>
          <a:prstGeom prst="rect">
            <a:avLst/>
          </a:prstGeom>
          <a:noFill/>
          <a:ln/>
        </p:spPr>
        <p:txBody>
          <a:bodyPr wrap="square" lIns="25400" tIns="25400" rIns="25400" bIns="25400" rtlCol="0" anchor="t">
            <a:normAutofit/>
          </a:bodyPr>
          <a:lstStyle/>
          <a:p>
            <a:pPr marL="0" indent="0" algn="l">
              <a:lnSpc>
                <a:spcPct val="98824"/>
              </a:lnSpc>
              <a:buNone/>
            </a:pPr>
            <a:r>
              <a:rPr lang="en-US" sz="4200" kern="0" spc="0" dirty="0">
                <a:solidFill>
                  <a:srgbClr val="FFFFFF">
                    <a:alpha val="61000"/>
                  </a:srgbClr>
                </a:solidFill>
                <a:latin typeface="Helvetica Neue" pitchFamily="34" charset="0"/>
                <a:ea typeface="Helvetica Neue" pitchFamily="34" charset="-122"/>
                <a:cs typeface="Helvetica Neue" pitchFamily="34" charset="-120"/>
              </a:rPr>
              <a:t>Todos los que manejan en Lima se hacen la misma pregunta, </a:t>
            </a:r>
            <a:r>
              <a:rPr lang="en-US" sz="4200" kern="0" spc="0" dirty="0">
                <a:solidFill>
                  <a:srgbClr val="FFFFFF">
                    <a:alpha val="99000"/>
                  </a:srgbClr>
                </a:solidFill>
                <a:latin typeface="Helvetica Neue" pitchFamily="34" charset="0"/>
                <a:ea typeface="Helvetica Neue" pitchFamily="34" charset="-122"/>
                <a:cs typeface="Helvetica Neue" pitchFamily="34" charset="-120"/>
              </a:rPr>
              <a:t>y nadie tiene la respuesta</a:t>
            </a:r>
            <a:endParaRPr lang="en-US" sz="4200" dirty="0"/>
          </a:p>
        </p:txBody>
      </p:sp>
      <p:sp>
        <p:nvSpPr>
          <p:cNvPr id="8" name="Text 5"/>
          <p:cNvSpPr/>
          <p:nvPr/>
        </p:nvSpPr>
        <p:spPr>
          <a:xfrm>
            <a:off x="2166938" y="3886200"/>
            <a:ext cx="15349374" cy="1543050"/>
          </a:xfrm>
          <a:prstGeom prst="rect">
            <a:avLst/>
          </a:prstGeom>
          <a:noFill/>
          <a:ln/>
        </p:spPr>
        <p:txBody>
          <a:bodyPr wrap="none" lIns="25400" tIns="25400" rIns="25400" bIns="25400" rtlCol="0" anchor="t">
            <a:normAutofit/>
          </a:bodyPr>
          <a:lstStyle/>
          <a:p>
            <a:pPr marL="0" indent="0" algn="l">
              <a:lnSpc>
                <a:spcPct val="82292"/>
              </a:lnSpc>
              <a:buNone/>
            </a:pPr>
            <a:r>
              <a:rPr lang="en-US" sz="11850" kern="0" spc="0" dirty="0">
                <a:gradFill rotWithShape="1">
                  <a:gsLst>
                    <a:gs pos="0">
                      <a:srgbClr val="6F7C8A">
                        <a:alpha val="95000"/>
                      </a:srgbClr>
                    </a:gs>
                    <a:gs pos="16000">
                      <a:srgbClr val="8E9AA8">
                        <a:alpha val="95000"/>
                      </a:srgbClr>
                    </a:gs>
                    <a:gs pos="42000">
                      <a:srgbClr val="FFFFFF">
                        <a:alpha val="95000"/>
                      </a:srgbClr>
                    </a:gs>
                    <a:gs pos="64000">
                      <a:srgbClr val="BFDDF5">
                        <a:alpha val="95000"/>
                      </a:srgbClr>
                    </a:gs>
                    <a:gs pos="100000">
                      <a:srgbClr val="88C1ED">
                        <a:alpha val="95000"/>
                      </a:srgbClr>
                    </a:gs>
                  </a:gsLst>
                  <a:lin ang="600000" scaled="0"/>
                </a:gradFill>
                <a:latin typeface="Helvetica Neue" pitchFamily="34" charset="0"/>
                <a:ea typeface="Helvetica Neue" pitchFamily="34" charset="-122"/>
                <a:cs typeface="Helvetica Neue" pitchFamily="34" charset="-120"/>
              </a:rPr>
              <a:t>«¿Lleno hoy o espero?»</a:t>
            </a:r>
            <a:endParaRPr lang="en-US" sz="11850" dirty="0"/>
          </a:p>
        </p:txBody>
      </p:sp>
      <p:sp>
        <p:nvSpPr>
          <p:cNvPr id="9" name="Shape 6"/>
          <p:cNvSpPr/>
          <p:nvPr/>
        </p:nvSpPr>
        <p:spPr>
          <a:xfrm>
            <a:off x="1027030" y="6443905"/>
            <a:ext cx="5273814" cy="2375893"/>
          </a:xfrm>
          <a:prstGeom prst="roundRect">
            <a:avLst>
              <a:gd name="adj" fmla="val 9622"/>
            </a:avLst>
          </a:prstGeom>
          <a:solidFill>
            <a:srgbClr val="FFFFFF">
              <a:alpha val="4000"/>
            </a:srgbClr>
          </a:solidFill>
          <a:ln/>
          <a:effectLst>
            <a:outerShdw blurRad="742950" dist="285750" dir="5400000" algn="bl" rotWithShape="0">
              <a:srgbClr val="000000">
                <a:alpha val="44581"/>
              </a:srgbClr>
            </a:outerShdw>
          </a:effectLst>
        </p:spPr>
        <p:txBody>
          <a:bodyPr/>
          <a:lstStyle/>
          <a:p>
            <a:endParaRPr lang="es-001"/>
          </a:p>
        </p:txBody>
      </p:sp>
      <p:sp>
        <p:nvSpPr>
          <p:cNvPr id="10" name="Shape 7"/>
          <p:cNvSpPr/>
          <p:nvPr/>
        </p:nvSpPr>
        <p:spPr>
          <a:xfrm>
            <a:off x="1027030" y="8810273"/>
            <a:ext cx="5273814" cy="9525"/>
          </a:xfrm>
          <a:prstGeom prst="rect">
            <a:avLst/>
          </a:prstGeom>
          <a:solidFill>
            <a:srgbClr val="BFDDF5">
              <a:alpha val="13000"/>
            </a:srgbClr>
          </a:solidFill>
          <a:ln/>
        </p:spPr>
        <p:txBody>
          <a:bodyPr/>
          <a:lstStyle/>
          <a:p>
            <a:endParaRPr lang="es-001"/>
          </a:p>
        </p:txBody>
      </p:sp>
      <p:sp>
        <p:nvSpPr>
          <p:cNvPr id="11" name="Shape 8"/>
          <p:cNvSpPr/>
          <p:nvPr/>
        </p:nvSpPr>
        <p:spPr>
          <a:xfrm>
            <a:off x="1027030" y="6443905"/>
            <a:ext cx="5273814" cy="9525"/>
          </a:xfrm>
          <a:prstGeom prst="rect">
            <a:avLst/>
          </a:prstGeom>
          <a:solidFill>
            <a:srgbClr val="BFDDF5">
              <a:alpha val="13000"/>
            </a:srgbClr>
          </a:solidFill>
          <a:ln/>
        </p:spPr>
        <p:txBody>
          <a:bodyPr/>
          <a:lstStyle/>
          <a:p>
            <a:endParaRPr lang="es-001"/>
          </a:p>
        </p:txBody>
      </p:sp>
      <p:sp>
        <p:nvSpPr>
          <p:cNvPr id="12" name="Shape 9"/>
          <p:cNvSpPr/>
          <p:nvPr/>
        </p:nvSpPr>
        <p:spPr>
          <a:xfrm>
            <a:off x="1027030" y="6443905"/>
            <a:ext cx="9525" cy="2375893"/>
          </a:xfrm>
          <a:prstGeom prst="rect">
            <a:avLst/>
          </a:prstGeom>
          <a:solidFill>
            <a:srgbClr val="BFDDF5">
              <a:alpha val="13000"/>
            </a:srgbClr>
          </a:solidFill>
          <a:ln/>
        </p:spPr>
        <p:txBody>
          <a:bodyPr/>
          <a:lstStyle/>
          <a:p>
            <a:endParaRPr lang="es-001"/>
          </a:p>
        </p:txBody>
      </p:sp>
      <p:sp>
        <p:nvSpPr>
          <p:cNvPr id="13" name="Shape 10"/>
          <p:cNvSpPr/>
          <p:nvPr/>
        </p:nvSpPr>
        <p:spPr>
          <a:xfrm>
            <a:off x="6291320" y="6443905"/>
            <a:ext cx="9525" cy="2375893"/>
          </a:xfrm>
          <a:prstGeom prst="rect">
            <a:avLst/>
          </a:prstGeom>
          <a:solidFill>
            <a:srgbClr val="BFDDF5">
              <a:alpha val="13000"/>
            </a:srgbClr>
          </a:solidFill>
          <a:ln/>
        </p:spPr>
        <p:txBody>
          <a:bodyPr/>
          <a:lstStyle/>
          <a:p>
            <a:endParaRPr lang="es-001"/>
          </a:p>
        </p:txBody>
      </p:sp>
      <p:sp>
        <p:nvSpPr>
          <p:cNvPr id="14" name="Text 11"/>
          <p:cNvSpPr/>
          <p:nvPr/>
        </p:nvSpPr>
        <p:spPr>
          <a:xfrm>
            <a:off x="1386678" y="6791360"/>
            <a:ext cx="5009935" cy="311434"/>
          </a:xfrm>
          <a:prstGeom prst="rect">
            <a:avLst/>
          </a:prstGeom>
          <a:noFill/>
          <a:ln/>
        </p:spPr>
        <p:txBody>
          <a:bodyPr wrap="square" lIns="25400" tIns="25400" rIns="25400" bIns="25400" rtlCol="0" anchor="t">
            <a:normAutofit/>
          </a:bodyPr>
          <a:lstStyle/>
          <a:p>
            <a:pPr marL="0" indent="0" algn="l">
              <a:buNone/>
            </a:pPr>
            <a:r>
              <a:rPr lang="en-US" sz="1800" kern="0" spc="0" dirty="0">
                <a:solidFill>
                  <a:srgbClr val="88C1ED">
                    <a:alpha val="74000"/>
                  </a:srgbClr>
                </a:solidFill>
                <a:latin typeface="Helvetica Neue" pitchFamily="34" charset="0"/>
                <a:ea typeface="Helvetica Neue" pitchFamily="34" charset="-122"/>
                <a:cs typeface="Helvetica Neue" pitchFamily="34" charset="-120"/>
              </a:rPr>
              <a:t>HOY PASA ESTO</a:t>
            </a:r>
            <a:endParaRPr lang="en-US" sz="1800" dirty="0"/>
          </a:p>
        </p:txBody>
      </p:sp>
      <p:sp>
        <p:nvSpPr>
          <p:cNvPr id="15" name="Text 12"/>
          <p:cNvSpPr/>
          <p:nvPr/>
        </p:nvSpPr>
        <p:spPr>
          <a:xfrm>
            <a:off x="1378642" y="7253717"/>
            <a:ext cx="5027627" cy="445934"/>
          </a:xfrm>
          <a:prstGeom prst="rect">
            <a:avLst/>
          </a:prstGeom>
          <a:noFill/>
          <a:ln/>
        </p:spPr>
        <p:txBody>
          <a:bodyPr wrap="square" lIns="25400" tIns="25400" rIns="25400" bIns="25400" rtlCol="0" anchor="t">
            <a:normAutofit/>
          </a:bodyPr>
          <a:lstStyle/>
          <a:p>
            <a:pPr marL="0" indent="0" algn="l">
              <a:lnSpc>
                <a:spcPct val="100465"/>
              </a:lnSpc>
              <a:buNone/>
            </a:pPr>
            <a:r>
              <a:rPr lang="en-US" sz="2700" kern="0" spc="0" dirty="0">
                <a:solidFill>
                  <a:srgbClr val="FFFFFF">
                    <a:alpha val="74000"/>
                  </a:srgbClr>
                </a:solidFill>
                <a:latin typeface="Helvetica Neue" pitchFamily="34" charset="0"/>
                <a:ea typeface="Helvetica Neue" pitchFamily="34" charset="-122"/>
                <a:cs typeface="Helvetica Neue" pitchFamily="34" charset="-120"/>
              </a:rPr>
              <a:t>Se carga por costumbre</a:t>
            </a:r>
            <a:endParaRPr lang="en-US" sz="2700" dirty="0"/>
          </a:p>
        </p:txBody>
      </p:sp>
      <p:sp>
        <p:nvSpPr>
          <p:cNvPr id="16" name="Text 13"/>
          <p:cNvSpPr/>
          <p:nvPr/>
        </p:nvSpPr>
        <p:spPr>
          <a:xfrm>
            <a:off x="1367838" y="7813805"/>
            <a:ext cx="4729958" cy="688242"/>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FFFFFF">
                    <a:alpha val="52000"/>
                  </a:srgbClr>
                </a:solidFill>
                <a:latin typeface="Helvetica Neue" pitchFamily="34" charset="0"/>
                <a:ea typeface="Helvetica Neue" pitchFamily="34" charset="-122"/>
                <a:cs typeface="Helvetica Neue" pitchFamily="34" charset="-120"/>
              </a:rPr>
              <a:t>En el grifo de siempre y el día que uno se acuerda, sin comparar nada.</a:t>
            </a:r>
            <a:endParaRPr lang="en-US" sz="1800" dirty="0"/>
          </a:p>
        </p:txBody>
      </p:sp>
      <p:sp>
        <p:nvSpPr>
          <p:cNvPr id="17" name="Shape 14"/>
          <p:cNvSpPr/>
          <p:nvPr/>
        </p:nvSpPr>
        <p:spPr>
          <a:xfrm>
            <a:off x="6489593" y="6556181"/>
            <a:ext cx="5308710" cy="2365657"/>
          </a:xfrm>
          <a:prstGeom prst="roundRect">
            <a:avLst>
              <a:gd name="adj" fmla="val 9663"/>
            </a:avLst>
          </a:prstGeom>
          <a:solidFill>
            <a:srgbClr val="FFFFFF">
              <a:alpha val="3000"/>
            </a:srgbClr>
          </a:solidFill>
          <a:ln/>
          <a:effectLst>
            <a:outerShdw blurRad="742950" dist="285750" dir="5400000" algn="bl" rotWithShape="0">
              <a:srgbClr val="000000">
                <a:alpha val="33745"/>
              </a:srgbClr>
            </a:outerShdw>
          </a:effectLst>
        </p:spPr>
        <p:txBody>
          <a:bodyPr/>
          <a:lstStyle/>
          <a:p>
            <a:endParaRPr lang="es-001"/>
          </a:p>
        </p:txBody>
      </p:sp>
      <p:sp>
        <p:nvSpPr>
          <p:cNvPr id="18" name="Shape 15"/>
          <p:cNvSpPr/>
          <p:nvPr/>
        </p:nvSpPr>
        <p:spPr>
          <a:xfrm>
            <a:off x="6489593" y="8912314"/>
            <a:ext cx="5308710" cy="9525"/>
          </a:xfrm>
          <a:prstGeom prst="rect">
            <a:avLst/>
          </a:prstGeom>
          <a:solidFill>
            <a:srgbClr val="BFDDF5">
              <a:alpha val="10000"/>
            </a:srgbClr>
          </a:solidFill>
          <a:ln/>
        </p:spPr>
        <p:txBody>
          <a:bodyPr/>
          <a:lstStyle/>
          <a:p>
            <a:endParaRPr lang="es-001"/>
          </a:p>
        </p:txBody>
      </p:sp>
      <p:sp>
        <p:nvSpPr>
          <p:cNvPr id="19" name="Shape 16"/>
          <p:cNvSpPr/>
          <p:nvPr/>
        </p:nvSpPr>
        <p:spPr>
          <a:xfrm>
            <a:off x="6489593" y="6556181"/>
            <a:ext cx="5308710" cy="9525"/>
          </a:xfrm>
          <a:prstGeom prst="rect">
            <a:avLst/>
          </a:prstGeom>
          <a:solidFill>
            <a:srgbClr val="BFDDF5">
              <a:alpha val="10000"/>
            </a:srgbClr>
          </a:solidFill>
          <a:ln/>
        </p:spPr>
        <p:txBody>
          <a:bodyPr/>
          <a:lstStyle/>
          <a:p>
            <a:endParaRPr lang="es-001"/>
          </a:p>
        </p:txBody>
      </p:sp>
      <p:sp>
        <p:nvSpPr>
          <p:cNvPr id="20" name="Shape 17"/>
          <p:cNvSpPr/>
          <p:nvPr/>
        </p:nvSpPr>
        <p:spPr>
          <a:xfrm>
            <a:off x="6489593" y="6556181"/>
            <a:ext cx="9525" cy="2365657"/>
          </a:xfrm>
          <a:prstGeom prst="rect">
            <a:avLst/>
          </a:prstGeom>
          <a:solidFill>
            <a:srgbClr val="BFDDF5">
              <a:alpha val="10000"/>
            </a:srgbClr>
          </a:solidFill>
          <a:ln/>
        </p:spPr>
        <p:txBody>
          <a:bodyPr/>
          <a:lstStyle/>
          <a:p>
            <a:endParaRPr lang="es-001"/>
          </a:p>
        </p:txBody>
      </p:sp>
      <p:sp>
        <p:nvSpPr>
          <p:cNvPr id="21" name="Shape 18"/>
          <p:cNvSpPr/>
          <p:nvPr/>
        </p:nvSpPr>
        <p:spPr>
          <a:xfrm>
            <a:off x="11788778" y="6556181"/>
            <a:ext cx="9525" cy="2365657"/>
          </a:xfrm>
          <a:prstGeom prst="rect">
            <a:avLst/>
          </a:prstGeom>
          <a:solidFill>
            <a:srgbClr val="BFDDF5">
              <a:alpha val="10000"/>
            </a:srgbClr>
          </a:solidFill>
          <a:ln/>
        </p:spPr>
        <p:txBody>
          <a:bodyPr/>
          <a:lstStyle/>
          <a:p>
            <a:endParaRPr lang="es-001"/>
          </a:p>
        </p:txBody>
      </p:sp>
      <p:sp>
        <p:nvSpPr>
          <p:cNvPr id="22" name="Text 19"/>
          <p:cNvSpPr/>
          <p:nvPr/>
        </p:nvSpPr>
        <p:spPr>
          <a:xfrm>
            <a:off x="6868207" y="6899248"/>
            <a:ext cx="5006570" cy="308673"/>
          </a:xfrm>
          <a:prstGeom prst="rect">
            <a:avLst/>
          </a:prstGeom>
          <a:noFill/>
          <a:ln/>
        </p:spPr>
        <p:txBody>
          <a:bodyPr wrap="square" lIns="25400" tIns="25400" rIns="25400" bIns="25400" rtlCol="0" anchor="t">
            <a:normAutofit/>
          </a:bodyPr>
          <a:lstStyle/>
          <a:p>
            <a:pPr marL="0" indent="0" algn="l">
              <a:buNone/>
            </a:pPr>
            <a:r>
              <a:rPr lang="en-US" sz="1800" kern="0" spc="0" dirty="0">
                <a:solidFill>
                  <a:srgbClr val="88C1ED">
                    <a:alpha val="56000"/>
                  </a:srgbClr>
                </a:solidFill>
                <a:latin typeface="Helvetica Neue" pitchFamily="34" charset="0"/>
                <a:ea typeface="Helvetica Neue" pitchFamily="34" charset="-122"/>
                <a:cs typeface="Helvetica Neue" pitchFamily="34" charset="-120"/>
              </a:rPr>
              <a:t>HOY PASA ESTO</a:t>
            </a:r>
            <a:endParaRPr lang="en-US" sz="1800" dirty="0"/>
          </a:p>
        </p:txBody>
      </p:sp>
      <p:sp>
        <p:nvSpPr>
          <p:cNvPr id="23" name="Text 20"/>
          <p:cNvSpPr/>
          <p:nvPr/>
        </p:nvSpPr>
        <p:spPr>
          <a:xfrm>
            <a:off x="6854543" y="7357291"/>
            <a:ext cx="5036652" cy="443583"/>
          </a:xfrm>
          <a:prstGeom prst="rect">
            <a:avLst/>
          </a:prstGeom>
          <a:noFill/>
          <a:ln/>
        </p:spPr>
        <p:txBody>
          <a:bodyPr wrap="square" lIns="25400" tIns="25400" rIns="25400" bIns="25400" rtlCol="0" anchor="t">
            <a:normAutofit/>
          </a:bodyPr>
          <a:lstStyle/>
          <a:p>
            <a:pPr marL="0" indent="0" algn="l">
              <a:lnSpc>
                <a:spcPct val="100465"/>
              </a:lnSpc>
              <a:buNone/>
            </a:pPr>
            <a:r>
              <a:rPr lang="en-US" sz="2700" kern="0" spc="0" dirty="0">
                <a:solidFill>
                  <a:srgbClr val="FFFFFF">
                    <a:alpha val="56000"/>
                  </a:srgbClr>
                </a:solidFill>
                <a:latin typeface="Helvetica Neue" pitchFamily="34" charset="0"/>
                <a:ea typeface="Helvetica Neue" pitchFamily="34" charset="-122"/>
                <a:cs typeface="Helvetica Neue" pitchFamily="34" charset="-120"/>
              </a:rPr>
              <a:t>El precio sube sin aviso</a:t>
            </a:r>
            <a:endParaRPr lang="en-US" sz="2700" dirty="0"/>
          </a:p>
        </p:txBody>
      </p:sp>
      <p:sp>
        <p:nvSpPr>
          <p:cNvPr id="24" name="Text 21"/>
          <p:cNvSpPr/>
          <p:nvPr/>
        </p:nvSpPr>
        <p:spPr>
          <a:xfrm>
            <a:off x="6836067" y="7914502"/>
            <a:ext cx="4754224" cy="68815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FFFFFF">
                    <a:alpha val="39000"/>
                  </a:srgbClr>
                </a:solidFill>
                <a:latin typeface="Helvetica Neue" pitchFamily="34" charset="0"/>
                <a:ea typeface="Helvetica Neue" pitchFamily="34" charset="-122"/>
                <a:cs typeface="Helvetica Neue" pitchFamily="34" charset="-120"/>
              </a:rPr>
              <a:t>Uno se entera recién cuando ya está en el surtidor pagando.</a:t>
            </a:r>
            <a:endParaRPr lang="en-US" sz="1800" dirty="0"/>
          </a:p>
        </p:txBody>
      </p:sp>
      <p:sp>
        <p:nvSpPr>
          <p:cNvPr id="25" name="Shape 22"/>
          <p:cNvSpPr/>
          <p:nvPr/>
        </p:nvSpPr>
        <p:spPr>
          <a:xfrm>
            <a:off x="11933111" y="6753950"/>
            <a:ext cx="5381871" cy="2334230"/>
          </a:xfrm>
          <a:prstGeom prst="roundRect">
            <a:avLst>
              <a:gd name="adj" fmla="val 9793"/>
            </a:avLst>
          </a:prstGeom>
          <a:solidFill>
            <a:srgbClr val="FFFFFF">
              <a:alpha val="1000"/>
            </a:srgbClr>
          </a:solidFill>
          <a:ln/>
          <a:effectLst>
            <a:outerShdw blurRad="742950" dist="285750" dir="5400000" algn="bl" rotWithShape="0">
              <a:srgbClr val="000000">
                <a:alpha val="14664"/>
              </a:srgbClr>
            </a:outerShdw>
          </a:effectLst>
        </p:spPr>
        <p:txBody>
          <a:bodyPr/>
          <a:lstStyle/>
          <a:p>
            <a:endParaRPr lang="es-001"/>
          </a:p>
        </p:txBody>
      </p:sp>
      <p:sp>
        <p:nvSpPr>
          <p:cNvPr id="26" name="Shape 23"/>
          <p:cNvSpPr/>
          <p:nvPr/>
        </p:nvSpPr>
        <p:spPr>
          <a:xfrm>
            <a:off x="11933111" y="9078655"/>
            <a:ext cx="5381871" cy="9525"/>
          </a:xfrm>
          <a:prstGeom prst="rect">
            <a:avLst/>
          </a:prstGeom>
          <a:solidFill>
            <a:srgbClr val="BFDDF5">
              <a:alpha val="4000"/>
            </a:srgbClr>
          </a:solidFill>
          <a:ln/>
        </p:spPr>
        <p:txBody>
          <a:bodyPr/>
          <a:lstStyle/>
          <a:p>
            <a:endParaRPr lang="es-001"/>
          </a:p>
        </p:txBody>
      </p:sp>
      <p:sp>
        <p:nvSpPr>
          <p:cNvPr id="27" name="Shape 24"/>
          <p:cNvSpPr/>
          <p:nvPr/>
        </p:nvSpPr>
        <p:spPr>
          <a:xfrm>
            <a:off x="11933111" y="6753950"/>
            <a:ext cx="5381871" cy="9525"/>
          </a:xfrm>
          <a:prstGeom prst="rect">
            <a:avLst/>
          </a:prstGeom>
          <a:solidFill>
            <a:srgbClr val="BFDDF5">
              <a:alpha val="4000"/>
            </a:srgbClr>
          </a:solidFill>
          <a:ln/>
        </p:spPr>
        <p:txBody>
          <a:bodyPr/>
          <a:lstStyle/>
          <a:p>
            <a:endParaRPr lang="es-001"/>
          </a:p>
        </p:txBody>
      </p:sp>
      <p:sp>
        <p:nvSpPr>
          <p:cNvPr id="28" name="Shape 25"/>
          <p:cNvSpPr/>
          <p:nvPr/>
        </p:nvSpPr>
        <p:spPr>
          <a:xfrm>
            <a:off x="11933111" y="6753950"/>
            <a:ext cx="9525" cy="2334230"/>
          </a:xfrm>
          <a:prstGeom prst="rect">
            <a:avLst/>
          </a:prstGeom>
          <a:solidFill>
            <a:srgbClr val="BFDDF5">
              <a:alpha val="4000"/>
            </a:srgbClr>
          </a:solidFill>
          <a:ln/>
        </p:spPr>
        <p:txBody>
          <a:bodyPr/>
          <a:lstStyle/>
          <a:p>
            <a:endParaRPr lang="es-001"/>
          </a:p>
        </p:txBody>
      </p:sp>
      <p:sp>
        <p:nvSpPr>
          <p:cNvPr id="29" name="Shape 26"/>
          <p:cNvSpPr/>
          <p:nvPr/>
        </p:nvSpPr>
        <p:spPr>
          <a:xfrm>
            <a:off x="17305458" y="6753950"/>
            <a:ext cx="9525" cy="2334230"/>
          </a:xfrm>
          <a:prstGeom prst="rect">
            <a:avLst/>
          </a:prstGeom>
          <a:solidFill>
            <a:srgbClr val="BFDDF5">
              <a:alpha val="4000"/>
            </a:srgbClr>
          </a:solidFill>
          <a:ln/>
        </p:spPr>
        <p:txBody>
          <a:bodyPr/>
          <a:lstStyle/>
          <a:p>
            <a:endParaRPr lang="es-001"/>
          </a:p>
        </p:txBody>
      </p:sp>
      <p:sp>
        <p:nvSpPr>
          <p:cNvPr id="30" name="Text 27"/>
          <p:cNvSpPr/>
          <p:nvPr/>
        </p:nvSpPr>
        <p:spPr>
          <a:xfrm>
            <a:off x="12346194" y="7087509"/>
            <a:ext cx="5011166" cy="302343"/>
          </a:xfrm>
          <a:prstGeom prst="rect">
            <a:avLst/>
          </a:prstGeom>
          <a:noFill/>
          <a:ln/>
        </p:spPr>
        <p:txBody>
          <a:bodyPr wrap="square" lIns="25400" tIns="25400" rIns="25400" bIns="25400" rtlCol="0" anchor="t">
            <a:normAutofit/>
          </a:bodyPr>
          <a:lstStyle/>
          <a:p>
            <a:pPr marL="0" indent="0" algn="l">
              <a:buNone/>
            </a:pPr>
            <a:r>
              <a:rPr lang="en-US" sz="1800" kern="0" spc="0" dirty="0">
                <a:solidFill>
                  <a:srgbClr val="88C1ED">
                    <a:alpha val="24000"/>
                  </a:srgbClr>
                </a:solidFill>
                <a:latin typeface="Helvetica Neue" pitchFamily="34" charset="0"/>
                <a:ea typeface="Helvetica Neue" pitchFamily="34" charset="-122"/>
                <a:cs typeface="Helvetica Neue" pitchFamily="34" charset="-120"/>
              </a:rPr>
              <a:t>HOY PASA ESTO</a:t>
            </a:r>
            <a:endParaRPr lang="en-US" sz="1800" dirty="0"/>
          </a:p>
        </p:txBody>
      </p:sp>
      <p:sp>
        <p:nvSpPr>
          <p:cNvPr id="31" name="Text 28"/>
          <p:cNvSpPr/>
          <p:nvPr/>
        </p:nvSpPr>
        <p:spPr>
          <a:xfrm>
            <a:off x="12322639" y="7535446"/>
            <a:ext cx="5063025" cy="437127"/>
          </a:xfrm>
          <a:prstGeom prst="rect">
            <a:avLst/>
          </a:prstGeom>
          <a:noFill/>
          <a:ln/>
        </p:spPr>
        <p:txBody>
          <a:bodyPr wrap="square" lIns="25400" tIns="25400" rIns="25400" bIns="25400" rtlCol="0" anchor="t">
            <a:normAutofit/>
          </a:bodyPr>
          <a:lstStyle/>
          <a:p>
            <a:pPr marL="0" indent="0" algn="l">
              <a:lnSpc>
                <a:spcPct val="100465"/>
              </a:lnSpc>
              <a:buNone/>
            </a:pPr>
            <a:r>
              <a:rPr lang="en-US" sz="2700" kern="0" spc="0" dirty="0">
                <a:solidFill>
                  <a:srgbClr val="FFFFFF">
                    <a:alpha val="24000"/>
                  </a:srgbClr>
                </a:solidFill>
                <a:latin typeface="Helvetica Neue" pitchFamily="34" charset="0"/>
                <a:ea typeface="Helvetica Neue" pitchFamily="34" charset="-122"/>
                <a:cs typeface="Helvetica Neue" pitchFamily="34" charset="-120"/>
              </a:rPr>
              <a:t>Nadie compara precios</a:t>
            </a:r>
            <a:endParaRPr lang="en-US" sz="2700" dirty="0"/>
          </a:p>
        </p:txBody>
      </p:sp>
      <p:sp>
        <p:nvSpPr>
          <p:cNvPr id="32" name="Text 29"/>
          <p:cNvSpPr/>
          <p:nvPr/>
        </p:nvSpPr>
        <p:spPr>
          <a:xfrm>
            <a:off x="12290464" y="8084391"/>
            <a:ext cx="4807161" cy="684166"/>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FFFFFF">
                    <a:alpha val="17000"/>
                  </a:srgbClr>
                </a:solidFill>
                <a:latin typeface="Helvetica Neue" pitchFamily="34" charset="0"/>
                <a:ea typeface="Helvetica Neue" pitchFamily="34" charset="-122"/>
                <a:cs typeface="Helvetica Neue" pitchFamily="34" charset="-120"/>
              </a:rPr>
              <a:t>Los datos existen y son públicos, pero están en tablas que nadie lee.</a:t>
            </a:r>
            <a:endParaRPr lang="en-US" sz="1800" dirty="0"/>
          </a:p>
        </p:txBody>
      </p:sp>
      <p:sp>
        <p:nvSpPr>
          <p:cNvPr id="33" name="Shape 30"/>
          <p:cNvSpPr/>
          <p:nvPr/>
        </p:nvSpPr>
        <p:spPr>
          <a:xfrm>
            <a:off x="1047750" y="9267825"/>
            <a:ext cx="16192500" cy="9525"/>
          </a:xfrm>
          <a:prstGeom prst="rect">
            <a:avLst/>
          </a:prstGeom>
          <a:solidFill>
            <a:srgbClr val="BFDDF5">
              <a:alpha val="12000"/>
            </a:srgbClr>
          </a:solidFill>
          <a:ln/>
        </p:spPr>
        <p:txBody>
          <a:bodyPr/>
          <a:lstStyle/>
          <a:p>
            <a:endParaRPr lang="es-001"/>
          </a:p>
        </p:txBody>
      </p:sp>
      <p:pic>
        <p:nvPicPr>
          <p:cNvPr id="34" name="Image 1" descr="preencoded.png"/>
          <p:cNvPicPr>
            <a:picLocks noChangeAspect="1"/>
          </p:cNvPicPr>
          <p:nvPr/>
        </p:nvPicPr>
        <p:blipFill>
          <a:blip r:embed="rId4">
            <a:alphaModFix amt="85000"/>
          </a:blip>
          <a:stretch>
            <a:fillRect/>
          </a:stretch>
        </p:blipFill>
        <p:spPr>
          <a:xfrm>
            <a:off x="1047750" y="9486900"/>
            <a:ext cx="639961" cy="304800"/>
          </a:xfrm>
          <a:prstGeom prst="rect">
            <a:avLst/>
          </a:prstGeom>
        </p:spPr>
      </p:pic>
      <p:sp>
        <p:nvSpPr>
          <p:cNvPr id="35" name="Shape 31"/>
          <p:cNvSpPr/>
          <p:nvPr/>
        </p:nvSpPr>
        <p:spPr>
          <a:xfrm>
            <a:off x="1859161" y="9515475"/>
            <a:ext cx="9525" cy="247650"/>
          </a:xfrm>
          <a:prstGeom prst="rect">
            <a:avLst/>
          </a:prstGeom>
          <a:solidFill>
            <a:srgbClr val="BFDDF5">
              <a:alpha val="22000"/>
            </a:srgbClr>
          </a:solidFill>
          <a:ln/>
        </p:spPr>
        <p:txBody>
          <a:bodyPr/>
          <a:lstStyle/>
          <a:p>
            <a:endParaRPr lang="es-001"/>
          </a:p>
        </p:txBody>
      </p:sp>
      <p:pic>
        <p:nvPicPr>
          <p:cNvPr id="36" name="Image 2" descr="preencoded.png"/>
          <p:cNvPicPr>
            <a:picLocks noChangeAspect="1"/>
          </p:cNvPicPr>
          <p:nvPr/>
        </p:nvPicPr>
        <p:blipFill>
          <a:blip r:embed="rId5">
            <a:alphaModFix amt="85000"/>
          </a:blip>
          <a:stretch>
            <a:fillRect/>
          </a:stretch>
        </p:blipFill>
        <p:spPr>
          <a:xfrm>
            <a:off x="2040136" y="9534525"/>
            <a:ext cx="279350" cy="209550"/>
          </a:xfrm>
          <a:prstGeom prst="rect">
            <a:avLst/>
          </a:prstGeom>
        </p:spPr>
      </p:pic>
      <p:sp>
        <p:nvSpPr>
          <p:cNvPr id="37" name="Text 32"/>
          <p:cNvSpPr/>
          <p:nvPr/>
        </p:nvSpPr>
        <p:spPr>
          <a:xfrm>
            <a:off x="2490936" y="9501188"/>
            <a:ext cx="1122164" cy="314325"/>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50000"/>
                  </a:srgbClr>
                </a:solidFill>
                <a:latin typeface="Helvetica Neue" pitchFamily="34" charset="0"/>
                <a:ea typeface="Helvetica Neue" pitchFamily="34" charset="-122"/>
                <a:cs typeface="Helvetica Neue" pitchFamily="34" charset="-120"/>
              </a:rPr>
              <a:t>Lunetra IA</a:t>
            </a:r>
            <a:endParaRPr lang="en-US" sz="1800" dirty="0"/>
          </a:p>
        </p:txBody>
      </p:sp>
      <p:sp>
        <p:nvSpPr>
          <p:cNvPr id="38" name="Text 33"/>
          <p:cNvSpPr/>
          <p:nvPr/>
        </p:nvSpPr>
        <p:spPr>
          <a:xfrm>
            <a:off x="16528554" y="9501188"/>
            <a:ext cx="787896" cy="314325"/>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45000"/>
                  </a:srgbClr>
                </a:solidFill>
                <a:latin typeface="Helvetica Neue" pitchFamily="34" charset="0"/>
                <a:ea typeface="Helvetica Neue" pitchFamily="34" charset="-122"/>
                <a:cs typeface="Helvetica Neue" pitchFamily="34" charset="-120"/>
              </a:rPr>
              <a:t>02 / 13</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B1E33">
                  <a:alpha val="100000"/>
                </a:srgbClr>
              </a:gs>
              <a:gs pos="58000">
                <a:srgbClr val="06101C">
                  <a:alpha val="100000"/>
                </a:srgbClr>
              </a:gs>
              <a:gs pos="100000">
                <a:srgbClr val="000000">
                  <a:alpha val="100000"/>
                </a:srgbClr>
              </a:gs>
            </a:gsLst>
            <a:path path="circle">
              <a:fillToRect l="34000" t="46000" r="66000" b="54000"/>
            </a:path>
          </a:gradFill>
          <a:ln/>
        </p:spPr>
        <p:txBody>
          <a:bodyPr/>
          <a:lstStyle/>
          <a:p>
            <a:endParaRPr lang="es-001"/>
          </a:p>
        </p:txBody>
      </p:sp>
      <p:sp>
        <p:nvSpPr>
          <p:cNvPr id="3" name="Shape 1"/>
          <p:cNvSpPr/>
          <p:nvPr/>
        </p:nvSpPr>
        <p:spPr>
          <a:xfrm>
            <a:off x="-2368093" y="-1773438"/>
            <a:ext cx="23794606" cy="13384466"/>
          </a:xfrm>
          <a:prstGeom prst="rect">
            <a:avLst/>
          </a:prstGeom>
          <a:gradFill rotWithShape="1">
            <a:gsLst>
              <a:gs pos="0">
                <a:srgbClr val="EAF4FC">
                  <a:alpha val="54000"/>
                </a:srgbClr>
              </a:gs>
              <a:gs pos="20000">
                <a:srgbClr val="88C1ED">
                  <a:alpha val="36000"/>
                </a:srgbClr>
              </a:gs>
              <a:gs pos="46000">
                <a:srgbClr val="4686B7">
                  <a:alpha val="19000"/>
                </a:srgbClr>
              </a:gs>
              <a:gs pos="80000">
                <a:srgbClr val="4686B7">
                  <a:alpha val="0"/>
                </a:srgbClr>
              </a:gs>
            </a:gsLst>
            <a:path path="circle">
              <a:fillToRect l="80000" t="100000" r="20000"/>
            </a:path>
          </a:gradFill>
          <a:ln/>
        </p:spPr>
        <p:txBody>
          <a:bodyPr/>
          <a:lstStyle/>
          <a:p>
            <a:endParaRPr lang="es-001"/>
          </a:p>
        </p:txBody>
      </p:sp>
      <p:sp>
        <p:nvSpPr>
          <p:cNvPr id="4" name="Shape 2"/>
          <p:cNvSpPr/>
          <p:nvPr/>
        </p:nvSpPr>
        <p:spPr>
          <a:xfrm>
            <a:off x="0" y="0"/>
            <a:ext cx="18288000" cy="10287000"/>
          </a:xfrm>
          <a:prstGeom prst="rect">
            <a:avLst/>
          </a:prstGeom>
          <a:solidFill>
            <a:srgbClr val="BFDDF5">
              <a:alpha val="4000"/>
            </a:srgbClr>
          </a:solidFill>
          <a:ln/>
        </p:spPr>
        <p:txBody>
          <a:bodyPr/>
          <a:lstStyle/>
          <a:p>
            <a:endParaRPr lang="es-001"/>
          </a:p>
        </p:txBody>
      </p:sp>
      <p:pic>
        <p:nvPicPr>
          <p:cNvPr id="5" name="Image 0" descr="preencoded.png"/>
          <p:cNvPicPr>
            <a:picLocks noChangeAspect="1"/>
          </p:cNvPicPr>
          <p:nvPr/>
        </p:nvPicPr>
        <p:blipFill>
          <a:blip r:embed="rId3"/>
          <a:srcRect t="13579" b="31685"/>
          <a:stretch/>
        </p:blipFill>
        <p:spPr>
          <a:xfrm>
            <a:off x="0" y="0"/>
            <a:ext cx="18288000" cy="10287000"/>
          </a:xfrm>
          <a:prstGeom prst="rect">
            <a:avLst/>
          </a:prstGeom>
        </p:spPr>
      </p:pic>
      <p:sp>
        <p:nvSpPr>
          <p:cNvPr id="6" name="Shape 3"/>
          <p:cNvSpPr/>
          <p:nvPr/>
        </p:nvSpPr>
        <p:spPr>
          <a:xfrm>
            <a:off x="0" y="0"/>
            <a:ext cx="18288000" cy="10287000"/>
          </a:xfrm>
          <a:prstGeom prst="rect">
            <a:avLst/>
          </a:prstGeom>
          <a:gradFill rotWithShape="1">
            <a:gsLst>
              <a:gs pos="0">
                <a:srgbClr val="010409">
                  <a:alpha val="97000"/>
                </a:srgbClr>
              </a:gs>
              <a:gs pos="38000">
                <a:srgbClr val="010409">
                  <a:alpha val="90000"/>
                </a:srgbClr>
              </a:gs>
              <a:gs pos="68000">
                <a:srgbClr val="020810">
                  <a:alpha val="50000"/>
                </a:srgbClr>
              </a:gs>
              <a:gs pos="100000">
                <a:srgbClr val="020810">
                  <a:alpha val="20000"/>
                </a:srgbClr>
              </a:gs>
            </a:gsLst>
            <a:lin ang="0" scaled="0"/>
          </a:gradFill>
          <a:ln/>
        </p:spPr>
        <p:txBody>
          <a:bodyPr/>
          <a:lstStyle/>
          <a:p>
            <a:endParaRPr lang="es-001"/>
          </a:p>
        </p:txBody>
      </p:sp>
      <p:sp>
        <p:nvSpPr>
          <p:cNvPr id="7" name="Shape 4"/>
          <p:cNvSpPr/>
          <p:nvPr/>
        </p:nvSpPr>
        <p:spPr>
          <a:xfrm>
            <a:off x="0" y="0"/>
            <a:ext cx="18288000" cy="10287000"/>
          </a:xfrm>
          <a:prstGeom prst="rect">
            <a:avLst/>
          </a:prstGeom>
          <a:gradFill rotWithShape="1">
            <a:gsLst>
              <a:gs pos="0">
                <a:srgbClr val="000000">
                  <a:alpha val="90000"/>
                </a:srgbClr>
              </a:gs>
              <a:gs pos="48000">
                <a:srgbClr val="000000">
                  <a:alpha val="55000"/>
                </a:srgbClr>
              </a:gs>
              <a:gs pos="76000">
                <a:srgbClr val="000000">
                  <a:alpha val="0"/>
                </a:srgbClr>
              </a:gs>
            </a:gsLst>
            <a:lin ang="0" scaled="0"/>
          </a:gradFill>
          <a:ln/>
        </p:spPr>
        <p:txBody>
          <a:bodyPr/>
          <a:lstStyle/>
          <a:p>
            <a:endParaRPr lang="es-001"/>
          </a:p>
        </p:txBody>
      </p:sp>
      <p:sp>
        <p:nvSpPr>
          <p:cNvPr id="8" name="Shape 5"/>
          <p:cNvSpPr/>
          <p:nvPr/>
        </p:nvSpPr>
        <p:spPr>
          <a:xfrm>
            <a:off x="1047750" y="647700"/>
            <a:ext cx="285750" cy="9525"/>
          </a:xfrm>
          <a:prstGeom prst="rect">
            <a:avLst/>
          </a:prstGeom>
          <a:solidFill>
            <a:srgbClr val="BFDDF5">
              <a:alpha val="50000"/>
            </a:srgbClr>
          </a:solidFill>
          <a:ln/>
        </p:spPr>
        <p:txBody>
          <a:bodyPr/>
          <a:lstStyle/>
          <a:p>
            <a:endParaRPr lang="es-001"/>
          </a:p>
        </p:txBody>
      </p:sp>
      <p:sp>
        <p:nvSpPr>
          <p:cNvPr id="9" name="Text 6"/>
          <p:cNvSpPr/>
          <p:nvPr/>
        </p:nvSpPr>
        <p:spPr>
          <a:xfrm>
            <a:off x="1466850" y="514350"/>
            <a:ext cx="3696926" cy="304800"/>
          </a:xfrm>
          <a:prstGeom prst="rect">
            <a:avLst/>
          </a:prstGeom>
          <a:noFill/>
          <a:ln/>
        </p:spPr>
        <p:txBody>
          <a:bodyPr wrap="square" lIns="0" tIns="0" rIns="0" bIns="0" rtlCol="0" anchor="t">
            <a:normAutofit/>
          </a:bodyPr>
          <a:lstStyle/>
          <a:p>
            <a:pPr marL="0" indent="0" algn="l">
              <a:buNone/>
            </a:pPr>
            <a:r>
              <a:rPr lang="en-US" sz="1800" kern="0" spc="0" dirty="0">
                <a:solidFill>
                  <a:srgbClr val="FFFFFF">
                    <a:alpha val="50000"/>
                  </a:srgbClr>
                </a:solidFill>
                <a:latin typeface="Helvetica Neue" pitchFamily="34" charset="0"/>
                <a:ea typeface="Helvetica Neue" pitchFamily="34" charset="-122"/>
                <a:cs typeface="Helvetica Neue" pitchFamily="34" charset="-120"/>
              </a:rPr>
              <a:t>PARA QUIÉN LO HACEMOS</a:t>
            </a:r>
            <a:endParaRPr lang="en-US" sz="1800" dirty="0"/>
          </a:p>
        </p:txBody>
      </p:sp>
      <p:sp>
        <p:nvSpPr>
          <p:cNvPr id="10" name="Text 7"/>
          <p:cNvSpPr/>
          <p:nvPr/>
        </p:nvSpPr>
        <p:spPr>
          <a:xfrm>
            <a:off x="1047750" y="1203359"/>
            <a:ext cx="10203180" cy="1866900"/>
          </a:xfrm>
          <a:prstGeom prst="rect">
            <a:avLst/>
          </a:prstGeom>
          <a:noFill/>
          <a:ln/>
        </p:spPr>
        <p:txBody>
          <a:bodyPr wrap="square" lIns="25400" tIns="25400" rIns="25400" bIns="25400" rtlCol="0" anchor="t">
            <a:normAutofit/>
          </a:bodyPr>
          <a:lstStyle/>
          <a:p>
            <a:pPr marL="0" indent="0" algn="l">
              <a:lnSpc>
                <a:spcPct val="90467"/>
              </a:lnSpc>
              <a:buNone/>
            </a:pPr>
            <a:r>
              <a:rPr lang="en-US" sz="6600" kern="0" spc="0" dirty="0">
                <a:gradFill rotWithShape="1">
                  <a:gsLst>
                    <a:gs pos="0">
                      <a:srgbClr val="6F7C8A">
                        <a:alpha val="99000"/>
                      </a:srgbClr>
                    </a:gs>
                    <a:gs pos="16000">
                      <a:srgbClr val="8E9AA8">
                        <a:alpha val="99000"/>
                      </a:srgbClr>
                    </a:gs>
                    <a:gs pos="44000">
                      <a:srgbClr val="FFFFFF">
                        <a:alpha val="99000"/>
                      </a:srgbClr>
                    </a:gs>
                    <a:gs pos="66000">
                      <a:srgbClr val="BFDDF5">
                        <a:alpha val="99000"/>
                      </a:srgbClr>
                    </a:gs>
                    <a:gs pos="100000">
                      <a:srgbClr val="88C1ED">
                        <a:alpha val="99000"/>
                      </a:srgbClr>
                    </a:gs>
                  </a:gsLst>
                  <a:lin ang="600000" scaled="0"/>
                </a:gradFill>
                <a:latin typeface="Helvetica Neue" pitchFamily="34" charset="0"/>
                <a:ea typeface="Helvetica Neue" pitchFamily="34" charset="-122"/>
                <a:cs typeface="Helvetica Neue" pitchFamily="34" charset="-120"/>
              </a:rPr>
              <a:t>Una persona, no «el mercado»</a:t>
            </a:r>
            <a:endParaRPr lang="en-US" sz="6600" dirty="0"/>
          </a:p>
        </p:txBody>
      </p:sp>
      <p:sp>
        <p:nvSpPr>
          <p:cNvPr id="11" name="Text 8"/>
          <p:cNvSpPr/>
          <p:nvPr/>
        </p:nvSpPr>
        <p:spPr>
          <a:xfrm>
            <a:off x="1047750" y="3309717"/>
            <a:ext cx="8044815" cy="857250"/>
          </a:xfrm>
          <a:prstGeom prst="rect">
            <a:avLst/>
          </a:prstGeom>
          <a:noFill/>
          <a:ln/>
        </p:spPr>
        <p:txBody>
          <a:bodyPr wrap="square" lIns="25400" tIns="25400" rIns="25400" bIns="25400" rtlCol="0" anchor="t">
            <a:normAutofit/>
          </a:bodyPr>
          <a:lstStyle/>
          <a:p>
            <a:pPr marL="0" indent="0" algn="l">
              <a:lnSpc>
                <a:spcPct val="120833"/>
              </a:lnSpc>
              <a:buNone/>
            </a:pPr>
            <a:r>
              <a:rPr lang="en-US" sz="2250" dirty="0">
                <a:solidFill>
                  <a:srgbClr val="FFFFFF">
                    <a:alpha val="69000"/>
                  </a:srgbClr>
                </a:solidFill>
                <a:latin typeface="Helvetica Neue" pitchFamily="34" charset="0"/>
                <a:ea typeface="Helvetica Neue" pitchFamily="34" charset="-122"/>
                <a:cs typeface="Helvetica Neue" pitchFamily="34" charset="-120"/>
              </a:rPr>
              <a:t>Si el usuario es «todos», el producto no sirve para nadie. El nuestro es así de concreto:</a:t>
            </a:r>
            <a:endParaRPr lang="en-US" sz="2250" dirty="0"/>
          </a:p>
        </p:txBody>
      </p:sp>
      <p:sp>
        <p:nvSpPr>
          <p:cNvPr id="12" name="Shape 9"/>
          <p:cNvSpPr/>
          <p:nvPr/>
        </p:nvSpPr>
        <p:spPr>
          <a:xfrm>
            <a:off x="1047750" y="4525667"/>
            <a:ext cx="4362450" cy="1885950"/>
          </a:xfrm>
          <a:prstGeom prst="roundRect">
            <a:avLst>
              <a:gd name="adj" fmla="val 11111"/>
            </a:avLst>
          </a:prstGeom>
          <a:solidFill>
            <a:srgbClr val="FFFFFF">
              <a:alpha val="5000"/>
            </a:srgbClr>
          </a:solidFill>
          <a:ln w="9525">
            <a:solidFill>
              <a:srgbClr val="BFDDF5">
                <a:alpha val="15000"/>
              </a:srgbClr>
            </a:solidFill>
            <a:prstDash val="solid"/>
          </a:ln>
          <a:effectLst>
            <a:outerShdw blurRad="647700" dist="247650" dir="5400000" algn="bl" rotWithShape="0">
              <a:srgbClr val="000000">
                <a:alpha val="46080"/>
              </a:srgbClr>
            </a:outerShdw>
          </a:effectLst>
        </p:spPr>
        <p:txBody>
          <a:bodyPr/>
          <a:lstStyle/>
          <a:p>
            <a:endParaRPr lang="es-001"/>
          </a:p>
        </p:txBody>
      </p:sp>
      <p:sp>
        <p:nvSpPr>
          <p:cNvPr id="13" name="Text 10"/>
          <p:cNvSpPr/>
          <p:nvPr/>
        </p:nvSpPr>
        <p:spPr>
          <a:xfrm>
            <a:off x="1381125" y="4839992"/>
            <a:ext cx="4065270" cy="533400"/>
          </a:xfrm>
          <a:prstGeom prst="rect">
            <a:avLst/>
          </a:prstGeom>
          <a:noFill/>
          <a:ln/>
        </p:spPr>
        <p:txBody>
          <a:bodyPr wrap="square" lIns="25400" tIns="25400" rIns="25400" bIns="25400" rtlCol="0" anchor="t">
            <a:normAutofit/>
          </a:bodyPr>
          <a:lstStyle/>
          <a:p>
            <a:pPr marL="0" indent="0" algn="l">
              <a:lnSpc>
                <a:spcPct val="82540"/>
              </a:lnSpc>
              <a:buNone/>
            </a:pPr>
            <a:r>
              <a:rPr lang="en-US" sz="3900" kern="0" spc="0" dirty="0">
                <a:solidFill>
                  <a:srgbClr val="FFFFFF">
                    <a:alpha val="92000"/>
                  </a:srgbClr>
                </a:solidFill>
                <a:latin typeface="Helvetica Neue" pitchFamily="34" charset="0"/>
                <a:ea typeface="Helvetica Neue" pitchFamily="34" charset="-122"/>
                <a:cs typeface="Helvetica Neue" pitchFamily="34" charset="-120"/>
              </a:rPr>
              <a:t>Lima</a:t>
            </a:r>
            <a:endParaRPr lang="en-US" sz="3900" dirty="0"/>
          </a:p>
        </p:txBody>
      </p:sp>
      <p:sp>
        <p:nvSpPr>
          <p:cNvPr id="14" name="Text 11"/>
          <p:cNvSpPr/>
          <p:nvPr/>
        </p:nvSpPr>
        <p:spPr>
          <a:xfrm>
            <a:off x="1381125" y="5468642"/>
            <a:ext cx="4065270" cy="352425"/>
          </a:xfrm>
          <a:prstGeom prst="rect">
            <a:avLst/>
          </a:prstGeom>
          <a:noFill/>
          <a:ln/>
        </p:spPr>
        <p:txBody>
          <a:bodyPr wrap="square" lIns="25400" tIns="25400" rIns="25400" bIns="25400" rtlCol="0" anchor="t">
            <a:normAutofit/>
          </a:bodyPr>
          <a:lstStyle/>
          <a:p>
            <a:pPr marL="0" indent="0" algn="l">
              <a:lnSpc>
                <a:spcPct val="115862"/>
              </a:lnSpc>
              <a:buNone/>
            </a:pPr>
            <a:r>
              <a:rPr lang="en-US" sz="1800" dirty="0">
                <a:solidFill>
                  <a:srgbClr val="FFFFFF">
                    <a:alpha val="63000"/>
                  </a:srgbClr>
                </a:solidFill>
                <a:latin typeface="Helvetica Neue" pitchFamily="34" charset="0"/>
                <a:ea typeface="Helvetica Neue" pitchFamily="34" charset="-122"/>
                <a:cs typeface="Helvetica Neue" pitchFamily="34" charset="-120"/>
              </a:rPr>
              <a:t>Vive y maneja dentro de la ciudad</a:t>
            </a:r>
            <a:endParaRPr lang="en-US" sz="1800" dirty="0"/>
          </a:p>
        </p:txBody>
      </p:sp>
      <p:sp>
        <p:nvSpPr>
          <p:cNvPr id="15" name="Shape 12"/>
          <p:cNvSpPr/>
          <p:nvPr/>
        </p:nvSpPr>
        <p:spPr>
          <a:xfrm>
            <a:off x="5638800" y="4556410"/>
            <a:ext cx="4362450" cy="1885950"/>
          </a:xfrm>
          <a:prstGeom prst="roundRect">
            <a:avLst>
              <a:gd name="adj" fmla="val 11111"/>
            </a:avLst>
          </a:prstGeom>
          <a:solidFill>
            <a:srgbClr val="FFFFFF">
              <a:alpha val="4000"/>
            </a:srgbClr>
          </a:solidFill>
          <a:ln w="9525">
            <a:solidFill>
              <a:srgbClr val="BFDDF5">
                <a:alpha val="13000"/>
              </a:srgbClr>
            </a:solidFill>
            <a:prstDash val="solid"/>
          </a:ln>
          <a:effectLst>
            <a:outerShdw blurRad="647700" dist="247650" dir="5400000" algn="bl" rotWithShape="0">
              <a:srgbClr val="000000">
                <a:alpha val="42046"/>
              </a:srgbClr>
            </a:outerShdw>
          </a:effectLst>
        </p:spPr>
        <p:txBody>
          <a:bodyPr/>
          <a:lstStyle/>
          <a:p>
            <a:endParaRPr lang="es-001"/>
          </a:p>
        </p:txBody>
      </p:sp>
      <p:sp>
        <p:nvSpPr>
          <p:cNvPr id="16" name="Text 13"/>
          <p:cNvSpPr/>
          <p:nvPr/>
        </p:nvSpPr>
        <p:spPr>
          <a:xfrm>
            <a:off x="5972175" y="4870735"/>
            <a:ext cx="4065270" cy="533400"/>
          </a:xfrm>
          <a:prstGeom prst="rect">
            <a:avLst/>
          </a:prstGeom>
          <a:noFill/>
          <a:ln/>
        </p:spPr>
        <p:txBody>
          <a:bodyPr wrap="square" lIns="25400" tIns="25400" rIns="25400" bIns="25400" rtlCol="0" anchor="t">
            <a:normAutofit/>
          </a:bodyPr>
          <a:lstStyle/>
          <a:p>
            <a:pPr marL="0" indent="0" algn="l">
              <a:lnSpc>
                <a:spcPct val="82540"/>
              </a:lnSpc>
              <a:buNone/>
            </a:pPr>
            <a:r>
              <a:rPr lang="en-US" sz="3900" kern="0" spc="0" dirty="0">
                <a:solidFill>
                  <a:srgbClr val="FFFFFF">
                    <a:alpha val="84000"/>
                  </a:srgbClr>
                </a:solidFill>
                <a:latin typeface="Helvetica Neue" pitchFamily="34" charset="0"/>
                <a:ea typeface="Helvetica Neue" pitchFamily="34" charset="-122"/>
                <a:cs typeface="Helvetica Neue" pitchFamily="34" charset="-120"/>
              </a:rPr>
              <a:t>Todos los días</a:t>
            </a:r>
            <a:endParaRPr lang="en-US" sz="3900" dirty="0"/>
          </a:p>
        </p:txBody>
      </p:sp>
      <p:sp>
        <p:nvSpPr>
          <p:cNvPr id="17" name="Text 14"/>
          <p:cNvSpPr/>
          <p:nvPr/>
        </p:nvSpPr>
        <p:spPr>
          <a:xfrm>
            <a:off x="5972175" y="5499385"/>
            <a:ext cx="3806571" cy="666750"/>
          </a:xfrm>
          <a:prstGeom prst="rect">
            <a:avLst/>
          </a:prstGeom>
          <a:noFill/>
          <a:ln/>
        </p:spPr>
        <p:txBody>
          <a:bodyPr wrap="square" lIns="25400" tIns="25400" rIns="25400" bIns="25400" rtlCol="0" anchor="t">
            <a:normAutofit/>
          </a:bodyPr>
          <a:lstStyle/>
          <a:p>
            <a:pPr marL="0" indent="0" algn="l">
              <a:lnSpc>
                <a:spcPct val="115862"/>
              </a:lnSpc>
              <a:buNone/>
            </a:pPr>
            <a:r>
              <a:rPr lang="en-US" sz="1800" dirty="0">
                <a:solidFill>
                  <a:srgbClr val="FFFFFF">
                    <a:alpha val="57000"/>
                  </a:srgbClr>
                </a:solidFill>
                <a:latin typeface="Helvetica Neue" pitchFamily="34" charset="0"/>
                <a:ea typeface="Helvetica Neue" pitchFamily="34" charset="-122"/>
                <a:cs typeface="Helvetica Neue" pitchFamily="34" charset="-120"/>
              </a:rPr>
              <a:t>Usa su auto para trabajar, no de paseo</a:t>
            </a:r>
            <a:endParaRPr lang="en-US" sz="1800" dirty="0"/>
          </a:p>
        </p:txBody>
      </p:sp>
      <p:sp>
        <p:nvSpPr>
          <p:cNvPr id="18" name="Shape 15"/>
          <p:cNvSpPr/>
          <p:nvPr/>
        </p:nvSpPr>
        <p:spPr>
          <a:xfrm>
            <a:off x="1047750" y="6735700"/>
            <a:ext cx="4362450" cy="1885950"/>
          </a:xfrm>
          <a:prstGeom prst="roundRect">
            <a:avLst>
              <a:gd name="adj" fmla="val 11111"/>
            </a:avLst>
          </a:prstGeom>
          <a:solidFill>
            <a:srgbClr val="FFFFFF">
              <a:alpha val="3000"/>
            </a:srgbClr>
          </a:solidFill>
          <a:ln w="9525">
            <a:solidFill>
              <a:srgbClr val="BFDDF5">
                <a:alpha val="11000"/>
              </a:srgbClr>
            </a:solidFill>
            <a:prstDash val="solid"/>
          </a:ln>
          <a:effectLst>
            <a:outerShdw blurRad="647700" dist="247650" dir="5400000" algn="bl" rotWithShape="0">
              <a:srgbClr val="000000">
                <a:alpha val="33550"/>
              </a:srgbClr>
            </a:outerShdw>
          </a:effectLst>
        </p:spPr>
        <p:txBody>
          <a:bodyPr/>
          <a:lstStyle/>
          <a:p>
            <a:endParaRPr lang="es-001"/>
          </a:p>
        </p:txBody>
      </p:sp>
      <p:sp>
        <p:nvSpPr>
          <p:cNvPr id="19" name="Text 16"/>
          <p:cNvSpPr/>
          <p:nvPr/>
        </p:nvSpPr>
        <p:spPr>
          <a:xfrm>
            <a:off x="1381125" y="7050025"/>
            <a:ext cx="4065270" cy="533400"/>
          </a:xfrm>
          <a:prstGeom prst="rect">
            <a:avLst/>
          </a:prstGeom>
          <a:noFill/>
          <a:ln/>
        </p:spPr>
        <p:txBody>
          <a:bodyPr wrap="square" lIns="25400" tIns="25400" rIns="25400" bIns="25400" rtlCol="0" anchor="t">
            <a:normAutofit/>
          </a:bodyPr>
          <a:lstStyle/>
          <a:p>
            <a:pPr marL="0" indent="0" algn="l">
              <a:lnSpc>
                <a:spcPct val="82540"/>
              </a:lnSpc>
              <a:buNone/>
            </a:pPr>
            <a:r>
              <a:rPr lang="en-US" sz="3900" kern="0" spc="0" dirty="0">
                <a:solidFill>
                  <a:srgbClr val="FFFFFF">
                    <a:alpha val="67000"/>
                  </a:srgbClr>
                </a:solidFill>
                <a:latin typeface="Helvetica Neue" pitchFamily="34" charset="0"/>
                <a:ea typeface="Helvetica Neue" pitchFamily="34" charset="-122"/>
                <a:cs typeface="Helvetica Neue" pitchFamily="34" charset="-120"/>
              </a:rPr>
              <a:t>8 galones</a:t>
            </a:r>
            <a:endParaRPr lang="en-US" sz="3900" dirty="0"/>
          </a:p>
        </p:txBody>
      </p:sp>
      <p:sp>
        <p:nvSpPr>
          <p:cNvPr id="20" name="Text 17"/>
          <p:cNvSpPr/>
          <p:nvPr/>
        </p:nvSpPr>
        <p:spPr>
          <a:xfrm>
            <a:off x="1381125" y="7678675"/>
            <a:ext cx="3806571" cy="666750"/>
          </a:xfrm>
          <a:prstGeom prst="rect">
            <a:avLst/>
          </a:prstGeom>
          <a:noFill/>
          <a:ln/>
        </p:spPr>
        <p:txBody>
          <a:bodyPr wrap="square" lIns="25400" tIns="25400" rIns="25400" bIns="25400" rtlCol="0" anchor="t">
            <a:normAutofit/>
          </a:bodyPr>
          <a:lstStyle/>
          <a:p>
            <a:pPr marL="0" indent="0" algn="l">
              <a:lnSpc>
                <a:spcPct val="115862"/>
              </a:lnSpc>
              <a:buNone/>
            </a:pPr>
            <a:r>
              <a:rPr lang="en-US" sz="1800" dirty="0">
                <a:solidFill>
                  <a:srgbClr val="FFFFFF">
                    <a:alpha val="46000"/>
                  </a:srgbClr>
                </a:solidFill>
                <a:latin typeface="Helvetica Neue" pitchFamily="34" charset="0"/>
                <a:ea typeface="Helvetica Neue" pitchFamily="34" charset="-122"/>
                <a:cs typeface="Helvetica Neue" pitchFamily="34" charset="-120"/>
              </a:rPr>
              <a:t>Es lo que carga en una semana normal</a:t>
            </a:r>
            <a:endParaRPr lang="en-US" sz="1800" dirty="0"/>
          </a:p>
        </p:txBody>
      </p:sp>
      <p:sp>
        <p:nvSpPr>
          <p:cNvPr id="21" name="Shape 18"/>
          <p:cNvSpPr/>
          <p:nvPr/>
        </p:nvSpPr>
        <p:spPr>
          <a:xfrm>
            <a:off x="5638800" y="6882205"/>
            <a:ext cx="4362450" cy="1885950"/>
          </a:xfrm>
          <a:prstGeom prst="roundRect">
            <a:avLst>
              <a:gd name="adj" fmla="val 11111"/>
            </a:avLst>
          </a:prstGeom>
          <a:gradFill rotWithShape="1">
            <a:gsLst>
              <a:gs pos="0">
                <a:srgbClr val="E8B54A">
                  <a:alpha val="3000"/>
                </a:srgbClr>
              </a:gs>
              <a:gs pos="100000">
                <a:srgbClr val="FFFFFF">
                  <a:alpha val="1000"/>
                </a:srgbClr>
              </a:gs>
            </a:gsLst>
            <a:lin ang="5400000" scaled="0"/>
          </a:gradFill>
          <a:ln w="9525">
            <a:solidFill>
              <a:srgbClr val="E8B54A">
                <a:alpha val="7000"/>
              </a:srgbClr>
            </a:solidFill>
            <a:prstDash val="solid"/>
          </a:ln>
          <a:effectLst>
            <a:outerShdw blurRad="647700" dist="247650" dir="5400000" algn="bl" rotWithShape="0">
              <a:srgbClr val="000000">
                <a:alpha val="14324"/>
              </a:srgbClr>
            </a:outerShdw>
          </a:effectLst>
        </p:spPr>
        <p:txBody>
          <a:bodyPr/>
          <a:lstStyle/>
          <a:p>
            <a:endParaRPr lang="es-001"/>
          </a:p>
        </p:txBody>
      </p:sp>
      <p:sp>
        <p:nvSpPr>
          <p:cNvPr id="22" name="Text 19"/>
          <p:cNvSpPr/>
          <p:nvPr/>
        </p:nvSpPr>
        <p:spPr>
          <a:xfrm>
            <a:off x="5972175" y="7196530"/>
            <a:ext cx="4065270" cy="533400"/>
          </a:xfrm>
          <a:prstGeom prst="rect">
            <a:avLst/>
          </a:prstGeom>
          <a:noFill/>
          <a:ln/>
        </p:spPr>
        <p:txBody>
          <a:bodyPr wrap="square" lIns="25400" tIns="25400" rIns="25400" bIns="25400" rtlCol="0" anchor="t">
            <a:normAutofit/>
          </a:bodyPr>
          <a:lstStyle/>
          <a:p>
            <a:pPr marL="0" indent="0" algn="l">
              <a:lnSpc>
                <a:spcPct val="82540"/>
              </a:lnSpc>
              <a:buNone/>
            </a:pPr>
            <a:r>
              <a:rPr lang="en-US" sz="3900" kern="0" spc="0" dirty="0">
                <a:solidFill>
                  <a:srgbClr val="FFFFFF">
                    <a:alpha val="29000"/>
                  </a:srgbClr>
                </a:solidFill>
                <a:latin typeface="Helvetica Neue" pitchFamily="34" charset="0"/>
                <a:ea typeface="Helvetica Neue" pitchFamily="34" charset="-122"/>
                <a:cs typeface="Helvetica Neue" pitchFamily="34" charset="-120"/>
              </a:rPr>
              <a:t>Su bolsillo</a:t>
            </a:r>
            <a:endParaRPr lang="en-US" sz="3900" dirty="0"/>
          </a:p>
        </p:txBody>
      </p:sp>
      <p:sp>
        <p:nvSpPr>
          <p:cNvPr id="23" name="Text 20"/>
          <p:cNvSpPr/>
          <p:nvPr/>
        </p:nvSpPr>
        <p:spPr>
          <a:xfrm>
            <a:off x="5972175" y="7825180"/>
            <a:ext cx="4065270" cy="352425"/>
          </a:xfrm>
          <a:prstGeom prst="rect">
            <a:avLst/>
          </a:prstGeom>
          <a:noFill/>
          <a:ln/>
        </p:spPr>
        <p:txBody>
          <a:bodyPr wrap="square" lIns="25400" tIns="25400" rIns="25400" bIns="25400" rtlCol="0" anchor="t">
            <a:normAutofit/>
          </a:bodyPr>
          <a:lstStyle/>
          <a:p>
            <a:pPr marL="0" indent="0" algn="l">
              <a:lnSpc>
                <a:spcPct val="115862"/>
              </a:lnSpc>
              <a:buNone/>
            </a:pPr>
            <a:r>
              <a:rPr lang="en-US" sz="1800" dirty="0">
                <a:solidFill>
                  <a:srgbClr val="FFFFFF">
                    <a:alpha val="21000"/>
                  </a:srgbClr>
                </a:solidFill>
                <a:latin typeface="Helvetica Neue" pitchFamily="34" charset="0"/>
                <a:ea typeface="Helvetica Neue" pitchFamily="34" charset="-122"/>
                <a:cs typeface="Helvetica Neue" pitchFamily="34" charset="-120"/>
              </a:rPr>
              <a:t>Nadie le reembolsa la gasolina</a:t>
            </a:r>
            <a:endParaRPr lang="en-US" sz="1800" dirty="0"/>
          </a:p>
        </p:txBody>
      </p:sp>
      <p:sp>
        <p:nvSpPr>
          <p:cNvPr id="24" name="Shape 21"/>
          <p:cNvSpPr/>
          <p:nvPr/>
        </p:nvSpPr>
        <p:spPr>
          <a:xfrm>
            <a:off x="1047750" y="9267825"/>
            <a:ext cx="16192500" cy="9525"/>
          </a:xfrm>
          <a:prstGeom prst="rect">
            <a:avLst/>
          </a:prstGeom>
          <a:solidFill>
            <a:srgbClr val="BFDDF5">
              <a:alpha val="12000"/>
            </a:srgbClr>
          </a:solidFill>
          <a:ln/>
        </p:spPr>
        <p:txBody>
          <a:bodyPr/>
          <a:lstStyle/>
          <a:p>
            <a:endParaRPr lang="es-001"/>
          </a:p>
        </p:txBody>
      </p:sp>
      <p:pic>
        <p:nvPicPr>
          <p:cNvPr id="25" name="Image 1" descr="preencoded.png"/>
          <p:cNvPicPr>
            <a:picLocks noChangeAspect="1"/>
          </p:cNvPicPr>
          <p:nvPr/>
        </p:nvPicPr>
        <p:blipFill>
          <a:blip r:embed="rId4">
            <a:alphaModFix amt="85000"/>
          </a:blip>
          <a:stretch>
            <a:fillRect/>
          </a:stretch>
        </p:blipFill>
        <p:spPr>
          <a:xfrm>
            <a:off x="1047750" y="9486900"/>
            <a:ext cx="639961" cy="304800"/>
          </a:xfrm>
          <a:prstGeom prst="rect">
            <a:avLst/>
          </a:prstGeom>
        </p:spPr>
      </p:pic>
      <p:sp>
        <p:nvSpPr>
          <p:cNvPr id="26" name="Shape 22"/>
          <p:cNvSpPr/>
          <p:nvPr/>
        </p:nvSpPr>
        <p:spPr>
          <a:xfrm>
            <a:off x="1859161" y="9515475"/>
            <a:ext cx="9525" cy="247650"/>
          </a:xfrm>
          <a:prstGeom prst="rect">
            <a:avLst/>
          </a:prstGeom>
          <a:solidFill>
            <a:srgbClr val="BFDDF5">
              <a:alpha val="22000"/>
            </a:srgbClr>
          </a:solidFill>
          <a:ln/>
        </p:spPr>
        <p:txBody>
          <a:bodyPr/>
          <a:lstStyle/>
          <a:p>
            <a:endParaRPr lang="es-001"/>
          </a:p>
        </p:txBody>
      </p:sp>
      <p:pic>
        <p:nvPicPr>
          <p:cNvPr id="27" name="Image 2" descr="preencoded.png"/>
          <p:cNvPicPr>
            <a:picLocks noChangeAspect="1"/>
          </p:cNvPicPr>
          <p:nvPr/>
        </p:nvPicPr>
        <p:blipFill>
          <a:blip r:embed="rId5">
            <a:alphaModFix amt="85000"/>
          </a:blip>
          <a:stretch>
            <a:fillRect/>
          </a:stretch>
        </p:blipFill>
        <p:spPr>
          <a:xfrm>
            <a:off x="2040136" y="9534525"/>
            <a:ext cx="279350" cy="209550"/>
          </a:xfrm>
          <a:prstGeom prst="rect">
            <a:avLst/>
          </a:prstGeom>
        </p:spPr>
      </p:pic>
      <p:sp>
        <p:nvSpPr>
          <p:cNvPr id="28" name="Text 23"/>
          <p:cNvSpPr/>
          <p:nvPr/>
        </p:nvSpPr>
        <p:spPr>
          <a:xfrm>
            <a:off x="2490936" y="9501188"/>
            <a:ext cx="1122164" cy="314325"/>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50000"/>
                  </a:srgbClr>
                </a:solidFill>
                <a:latin typeface="Helvetica Neue" pitchFamily="34" charset="0"/>
                <a:ea typeface="Helvetica Neue" pitchFamily="34" charset="-122"/>
                <a:cs typeface="Helvetica Neue" pitchFamily="34" charset="-120"/>
              </a:rPr>
              <a:t>Lunetra IA</a:t>
            </a:r>
            <a:endParaRPr lang="en-US" sz="1800" dirty="0"/>
          </a:p>
        </p:txBody>
      </p:sp>
      <p:sp>
        <p:nvSpPr>
          <p:cNvPr id="29" name="Text 24"/>
          <p:cNvSpPr/>
          <p:nvPr/>
        </p:nvSpPr>
        <p:spPr>
          <a:xfrm>
            <a:off x="16528554" y="9501188"/>
            <a:ext cx="787896" cy="314325"/>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45000"/>
                  </a:srgbClr>
                </a:solidFill>
                <a:latin typeface="Helvetica Neue" pitchFamily="34" charset="0"/>
                <a:ea typeface="Helvetica Neue" pitchFamily="34" charset="-122"/>
                <a:cs typeface="Helvetica Neue" pitchFamily="34" charset="-120"/>
              </a:rPr>
              <a:t>03 / 13</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E2338">
                  <a:alpha val="100000"/>
                </a:srgbClr>
              </a:gs>
              <a:gs pos="46000">
                <a:srgbClr val="081521">
                  <a:alpha val="100000"/>
                </a:srgbClr>
              </a:gs>
              <a:gs pos="100000">
                <a:srgbClr val="02060B">
                  <a:alpha val="100000"/>
                </a:srgbClr>
              </a:gs>
            </a:gsLst>
            <a:lin ang="3000000" scaled="0"/>
          </a:gradFill>
          <a:ln/>
        </p:spPr>
        <p:txBody>
          <a:bodyPr/>
          <a:lstStyle/>
          <a:p>
            <a:endParaRPr lang="es-001"/>
          </a:p>
        </p:txBody>
      </p:sp>
      <p:sp>
        <p:nvSpPr>
          <p:cNvPr id="3" name="Shape 1"/>
          <p:cNvSpPr/>
          <p:nvPr/>
        </p:nvSpPr>
        <p:spPr>
          <a:xfrm>
            <a:off x="-2804990" y="-938510"/>
            <a:ext cx="22694615" cy="12765703"/>
          </a:xfrm>
          <a:prstGeom prst="rect">
            <a:avLst/>
          </a:prstGeom>
          <a:gradFill rotWithShape="1">
            <a:gsLst>
              <a:gs pos="0">
                <a:srgbClr val="88C1ED">
                  <a:alpha val="30000"/>
                </a:srgbClr>
              </a:gs>
              <a:gs pos="76000">
                <a:srgbClr val="88C1ED">
                  <a:alpha val="0"/>
                </a:srgbClr>
              </a:gs>
            </a:gsLst>
            <a:path path="circle">
              <a:fillToRect l="88000" t="10000" r="12000" b="90000"/>
            </a:path>
          </a:gradFill>
          <a:ln/>
        </p:spPr>
        <p:txBody>
          <a:bodyPr/>
          <a:lstStyle/>
          <a:p>
            <a:endParaRPr lang="es-001"/>
          </a:p>
        </p:txBody>
      </p:sp>
      <p:sp>
        <p:nvSpPr>
          <p:cNvPr id="4" name="Shape 2"/>
          <p:cNvSpPr/>
          <p:nvPr/>
        </p:nvSpPr>
        <p:spPr>
          <a:xfrm>
            <a:off x="0" y="0"/>
            <a:ext cx="3429000" cy="10287000"/>
          </a:xfrm>
          <a:prstGeom prst="rect">
            <a:avLst/>
          </a:prstGeom>
          <a:gradFill rotWithShape="1">
            <a:gsLst>
              <a:gs pos="0">
                <a:srgbClr val="BFDDF5">
                  <a:alpha val="0"/>
                </a:srgbClr>
              </a:gs>
              <a:gs pos="50000">
                <a:srgbClr val="BFDDF5">
                  <a:alpha val="12000"/>
                </a:srgbClr>
              </a:gs>
              <a:gs pos="100000">
                <a:srgbClr val="BFDDF5">
                  <a:alpha val="0"/>
                </a:srgbClr>
              </a:gs>
            </a:gsLst>
            <a:lin ang="0" scaled="0"/>
          </a:gradFill>
          <a:ln/>
        </p:spPr>
        <p:txBody>
          <a:bodyPr/>
          <a:lstStyle/>
          <a:p>
            <a:endParaRPr lang="es-001"/>
          </a:p>
        </p:txBody>
      </p:sp>
      <p:sp>
        <p:nvSpPr>
          <p:cNvPr id="5" name="Shape 3"/>
          <p:cNvSpPr/>
          <p:nvPr/>
        </p:nvSpPr>
        <p:spPr>
          <a:xfrm>
            <a:off x="1047750" y="647700"/>
            <a:ext cx="285750" cy="9525"/>
          </a:xfrm>
          <a:prstGeom prst="rect">
            <a:avLst/>
          </a:prstGeom>
          <a:solidFill>
            <a:srgbClr val="BFDDF5">
              <a:alpha val="50000"/>
            </a:srgbClr>
          </a:solidFill>
          <a:ln/>
        </p:spPr>
        <p:txBody>
          <a:bodyPr/>
          <a:lstStyle/>
          <a:p>
            <a:endParaRPr lang="es-001"/>
          </a:p>
        </p:txBody>
      </p:sp>
      <p:sp>
        <p:nvSpPr>
          <p:cNvPr id="6" name="Text 4"/>
          <p:cNvSpPr/>
          <p:nvPr/>
        </p:nvSpPr>
        <p:spPr>
          <a:xfrm>
            <a:off x="1466850" y="514350"/>
            <a:ext cx="6705372" cy="304800"/>
          </a:xfrm>
          <a:prstGeom prst="rect">
            <a:avLst/>
          </a:prstGeom>
          <a:noFill/>
          <a:ln/>
        </p:spPr>
        <p:txBody>
          <a:bodyPr wrap="square" lIns="0" tIns="0" rIns="0" bIns="0" rtlCol="0" anchor="t">
            <a:normAutofit/>
          </a:bodyPr>
          <a:lstStyle/>
          <a:p>
            <a:pPr marL="0" indent="0" algn="l">
              <a:buNone/>
            </a:pPr>
            <a:r>
              <a:rPr lang="en-US" sz="1800" kern="0" spc="0" dirty="0">
                <a:solidFill>
                  <a:srgbClr val="FFFFFF">
                    <a:alpha val="50000"/>
                  </a:srgbClr>
                </a:solidFill>
                <a:latin typeface="Helvetica Neue" pitchFamily="34" charset="0"/>
                <a:ea typeface="Helvetica Neue" pitchFamily="34" charset="-122"/>
                <a:cs typeface="Helvetica Neue" pitchFamily="34" charset="-120"/>
              </a:rPr>
              <a:t>LO QUE ENCONTRAMOS EN LOS DATOS · 1 DE 2</a:t>
            </a:r>
            <a:endParaRPr lang="en-US" sz="1800" dirty="0"/>
          </a:p>
        </p:txBody>
      </p:sp>
      <p:sp>
        <p:nvSpPr>
          <p:cNvPr id="7" name="Text 5"/>
          <p:cNvSpPr/>
          <p:nvPr/>
        </p:nvSpPr>
        <p:spPr>
          <a:xfrm>
            <a:off x="1047750" y="1130082"/>
            <a:ext cx="13735050" cy="1752600"/>
          </a:xfrm>
          <a:prstGeom prst="rect">
            <a:avLst/>
          </a:prstGeom>
          <a:noFill/>
          <a:ln/>
        </p:spPr>
        <p:txBody>
          <a:bodyPr wrap="square" lIns="25400" tIns="25400" rIns="25400" bIns="25400" rtlCol="0" anchor="t">
            <a:normAutofit/>
          </a:bodyPr>
          <a:lstStyle/>
          <a:p>
            <a:pPr marL="0" indent="0" algn="l">
              <a:lnSpc>
                <a:spcPct val="92041"/>
              </a:lnSpc>
              <a:buNone/>
            </a:pPr>
            <a:r>
              <a:rPr lang="en-US" sz="6150" kern="0" spc="0" dirty="0">
                <a:solidFill>
                  <a:srgbClr val="FFFFFF">
                    <a:alpha val="98000"/>
                  </a:srgbClr>
                </a:solidFill>
                <a:latin typeface="Helvetica Neue" pitchFamily="34" charset="0"/>
                <a:ea typeface="Helvetica Neue" pitchFamily="34" charset="-122"/>
                <a:cs typeface="Helvetica Neue" pitchFamily="34" charset="-120"/>
              </a:rPr>
              <a:t>El mismo día, el mismo combustible, </a:t>
            </a:r>
            <a:r>
              <a:rPr lang="en-US" sz="6150" kern="0" spc="0" dirty="0">
                <a:solidFill>
                  <a:srgbClr val="FFFFFF">
                    <a:alpha val="51000"/>
                  </a:srgbClr>
                </a:solidFill>
                <a:latin typeface="Helvetica Neue" pitchFamily="34" charset="0"/>
                <a:ea typeface="Helvetica Neue" pitchFamily="34" charset="-122"/>
                <a:cs typeface="Helvetica Neue" pitchFamily="34" charset="-120"/>
              </a:rPr>
              <a:t>dos precios muy distintos</a:t>
            </a:r>
            <a:endParaRPr lang="en-US" sz="6150" dirty="0"/>
          </a:p>
        </p:txBody>
      </p:sp>
      <p:sp>
        <p:nvSpPr>
          <p:cNvPr id="8" name="Shape 6"/>
          <p:cNvSpPr/>
          <p:nvPr/>
        </p:nvSpPr>
        <p:spPr>
          <a:xfrm>
            <a:off x="1008049" y="3581400"/>
            <a:ext cx="5553075" cy="3114675"/>
          </a:xfrm>
          <a:prstGeom prst="roundRect">
            <a:avLst>
              <a:gd name="adj" fmla="val 7951"/>
            </a:avLst>
          </a:prstGeom>
          <a:gradFill rotWithShape="1">
            <a:gsLst>
              <a:gs pos="0">
                <a:srgbClr val="5ED092">
                  <a:alpha val="9000"/>
                </a:srgbClr>
              </a:gs>
              <a:gs pos="100000">
                <a:srgbClr val="FFFFFF">
                  <a:alpha val="3000"/>
                </a:srgbClr>
              </a:gs>
            </a:gsLst>
            <a:lin ang="5400000" scaled="0"/>
          </a:gradFill>
          <a:ln w="9525">
            <a:solidFill>
              <a:srgbClr val="5ED092">
                <a:alpha val="26000"/>
              </a:srgbClr>
            </a:solidFill>
            <a:prstDash val="solid"/>
          </a:ln>
          <a:effectLst>
            <a:outerShdw blurRad="762000" dist="285750" dir="5400000" algn="bl" rotWithShape="0">
              <a:srgbClr val="000000">
                <a:alpha val="51816"/>
              </a:srgbClr>
            </a:outerShdw>
          </a:effectLst>
        </p:spPr>
        <p:txBody>
          <a:bodyPr/>
          <a:lstStyle/>
          <a:p>
            <a:endParaRPr lang="es-001"/>
          </a:p>
        </p:txBody>
      </p:sp>
      <p:sp>
        <p:nvSpPr>
          <p:cNvPr id="9" name="Shape 7"/>
          <p:cNvSpPr/>
          <p:nvPr/>
        </p:nvSpPr>
        <p:spPr>
          <a:xfrm>
            <a:off x="1396292" y="4083944"/>
            <a:ext cx="128387" cy="128388"/>
          </a:xfrm>
          <a:prstGeom prst="ellipse">
            <a:avLst/>
          </a:prstGeom>
          <a:solidFill>
            <a:srgbClr val="5ED092">
              <a:alpha val="94000"/>
            </a:srgbClr>
          </a:solidFill>
          <a:ln/>
          <a:effectLst>
            <a:outerShdw blurRad="104775" dist="50800" dir="16200000" algn="bl" rotWithShape="0">
              <a:srgbClr val="5ED092">
                <a:alpha val="93991"/>
              </a:srgbClr>
            </a:outerShdw>
          </a:effectLst>
        </p:spPr>
        <p:txBody>
          <a:bodyPr/>
          <a:lstStyle/>
          <a:p>
            <a:endParaRPr lang="es-001"/>
          </a:p>
        </p:txBody>
      </p:sp>
      <p:sp>
        <p:nvSpPr>
          <p:cNvPr id="10" name="Text 8"/>
          <p:cNvSpPr/>
          <p:nvPr/>
        </p:nvSpPr>
        <p:spPr>
          <a:xfrm>
            <a:off x="1617648" y="4010025"/>
            <a:ext cx="3224614" cy="314325"/>
          </a:xfrm>
          <a:prstGeom prst="rect">
            <a:avLst/>
          </a:prstGeom>
          <a:noFill/>
          <a:ln/>
        </p:spPr>
        <p:txBody>
          <a:bodyPr wrap="square" lIns="25400" tIns="25400" rIns="25400" bIns="25400" rtlCol="0" anchor="t">
            <a:normAutofit/>
          </a:bodyPr>
          <a:lstStyle/>
          <a:p>
            <a:pPr marL="0" indent="0" algn="l">
              <a:buNone/>
            </a:pPr>
            <a:r>
              <a:rPr lang="en-US" sz="1800" kern="0" spc="0" dirty="0">
                <a:solidFill>
                  <a:srgbClr val="FFFFFF">
                    <a:alpha val="57000"/>
                  </a:srgbClr>
                </a:solidFill>
                <a:latin typeface="Helvetica Neue" pitchFamily="34" charset="0"/>
                <a:ea typeface="Helvetica Neue" pitchFamily="34" charset="-122"/>
                <a:cs typeface="Helvetica Neue" pitchFamily="34" charset="-120"/>
              </a:rPr>
              <a:t>EL GRIFO MÁS BARATO</a:t>
            </a:r>
            <a:endParaRPr lang="en-US" sz="1800" dirty="0"/>
          </a:p>
        </p:txBody>
      </p:sp>
      <p:sp>
        <p:nvSpPr>
          <p:cNvPr id="11" name="Text 9"/>
          <p:cNvSpPr/>
          <p:nvPr/>
        </p:nvSpPr>
        <p:spPr>
          <a:xfrm>
            <a:off x="1417623" y="4495800"/>
            <a:ext cx="5207318" cy="1028700"/>
          </a:xfrm>
          <a:prstGeom prst="rect">
            <a:avLst/>
          </a:prstGeom>
          <a:noFill/>
          <a:ln/>
        </p:spPr>
        <p:txBody>
          <a:bodyPr wrap="square" lIns="25400" tIns="25400" rIns="25400" bIns="25400" rtlCol="0" anchor="t">
            <a:normAutofit/>
          </a:bodyPr>
          <a:lstStyle/>
          <a:p>
            <a:pPr marL="0" indent="0" algn="l">
              <a:lnSpc>
                <a:spcPct val="82540"/>
              </a:lnSpc>
              <a:buNone/>
            </a:pPr>
            <a:r>
              <a:rPr lang="en-US" sz="7800" kern="0" spc="0" dirty="0">
                <a:solidFill>
                  <a:srgbClr val="FFFFFF">
                    <a:alpha val="94000"/>
                  </a:srgbClr>
                </a:solidFill>
                <a:latin typeface="Helvetica Neue" pitchFamily="34" charset="0"/>
                <a:ea typeface="Helvetica Neue" pitchFamily="34" charset="-122"/>
                <a:cs typeface="Helvetica Neue" pitchFamily="34" charset="-120"/>
              </a:rPr>
              <a:t>S/ 13.39</a:t>
            </a:r>
            <a:endParaRPr lang="en-US" sz="7800" dirty="0"/>
          </a:p>
        </p:txBody>
      </p:sp>
      <p:sp>
        <p:nvSpPr>
          <p:cNvPr id="12" name="Text 10"/>
          <p:cNvSpPr/>
          <p:nvPr/>
        </p:nvSpPr>
        <p:spPr>
          <a:xfrm>
            <a:off x="1417623" y="5657850"/>
            <a:ext cx="5207318" cy="371475"/>
          </a:xfrm>
          <a:prstGeom prst="rect">
            <a:avLst/>
          </a:prstGeom>
          <a:noFill/>
          <a:ln/>
        </p:spPr>
        <p:txBody>
          <a:bodyPr wrap="square" lIns="25400" tIns="25400" rIns="25400" bIns="25400" rtlCol="0" anchor="t">
            <a:normAutofit/>
          </a:bodyPr>
          <a:lstStyle/>
          <a:p>
            <a:pPr marL="0" indent="0" algn="l">
              <a:lnSpc>
                <a:spcPct val="116667"/>
              </a:lnSpc>
              <a:buNone/>
            </a:pPr>
            <a:r>
              <a:rPr lang="en-US" sz="1875" dirty="0">
                <a:solidFill>
                  <a:srgbClr val="FFFFFF">
                    <a:alpha val="66000"/>
                  </a:srgbClr>
                </a:solidFill>
                <a:latin typeface="Helvetica Neue" pitchFamily="34" charset="0"/>
                <a:ea typeface="Helvetica Neue" pitchFamily="34" charset="-122"/>
                <a:cs typeface="Helvetica Neue" pitchFamily="34" charset="-120"/>
              </a:rPr>
              <a:t>por galón de gasolina regular</a:t>
            </a:r>
            <a:endParaRPr lang="en-US" sz="1875" dirty="0"/>
          </a:p>
        </p:txBody>
      </p:sp>
      <p:sp>
        <p:nvSpPr>
          <p:cNvPr id="13" name="Shape 11"/>
          <p:cNvSpPr/>
          <p:nvPr/>
        </p:nvSpPr>
        <p:spPr>
          <a:xfrm>
            <a:off x="6886575" y="3581400"/>
            <a:ext cx="4514850" cy="3114675"/>
          </a:xfrm>
          <a:prstGeom prst="roundRect">
            <a:avLst>
              <a:gd name="adj" fmla="val 7951"/>
            </a:avLst>
          </a:prstGeom>
          <a:gradFill rotWithShape="1">
            <a:gsLst>
              <a:gs pos="0">
                <a:srgbClr val="88C1ED">
                  <a:alpha val="13000"/>
                </a:srgbClr>
              </a:gs>
              <a:gs pos="100000">
                <a:srgbClr val="FFFFFF">
                  <a:alpha val="3000"/>
                </a:srgbClr>
              </a:gs>
            </a:gsLst>
            <a:lin ang="5400000" scaled="0"/>
          </a:gradFill>
          <a:ln w="9525">
            <a:solidFill>
              <a:srgbClr val="BFDDF5">
                <a:alpha val="24000"/>
              </a:srgbClr>
            </a:solidFill>
            <a:prstDash val="solid"/>
          </a:ln>
          <a:effectLst>
            <a:outerShdw blurRad="952500" dist="50800" dir="16200000" algn="bl" rotWithShape="0">
              <a:srgbClr val="88C1ED">
                <a:alpha val="23651"/>
              </a:srgbClr>
            </a:outerShdw>
          </a:effectLst>
        </p:spPr>
        <p:txBody>
          <a:bodyPr/>
          <a:lstStyle/>
          <a:p>
            <a:endParaRPr lang="es-001"/>
          </a:p>
        </p:txBody>
      </p:sp>
      <p:sp>
        <p:nvSpPr>
          <p:cNvPr id="14" name="Text 12"/>
          <p:cNvSpPr/>
          <p:nvPr/>
        </p:nvSpPr>
        <p:spPr>
          <a:xfrm>
            <a:off x="7048500" y="3971925"/>
            <a:ext cx="4191000" cy="314325"/>
          </a:xfrm>
          <a:prstGeom prst="rect">
            <a:avLst/>
          </a:prstGeom>
          <a:noFill/>
          <a:ln/>
        </p:spPr>
        <p:txBody>
          <a:bodyPr wrap="square" lIns="25400" tIns="25400" rIns="25400" bIns="25400" rtlCol="0" anchor="t">
            <a:normAutofit/>
          </a:bodyPr>
          <a:lstStyle/>
          <a:p>
            <a:pPr marL="0" indent="0" algn="ctr">
              <a:buNone/>
            </a:pPr>
            <a:r>
              <a:rPr lang="en-US" sz="1800" kern="0" spc="0" dirty="0">
                <a:solidFill>
                  <a:srgbClr val="BFDDF5">
                    <a:alpha val="70000"/>
                  </a:srgbClr>
                </a:solidFill>
                <a:latin typeface="Helvetica Neue" pitchFamily="34" charset="0"/>
                <a:ea typeface="Helvetica Neue" pitchFamily="34" charset="-122"/>
                <a:cs typeface="Helvetica Neue" pitchFamily="34" charset="-120"/>
              </a:rPr>
              <a:t>LA DIFERENCIA</a:t>
            </a:r>
            <a:endParaRPr lang="en-US" sz="1800" dirty="0"/>
          </a:p>
        </p:txBody>
      </p:sp>
      <p:sp>
        <p:nvSpPr>
          <p:cNvPr id="15" name="Text 13"/>
          <p:cNvSpPr/>
          <p:nvPr/>
        </p:nvSpPr>
        <p:spPr>
          <a:xfrm>
            <a:off x="7048500" y="4400550"/>
            <a:ext cx="4191000" cy="1162050"/>
          </a:xfrm>
          <a:prstGeom prst="rect">
            <a:avLst/>
          </a:prstGeom>
          <a:noFill/>
          <a:ln/>
        </p:spPr>
        <p:txBody>
          <a:bodyPr wrap="none" lIns="25400" tIns="25400" rIns="25400" bIns="25400" rtlCol="0" anchor="t">
            <a:normAutofit/>
          </a:bodyPr>
          <a:lstStyle/>
          <a:p>
            <a:pPr marL="0" indent="0" algn="ctr">
              <a:lnSpc>
                <a:spcPct val="83099"/>
              </a:lnSpc>
              <a:buNone/>
            </a:pPr>
            <a:r>
              <a:rPr lang="en-US" sz="8850" kern="0" spc="0" dirty="0">
                <a:gradFill rotWithShape="1">
                  <a:gsLst>
                    <a:gs pos="0">
                      <a:srgbClr val="8E9AA8">
                        <a:alpha val="70000"/>
                      </a:srgbClr>
                    </a:gs>
                    <a:gs pos="42000">
                      <a:srgbClr val="FFFFFF">
                        <a:alpha val="70000"/>
                      </a:srgbClr>
                    </a:gs>
                    <a:gs pos="100000">
                      <a:srgbClr val="88C1ED">
                        <a:alpha val="70000"/>
                      </a:srgbClr>
                    </a:gs>
                  </a:gsLst>
                  <a:lin ang="600000" scaled="0"/>
                </a:gradFill>
                <a:latin typeface="Helvetica Neue" pitchFamily="34" charset="0"/>
                <a:ea typeface="Helvetica Neue" pitchFamily="34" charset="-122"/>
                <a:cs typeface="Helvetica Neue" pitchFamily="34" charset="-120"/>
              </a:rPr>
              <a:t>S/ 2.12</a:t>
            </a:r>
            <a:endParaRPr lang="en-US" sz="8850" dirty="0"/>
          </a:p>
        </p:txBody>
      </p:sp>
      <p:sp>
        <p:nvSpPr>
          <p:cNvPr id="16" name="Text 14"/>
          <p:cNvSpPr/>
          <p:nvPr/>
        </p:nvSpPr>
        <p:spPr>
          <a:xfrm>
            <a:off x="7181850" y="5676900"/>
            <a:ext cx="3924300" cy="666750"/>
          </a:xfrm>
          <a:prstGeom prst="rect">
            <a:avLst/>
          </a:prstGeom>
          <a:noFill/>
          <a:ln/>
        </p:spPr>
        <p:txBody>
          <a:bodyPr wrap="square" lIns="25400" tIns="25400" rIns="25400" bIns="25400" rtlCol="0" anchor="t">
            <a:normAutofit/>
          </a:bodyPr>
          <a:lstStyle/>
          <a:p>
            <a:pPr marL="0" indent="0" algn="ctr">
              <a:lnSpc>
                <a:spcPct val="115862"/>
              </a:lnSpc>
              <a:buNone/>
            </a:pPr>
            <a:r>
              <a:rPr lang="en-US" sz="1800" dirty="0">
                <a:solidFill>
                  <a:srgbClr val="FFFFFF">
                    <a:alpha val="53000"/>
                  </a:srgbClr>
                </a:solidFill>
                <a:latin typeface="Helvetica Neue" pitchFamily="34" charset="0"/>
                <a:ea typeface="Helvetica Neue" pitchFamily="34" charset="-122"/>
                <a:cs typeface="Helvetica Neue" pitchFamily="34" charset="-120"/>
              </a:rPr>
              <a:t>por galón, el mismo día y a la misma hora</a:t>
            </a:r>
            <a:endParaRPr lang="en-US" sz="1800" dirty="0"/>
          </a:p>
        </p:txBody>
      </p:sp>
      <p:sp>
        <p:nvSpPr>
          <p:cNvPr id="17" name="Shape 15"/>
          <p:cNvSpPr/>
          <p:nvPr/>
        </p:nvSpPr>
        <p:spPr>
          <a:xfrm>
            <a:off x="11761989" y="3581400"/>
            <a:ext cx="5553075" cy="3114675"/>
          </a:xfrm>
          <a:prstGeom prst="roundRect">
            <a:avLst>
              <a:gd name="adj" fmla="val 7951"/>
            </a:avLst>
          </a:prstGeom>
          <a:gradFill rotWithShape="1">
            <a:gsLst>
              <a:gs pos="0">
                <a:srgbClr val="E06A6A">
                  <a:alpha val="9000"/>
                </a:srgbClr>
              </a:gs>
              <a:gs pos="100000">
                <a:srgbClr val="FFFFFF">
                  <a:alpha val="3000"/>
                </a:srgbClr>
              </a:gs>
            </a:gsLst>
            <a:lin ang="5400000" scaled="0"/>
          </a:gradFill>
          <a:ln w="9525">
            <a:solidFill>
              <a:srgbClr val="E06A6A">
                <a:alpha val="25000"/>
              </a:srgbClr>
            </a:solidFill>
            <a:prstDash val="solid"/>
          </a:ln>
          <a:effectLst>
            <a:outerShdw blurRad="762000" dist="285750" dir="5400000" algn="bl" rotWithShape="0">
              <a:srgbClr val="000000">
                <a:alpha val="49000"/>
              </a:srgbClr>
            </a:outerShdw>
          </a:effectLst>
        </p:spPr>
        <p:txBody>
          <a:bodyPr/>
          <a:lstStyle/>
          <a:p>
            <a:endParaRPr lang="es-001"/>
          </a:p>
        </p:txBody>
      </p:sp>
      <p:sp>
        <p:nvSpPr>
          <p:cNvPr id="18" name="Shape 16"/>
          <p:cNvSpPr/>
          <p:nvPr/>
        </p:nvSpPr>
        <p:spPr>
          <a:xfrm>
            <a:off x="12150233" y="4083944"/>
            <a:ext cx="128388" cy="128388"/>
          </a:xfrm>
          <a:prstGeom prst="ellipse">
            <a:avLst/>
          </a:prstGeom>
          <a:solidFill>
            <a:srgbClr val="E06A6A">
              <a:alpha val="89000"/>
            </a:srgbClr>
          </a:solidFill>
          <a:ln/>
          <a:effectLst>
            <a:outerShdw blurRad="104775" dist="50800" dir="16200000" algn="bl" rotWithShape="0">
              <a:srgbClr val="E06A6A">
                <a:alpha val="88883"/>
              </a:srgbClr>
            </a:outerShdw>
          </a:effectLst>
        </p:spPr>
        <p:txBody>
          <a:bodyPr/>
          <a:lstStyle/>
          <a:p>
            <a:endParaRPr lang="es-001"/>
          </a:p>
        </p:txBody>
      </p:sp>
      <p:sp>
        <p:nvSpPr>
          <p:cNvPr id="19" name="Text 17"/>
          <p:cNvSpPr/>
          <p:nvPr/>
        </p:nvSpPr>
        <p:spPr>
          <a:xfrm>
            <a:off x="12371589" y="4010025"/>
            <a:ext cx="2904396" cy="314325"/>
          </a:xfrm>
          <a:prstGeom prst="rect">
            <a:avLst/>
          </a:prstGeom>
          <a:noFill/>
          <a:ln/>
        </p:spPr>
        <p:txBody>
          <a:bodyPr wrap="square" lIns="25400" tIns="25400" rIns="25400" bIns="25400" rtlCol="0" anchor="t">
            <a:normAutofit/>
          </a:bodyPr>
          <a:lstStyle/>
          <a:p>
            <a:pPr marL="0" indent="0" algn="l">
              <a:buNone/>
            </a:pPr>
            <a:r>
              <a:rPr lang="en-US" sz="1800" kern="0" spc="0" dirty="0">
                <a:solidFill>
                  <a:srgbClr val="FFFFFF">
                    <a:alpha val="53000"/>
                  </a:srgbClr>
                </a:solidFill>
                <a:latin typeface="Helvetica Neue" pitchFamily="34" charset="0"/>
                <a:ea typeface="Helvetica Neue" pitchFamily="34" charset="-122"/>
                <a:cs typeface="Helvetica Neue" pitchFamily="34" charset="-120"/>
              </a:rPr>
              <a:t>EL GRIFO MÁS CARO</a:t>
            </a:r>
            <a:endParaRPr lang="en-US" sz="1800" dirty="0"/>
          </a:p>
        </p:txBody>
      </p:sp>
      <p:sp>
        <p:nvSpPr>
          <p:cNvPr id="20" name="Text 18"/>
          <p:cNvSpPr/>
          <p:nvPr/>
        </p:nvSpPr>
        <p:spPr>
          <a:xfrm>
            <a:off x="12171564" y="4495800"/>
            <a:ext cx="5207318" cy="1028700"/>
          </a:xfrm>
          <a:prstGeom prst="rect">
            <a:avLst/>
          </a:prstGeom>
          <a:noFill/>
          <a:ln/>
        </p:spPr>
        <p:txBody>
          <a:bodyPr wrap="square" lIns="25400" tIns="25400" rIns="25400" bIns="25400" rtlCol="0" anchor="t">
            <a:normAutofit/>
          </a:bodyPr>
          <a:lstStyle/>
          <a:p>
            <a:pPr marL="0" indent="0" algn="l">
              <a:lnSpc>
                <a:spcPct val="82540"/>
              </a:lnSpc>
              <a:buNone/>
            </a:pPr>
            <a:r>
              <a:rPr lang="en-US" sz="7800" kern="0" spc="0" dirty="0">
                <a:solidFill>
                  <a:srgbClr val="FFFFFF">
                    <a:alpha val="89000"/>
                  </a:srgbClr>
                </a:solidFill>
                <a:latin typeface="Helvetica Neue" pitchFamily="34" charset="0"/>
                <a:ea typeface="Helvetica Neue" pitchFamily="34" charset="-122"/>
                <a:cs typeface="Helvetica Neue" pitchFamily="34" charset="-120"/>
              </a:rPr>
              <a:t>S/ 15.70</a:t>
            </a:r>
            <a:endParaRPr lang="en-US" sz="7800" dirty="0"/>
          </a:p>
        </p:txBody>
      </p:sp>
      <p:sp>
        <p:nvSpPr>
          <p:cNvPr id="21" name="Text 19"/>
          <p:cNvSpPr/>
          <p:nvPr/>
        </p:nvSpPr>
        <p:spPr>
          <a:xfrm>
            <a:off x="12171564" y="5657850"/>
            <a:ext cx="5207318" cy="371475"/>
          </a:xfrm>
          <a:prstGeom prst="rect">
            <a:avLst/>
          </a:prstGeom>
          <a:noFill/>
          <a:ln/>
        </p:spPr>
        <p:txBody>
          <a:bodyPr wrap="square" lIns="25400" tIns="25400" rIns="25400" bIns="25400" rtlCol="0" anchor="t">
            <a:normAutofit/>
          </a:bodyPr>
          <a:lstStyle/>
          <a:p>
            <a:pPr marL="0" indent="0" algn="l">
              <a:lnSpc>
                <a:spcPct val="116667"/>
              </a:lnSpc>
              <a:buNone/>
            </a:pPr>
            <a:r>
              <a:rPr lang="en-US" sz="1875" dirty="0">
                <a:solidFill>
                  <a:srgbClr val="FFFFFF">
                    <a:alpha val="62000"/>
                  </a:srgbClr>
                </a:solidFill>
                <a:latin typeface="Helvetica Neue" pitchFamily="34" charset="0"/>
                <a:ea typeface="Helvetica Neue" pitchFamily="34" charset="-122"/>
                <a:cs typeface="Helvetica Neue" pitchFamily="34" charset="-120"/>
              </a:rPr>
              <a:t>por galón de gasolina regular</a:t>
            </a:r>
            <a:endParaRPr lang="en-US" sz="1875" dirty="0"/>
          </a:p>
        </p:txBody>
      </p:sp>
      <p:sp>
        <p:nvSpPr>
          <p:cNvPr id="22" name="Shape 20"/>
          <p:cNvSpPr/>
          <p:nvPr/>
        </p:nvSpPr>
        <p:spPr>
          <a:xfrm>
            <a:off x="1047750" y="7505700"/>
            <a:ext cx="19050" cy="1352550"/>
          </a:xfrm>
          <a:prstGeom prst="rect">
            <a:avLst/>
          </a:prstGeom>
          <a:solidFill>
            <a:srgbClr val="88C1ED">
              <a:alpha val="1000"/>
            </a:srgbClr>
          </a:solidFill>
          <a:ln/>
        </p:spPr>
        <p:txBody>
          <a:bodyPr/>
          <a:lstStyle/>
          <a:p>
            <a:endParaRPr lang="es-001"/>
          </a:p>
        </p:txBody>
      </p:sp>
      <p:sp>
        <p:nvSpPr>
          <p:cNvPr id="23" name="Text 21"/>
          <p:cNvSpPr/>
          <p:nvPr/>
        </p:nvSpPr>
        <p:spPr>
          <a:xfrm>
            <a:off x="1352550" y="7772400"/>
            <a:ext cx="5760903" cy="723900"/>
          </a:xfrm>
          <a:prstGeom prst="rect">
            <a:avLst/>
          </a:prstGeom>
          <a:noFill/>
          <a:ln/>
        </p:spPr>
        <p:txBody>
          <a:bodyPr wrap="square" lIns="25400" tIns="25400" rIns="25400" bIns="25400" rtlCol="0" anchor="t">
            <a:normAutofit/>
          </a:bodyPr>
          <a:lstStyle/>
          <a:p>
            <a:pPr marL="0" indent="0" algn="l">
              <a:lnSpc>
                <a:spcPct val="113750"/>
              </a:lnSpc>
              <a:buNone/>
            </a:pPr>
            <a:r>
              <a:rPr lang="en-US" sz="1950" dirty="0">
                <a:solidFill>
                  <a:srgbClr val="FFFFFF">
                    <a:alpha val="3000"/>
                  </a:srgbClr>
                </a:solidFill>
                <a:latin typeface="Helvetica Neue" pitchFamily="34" charset="0"/>
                <a:ea typeface="Helvetica Neue" pitchFamily="34" charset="-122"/>
                <a:cs typeface="Helvetica Neue" pitchFamily="34" charset="-120"/>
              </a:rPr>
              <a:t>No es la inflación ni el dólar: </a:t>
            </a:r>
            <a:r>
              <a:rPr lang="en-US" sz="1950" dirty="0">
                <a:solidFill>
                  <a:srgbClr val="FFFFFF">
                    <a:alpha val="2000"/>
                  </a:srgbClr>
                </a:solidFill>
                <a:latin typeface="Helvetica Neue" pitchFamily="34" charset="0"/>
                <a:ea typeface="Helvetica Neue" pitchFamily="34" charset="-122"/>
                <a:cs typeface="Helvetica Neue" pitchFamily="34" charset="-120"/>
              </a:rPr>
              <a:t>es simplemente en qué grifo cargas.</a:t>
            </a:r>
            <a:endParaRPr lang="en-US" sz="1950" dirty="0"/>
          </a:p>
        </p:txBody>
      </p:sp>
      <p:sp>
        <p:nvSpPr>
          <p:cNvPr id="24" name="Shape 22"/>
          <p:cNvSpPr/>
          <p:nvPr/>
        </p:nvSpPr>
        <p:spPr>
          <a:xfrm>
            <a:off x="7479060" y="7505700"/>
            <a:ext cx="19050" cy="1352550"/>
          </a:xfrm>
          <a:prstGeom prst="rect">
            <a:avLst/>
          </a:prstGeom>
          <a:solidFill>
            <a:srgbClr val="88C1ED">
              <a:alpha val="1000"/>
            </a:srgbClr>
          </a:solidFill>
          <a:ln/>
        </p:spPr>
        <p:txBody>
          <a:bodyPr/>
          <a:lstStyle/>
          <a:p>
            <a:endParaRPr lang="es-001"/>
          </a:p>
        </p:txBody>
      </p:sp>
      <p:sp>
        <p:nvSpPr>
          <p:cNvPr id="25" name="Text 23"/>
          <p:cNvSpPr/>
          <p:nvPr/>
        </p:nvSpPr>
        <p:spPr>
          <a:xfrm>
            <a:off x="7783860" y="7772400"/>
            <a:ext cx="4582760" cy="504825"/>
          </a:xfrm>
          <a:prstGeom prst="rect">
            <a:avLst/>
          </a:prstGeom>
          <a:noFill/>
          <a:ln/>
        </p:spPr>
        <p:txBody>
          <a:bodyPr wrap="square" lIns="25400" tIns="25400" rIns="25400" bIns="25400" rtlCol="0" anchor="t">
            <a:normAutofit/>
          </a:bodyPr>
          <a:lstStyle/>
          <a:p>
            <a:pPr marL="0" indent="0" algn="l">
              <a:buNone/>
            </a:pPr>
            <a:r>
              <a:rPr lang="en-US" sz="3000" dirty="0">
                <a:solidFill>
                  <a:srgbClr val="FFFFFF">
                    <a:alpha val="3000"/>
                  </a:srgbClr>
                </a:solidFill>
                <a:latin typeface="Helvetica Neue" pitchFamily="34" charset="0"/>
                <a:ea typeface="Helvetica Neue" pitchFamily="34" charset="-122"/>
                <a:cs typeface="Helvetica Neue" pitchFamily="34" charset="-120"/>
              </a:rPr>
              <a:t>28-feb-2026</a:t>
            </a:r>
            <a:endParaRPr lang="en-US" sz="3000" dirty="0"/>
          </a:p>
        </p:txBody>
      </p:sp>
      <p:sp>
        <p:nvSpPr>
          <p:cNvPr id="26" name="Text 24"/>
          <p:cNvSpPr/>
          <p:nvPr/>
        </p:nvSpPr>
        <p:spPr>
          <a:xfrm>
            <a:off x="7783860" y="8315325"/>
            <a:ext cx="4582760" cy="314325"/>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2000"/>
                  </a:srgbClr>
                </a:solidFill>
                <a:latin typeface="Helvetica Neue" pitchFamily="34" charset="0"/>
                <a:ea typeface="Helvetica Neue" pitchFamily="34" charset="-122"/>
                <a:cs typeface="Helvetica Neue" pitchFamily="34" charset="-120"/>
              </a:rPr>
              <a:t>día medido, dato oficial</a:t>
            </a:r>
            <a:endParaRPr lang="en-US" sz="1800" dirty="0"/>
          </a:p>
        </p:txBody>
      </p:sp>
      <p:sp>
        <p:nvSpPr>
          <p:cNvPr id="27" name="Shape 25"/>
          <p:cNvSpPr/>
          <p:nvPr/>
        </p:nvSpPr>
        <p:spPr>
          <a:xfrm>
            <a:off x="12483405" y="7505700"/>
            <a:ext cx="19050" cy="1352550"/>
          </a:xfrm>
          <a:prstGeom prst="rect">
            <a:avLst/>
          </a:prstGeom>
          <a:solidFill>
            <a:srgbClr val="88C1ED">
              <a:alpha val="1000"/>
            </a:srgbClr>
          </a:solidFill>
          <a:ln/>
        </p:spPr>
        <p:txBody>
          <a:bodyPr/>
          <a:lstStyle/>
          <a:p>
            <a:endParaRPr lang="es-001"/>
          </a:p>
        </p:txBody>
      </p:sp>
      <p:sp>
        <p:nvSpPr>
          <p:cNvPr id="28" name="Text 26"/>
          <p:cNvSpPr/>
          <p:nvPr/>
        </p:nvSpPr>
        <p:spPr>
          <a:xfrm>
            <a:off x="12788205" y="7772400"/>
            <a:ext cx="4582924" cy="504825"/>
          </a:xfrm>
          <a:prstGeom prst="rect">
            <a:avLst/>
          </a:prstGeom>
          <a:noFill/>
          <a:ln/>
        </p:spPr>
        <p:txBody>
          <a:bodyPr wrap="square" lIns="25400" tIns="25400" rIns="25400" bIns="25400" rtlCol="0" anchor="t">
            <a:normAutofit/>
          </a:bodyPr>
          <a:lstStyle/>
          <a:p>
            <a:pPr marL="0" indent="0" algn="l">
              <a:buNone/>
            </a:pPr>
            <a:r>
              <a:rPr lang="en-US" sz="3000" dirty="0">
                <a:solidFill>
                  <a:srgbClr val="FFFFFF">
                    <a:alpha val="3000"/>
                  </a:srgbClr>
                </a:solidFill>
                <a:latin typeface="Helvetica Neue" pitchFamily="34" charset="0"/>
                <a:ea typeface="Helvetica Neue" pitchFamily="34" charset="-122"/>
                <a:cs typeface="Helvetica Neue" pitchFamily="34" charset="-120"/>
              </a:rPr>
              <a:t>8,825 grifos</a:t>
            </a:r>
            <a:endParaRPr lang="en-US" sz="3000" dirty="0"/>
          </a:p>
        </p:txBody>
      </p:sp>
      <p:sp>
        <p:nvSpPr>
          <p:cNvPr id="29" name="Text 27"/>
          <p:cNvSpPr/>
          <p:nvPr/>
        </p:nvSpPr>
        <p:spPr>
          <a:xfrm>
            <a:off x="12788205" y="8315325"/>
            <a:ext cx="4582924" cy="314325"/>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2000"/>
                  </a:srgbClr>
                </a:solidFill>
                <a:latin typeface="Helvetica Neue" pitchFamily="34" charset="0"/>
                <a:ea typeface="Helvetica Neue" pitchFamily="34" charset="-122"/>
                <a:cs typeface="Helvetica Neue" pitchFamily="34" charset="-120"/>
              </a:rPr>
              <a:t>comparados en todo el país</a:t>
            </a:r>
            <a:endParaRPr lang="en-US" sz="1800" dirty="0"/>
          </a:p>
        </p:txBody>
      </p:sp>
      <p:sp>
        <p:nvSpPr>
          <p:cNvPr id="30" name="Shape 28"/>
          <p:cNvSpPr/>
          <p:nvPr/>
        </p:nvSpPr>
        <p:spPr>
          <a:xfrm>
            <a:off x="1047750" y="9267825"/>
            <a:ext cx="16192500" cy="9525"/>
          </a:xfrm>
          <a:prstGeom prst="rect">
            <a:avLst/>
          </a:prstGeom>
          <a:solidFill>
            <a:srgbClr val="BFDDF5">
              <a:alpha val="12000"/>
            </a:srgbClr>
          </a:solidFill>
          <a:ln/>
        </p:spPr>
        <p:txBody>
          <a:bodyPr/>
          <a:lstStyle/>
          <a:p>
            <a:endParaRPr lang="es-001"/>
          </a:p>
        </p:txBody>
      </p:sp>
      <p:pic>
        <p:nvPicPr>
          <p:cNvPr id="31" name="Image 0" descr="preencoded.png"/>
          <p:cNvPicPr>
            <a:picLocks noChangeAspect="1"/>
          </p:cNvPicPr>
          <p:nvPr/>
        </p:nvPicPr>
        <p:blipFill>
          <a:blip r:embed="rId3">
            <a:alphaModFix amt="85000"/>
          </a:blip>
          <a:stretch>
            <a:fillRect/>
          </a:stretch>
        </p:blipFill>
        <p:spPr>
          <a:xfrm>
            <a:off x="1047750" y="9486900"/>
            <a:ext cx="639961" cy="304800"/>
          </a:xfrm>
          <a:prstGeom prst="rect">
            <a:avLst/>
          </a:prstGeom>
        </p:spPr>
      </p:pic>
      <p:sp>
        <p:nvSpPr>
          <p:cNvPr id="32" name="Shape 29"/>
          <p:cNvSpPr/>
          <p:nvPr/>
        </p:nvSpPr>
        <p:spPr>
          <a:xfrm>
            <a:off x="1859161" y="9515475"/>
            <a:ext cx="9525" cy="247650"/>
          </a:xfrm>
          <a:prstGeom prst="rect">
            <a:avLst/>
          </a:prstGeom>
          <a:solidFill>
            <a:srgbClr val="BFDDF5">
              <a:alpha val="22000"/>
            </a:srgbClr>
          </a:solidFill>
          <a:ln/>
        </p:spPr>
        <p:txBody>
          <a:bodyPr/>
          <a:lstStyle/>
          <a:p>
            <a:endParaRPr lang="es-001"/>
          </a:p>
        </p:txBody>
      </p:sp>
      <p:pic>
        <p:nvPicPr>
          <p:cNvPr id="33" name="Image 1" descr="preencoded.png"/>
          <p:cNvPicPr>
            <a:picLocks noChangeAspect="1"/>
          </p:cNvPicPr>
          <p:nvPr/>
        </p:nvPicPr>
        <p:blipFill>
          <a:blip r:embed="rId4">
            <a:alphaModFix amt="85000"/>
          </a:blip>
          <a:stretch>
            <a:fillRect/>
          </a:stretch>
        </p:blipFill>
        <p:spPr>
          <a:xfrm>
            <a:off x="2040136" y="9534525"/>
            <a:ext cx="279350" cy="209550"/>
          </a:xfrm>
          <a:prstGeom prst="rect">
            <a:avLst/>
          </a:prstGeom>
        </p:spPr>
      </p:pic>
      <p:sp>
        <p:nvSpPr>
          <p:cNvPr id="34" name="Text 30"/>
          <p:cNvSpPr/>
          <p:nvPr/>
        </p:nvSpPr>
        <p:spPr>
          <a:xfrm>
            <a:off x="2490936" y="9501188"/>
            <a:ext cx="1122164" cy="314325"/>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50000"/>
                  </a:srgbClr>
                </a:solidFill>
                <a:latin typeface="Helvetica Neue" pitchFamily="34" charset="0"/>
                <a:ea typeface="Helvetica Neue" pitchFamily="34" charset="-122"/>
                <a:cs typeface="Helvetica Neue" pitchFamily="34" charset="-120"/>
              </a:rPr>
              <a:t>Lunetra IA</a:t>
            </a:r>
            <a:endParaRPr lang="en-US" sz="1800" dirty="0"/>
          </a:p>
        </p:txBody>
      </p:sp>
      <p:sp>
        <p:nvSpPr>
          <p:cNvPr id="35" name="Text 31"/>
          <p:cNvSpPr/>
          <p:nvPr/>
        </p:nvSpPr>
        <p:spPr>
          <a:xfrm>
            <a:off x="16528554" y="9501188"/>
            <a:ext cx="787896" cy="314325"/>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45000"/>
                  </a:srgbClr>
                </a:solidFill>
                <a:latin typeface="Helvetica Neue" pitchFamily="34" charset="0"/>
                <a:ea typeface="Helvetica Neue" pitchFamily="34" charset="-122"/>
                <a:cs typeface="Helvetica Neue" pitchFamily="34" charset="-120"/>
              </a:rPr>
              <a:t>04 / 13</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2060C">
                  <a:alpha val="100000"/>
                </a:srgbClr>
              </a:gs>
              <a:gs pos="44000">
                <a:srgbClr val="071426">
                  <a:alpha val="100000"/>
                </a:srgbClr>
              </a:gs>
              <a:gs pos="100000">
                <a:srgbClr val="0C2740">
                  <a:alpha val="100000"/>
                </a:srgbClr>
              </a:gs>
            </a:gsLst>
            <a:lin ang="5400000" scaled="0"/>
          </a:gradFill>
          <a:ln/>
        </p:spPr>
        <p:txBody>
          <a:bodyPr/>
          <a:lstStyle/>
          <a:p>
            <a:endParaRPr lang="es-001"/>
          </a:p>
        </p:txBody>
      </p:sp>
      <p:sp>
        <p:nvSpPr>
          <p:cNvPr id="3" name="Shape 1"/>
          <p:cNvSpPr/>
          <p:nvPr/>
        </p:nvSpPr>
        <p:spPr>
          <a:xfrm>
            <a:off x="-2579115" y="-2064849"/>
            <a:ext cx="24518108" cy="13791435"/>
          </a:xfrm>
          <a:prstGeom prst="rect">
            <a:avLst/>
          </a:prstGeom>
          <a:gradFill rotWithShape="1">
            <a:gsLst>
              <a:gs pos="0">
                <a:srgbClr val="88C1ED">
                  <a:alpha val="41000"/>
                </a:srgbClr>
              </a:gs>
              <a:gs pos="36000">
                <a:srgbClr val="4686B7">
                  <a:alpha val="19000"/>
                </a:srgbClr>
              </a:gs>
              <a:gs pos="74000">
                <a:srgbClr val="4686B7">
                  <a:alpha val="0"/>
                </a:srgbClr>
              </a:gs>
            </a:gsLst>
            <a:path path="circle">
              <a:fillToRect l="50000" t="100000" r="50000"/>
            </a:path>
          </a:gradFill>
          <a:ln/>
        </p:spPr>
        <p:txBody>
          <a:bodyPr/>
          <a:lstStyle/>
          <a:p>
            <a:endParaRPr lang="es-001"/>
          </a:p>
        </p:txBody>
      </p:sp>
      <p:pic>
        <p:nvPicPr>
          <p:cNvPr id="4" name="Image 0" descr="preencoded.png"/>
          <p:cNvPicPr>
            <a:picLocks noChangeAspect="1"/>
          </p:cNvPicPr>
          <p:nvPr/>
        </p:nvPicPr>
        <p:blipFill>
          <a:blip r:embed="rId3"/>
          <a:srcRect t="10339" b="36656"/>
          <a:stretch/>
        </p:blipFill>
        <p:spPr>
          <a:xfrm>
            <a:off x="0" y="0"/>
            <a:ext cx="18288000" cy="10287000"/>
          </a:xfrm>
          <a:prstGeom prst="rect">
            <a:avLst/>
          </a:prstGeom>
        </p:spPr>
      </p:pic>
      <p:sp>
        <p:nvSpPr>
          <p:cNvPr id="5" name="Shape 2"/>
          <p:cNvSpPr/>
          <p:nvPr/>
        </p:nvSpPr>
        <p:spPr>
          <a:xfrm>
            <a:off x="0" y="0"/>
            <a:ext cx="18288000" cy="10287000"/>
          </a:xfrm>
          <a:prstGeom prst="rect">
            <a:avLst/>
          </a:prstGeom>
          <a:gradFill rotWithShape="1">
            <a:gsLst>
              <a:gs pos="0">
                <a:srgbClr val="010409">
                  <a:alpha val="12000"/>
                </a:srgbClr>
              </a:gs>
              <a:gs pos="18000">
                <a:srgbClr val="010409">
                  <a:alpha val="42000"/>
                </a:srgbClr>
              </a:gs>
              <a:gs pos="44000">
                <a:srgbClr val="010409">
                  <a:alpha val="86000"/>
                </a:srgbClr>
              </a:gs>
              <a:gs pos="72000">
                <a:srgbClr val="010409">
                  <a:alpha val="95000"/>
                </a:srgbClr>
              </a:gs>
              <a:gs pos="100000">
                <a:srgbClr val="010409">
                  <a:alpha val="97000"/>
                </a:srgbClr>
              </a:gs>
            </a:gsLst>
            <a:lin ang="10080000" scaled="0"/>
          </a:gradFill>
          <a:ln/>
        </p:spPr>
        <p:txBody>
          <a:bodyPr/>
          <a:lstStyle/>
          <a:p>
            <a:endParaRPr lang="es-001"/>
          </a:p>
        </p:txBody>
      </p:sp>
      <p:sp>
        <p:nvSpPr>
          <p:cNvPr id="6" name="Shape 3"/>
          <p:cNvSpPr/>
          <p:nvPr/>
        </p:nvSpPr>
        <p:spPr>
          <a:xfrm>
            <a:off x="857250" y="8202131"/>
            <a:ext cx="3101280" cy="370369"/>
          </a:xfrm>
          <a:custGeom>
            <a:avLst/>
            <a:gdLst/>
            <a:ahLst/>
            <a:cxnLst/>
            <a:rect l="l" t="t" r="r" b="b"/>
            <a:pathLst>
              <a:path w="3101280" h="370369">
                <a:moveTo>
                  <a:pt x="73373" y="0"/>
                </a:moveTo>
                <a:lnTo>
                  <a:pt x="3027907" y="0"/>
                </a:lnTo>
                <a:arcTo wR="73373" hR="73373" stAng="16200000" swAng="5400000"/>
                <a:lnTo>
                  <a:pt x="3101280" y="370369"/>
                </a:lnTo>
                <a:lnTo>
                  <a:pt x="0" y="370369"/>
                </a:lnTo>
                <a:lnTo>
                  <a:pt x="0" y="73373"/>
                </a:lnTo>
                <a:arcTo wR="73373" hR="73373" stAng="10800000" swAng="5400000"/>
                <a:close/>
              </a:path>
            </a:pathLst>
          </a:custGeom>
          <a:gradFill rotWithShape="1">
            <a:gsLst>
              <a:gs pos="0">
                <a:srgbClr val="88C1ED">
                  <a:alpha val="13000"/>
                </a:srgbClr>
              </a:gs>
              <a:gs pos="100000">
                <a:srgbClr val="88C1ED">
                  <a:alpha val="0"/>
                </a:srgbClr>
              </a:gs>
            </a:gsLst>
            <a:lin ang="5400000" scaled="0"/>
          </a:gradFill>
          <a:ln/>
        </p:spPr>
        <p:txBody>
          <a:bodyPr/>
          <a:lstStyle/>
          <a:p>
            <a:endParaRPr lang="es-001"/>
          </a:p>
        </p:txBody>
      </p:sp>
      <p:sp>
        <p:nvSpPr>
          <p:cNvPr id="7" name="Shape 4"/>
          <p:cNvSpPr/>
          <p:nvPr/>
        </p:nvSpPr>
        <p:spPr>
          <a:xfrm>
            <a:off x="4225230" y="7827478"/>
            <a:ext cx="3101280" cy="745022"/>
          </a:xfrm>
          <a:custGeom>
            <a:avLst/>
            <a:gdLst/>
            <a:ahLst/>
            <a:cxnLst/>
            <a:rect l="l" t="t" r="r" b="b"/>
            <a:pathLst>
              <a:path w="3101280" h="745022">
                <a:moveTo>
                  <a:pt x="71212" y="0"/>
                </a:moveTo>
                <a:lnTo>
                  <a:pt x="3030068" y="0"/>
                </a:lnTo>
                <a:arcTo wR="71212" hR="71212" stAng="16200000" swAng="5400000"/>
                <a:lnTo>
                  <a:pt x="3101280" y="745022"/>
                </a:lnTo>
                <a:lnTo>
                  <a:pt x="0" y="745022"/>
                </a:lnTo>
                <a:lnTo>
                  <a:pt x="0" y="71212"/>
                </a:lnTo>
                <a:arcTo wR="71212" hR="71212" stAng="10800000" swAng="5400000"/>
                <a:close/>
              </a:path>
            </a:pathLst>
          </a:custGeom>
          <a:gradFill rotWithShape="1">
            <a:gsLst>
              <a:gs pos="0">
                <a:srgbClr val="88C1ED">
                  <a:alpha val="11000"/>
                </a:srgbClr>
              </a:gs>
              <a:gs pos="100000">
                <a:srgbClr val="88C1ED">
                  <a:alpha val="0"/>
                </a:srgbClr>
              </a:gs>
            </a:gsLst>
            <a:lin ang="5400000" scaled="0"/>
          </a:gradFill>
          <a:ln/>
        </p:spPr>
        <p:txBody>
          <a:bodyPr/>
          <a:lstStyle/>
          <a:p>
            <a:endParaRPr lang="es-001"/>
          </a:p>
        </p:txBody>
      </p:sp>
      <p:sp>
        <p:nvSpPr>
          <p:cNvPr id="8" name="Shape 5"/>
          <p:cNvSpPr/>
          <p:nvPr/>
        </p:nvSpPr>
        <p:spPr>
          <a:xfrm>
            <a:off x="7593211" y="7518169"/>
            <a:ext cx="3101280" cy="1054331"/>
          </a:xfrm>
          <a:custGeom>
            <a:avLst/>
            <a:gdLst/>
            <a:ahLst/>
            <a:cxnLst/>
            <a:rect l="l" t="t" r="r" b="b"/>
            <a:pathLst>
              <a:path w="3101280" h="1054331">
                <a:moveTo>
                  <a:pt x="67387" y="0"/>
                </a:moveTo>
                <a:lnTo>
                  <a:pt x="3033893" y="0"/>
                </a:lnTo>
                <a:arcTo wR="67387" hR="67387" stAng="16200000" swAng="5400000"/>
                <a:lnTo>
                  <a:pt x="3101280" y="1054331"/>
                </a:lnTo>
                <a:lnTo>
                  <a:pt x="0" y="1054331"/>
                </a:lnTo>
                <a:lnTo>
                  <a:pt x="0" y="67387"/>
                </a:lnTo>
                <a:arcTo wR="67387" hR="67387" stAng="10800000" swAng="5400000"/>
                <a:close/>
              </a:path>
            </a:pathLst>
          </a:custGeom>
          <a:gradFill rotWithShape="1">
            <a:gsLst>
              <a:gs pos="0">
                <a:srgbClr val="BFDDF5">
                  <a:alpha val="11000"/>
                </a:srgbClr>
              </a:gs>
              <a:gs pos="100000">
                <a:srgbClr val="BFDDF5">
                  <a:alpha val="0"/>
                </a:srgbClr>
              </a:gs>
            </a:gsLst>
            <a:lin ang="5400000" scaled="0"/>
          </a:gradFill>
          <a:ln/>
        </p:spPr>
        <p:txBody>
          <a:bodyPr/>
          <a:lstStyle/>
          <a:p>
            <a:endParaRPr lang="es-001"/>
          </a:p>
        </p:txBody>
      </p:sp>
      <p:sp>
        <p:nvSpPr>
          <p:cNvPr id="9" name="Shape 6"/>
          <p:cNvSpPr/>
          <p:nvPr/>
        </p:nvSpPr>
        <p:spPr>
          <a:xfrm>
            <a:off x="10961191" y="7415327"/>
            <a:ext cx="3101280" cy="1157173"/>
          </a:xfrm>
          <a:custGeom>
            <a:avLst/>
            <a:gdLst/>
            <a:ahLst/>
            <a:cxnLst/>
            <a:rect l="l" t="t" r="r" b="b"/>
            <a:pathLst>
              <a:path w="3101280" h="1157173">
                <a:moveTo>
                  <a:pt x="60141" y="0"/>
                </a:moveTo>
                <a:lnTo>
                  <a:pt x="3041139" y="0"/>
                </a:lnTo>
                <a:arcTo wR="60141" hR="60141" stAng="16200000" swAng="5400000"/>
                <a:lnTo>
                  <a:pt x="3101280" y="1157173"/>
                </a:lnTo>
                <a:lnTo>
                  <a:pt x="0" y="1157173"/>
                </a:lnTo>
                <a:lnTo>
                  <a:pt x="0" y="60141"/>
                </a:lnTo>
                <a:arcTo wR="60141" hR="60141" stAng="10800000" swAng="5400000"/>
                <a:close/>
              </a:path>
            </a:pathLst>
          </a:custGeom>
          <a:gradFill rotWithShape="1">
            <a:gsLst>
              <a:gs pos="0">
                <a:srgbClr val="DCEBF8">
                  <a:alpha val="10000"/>
                </a:srgbClr>
              </a:gs>
              <a:gs pos="100000">
                <a:srgbClr val="DCEBF8">
                  <a:alpha val="0"/>
                </a:srgbClr>
              </a:gs>
            </a:gsLst>
            <a:lin ang="5400000" scaled="0"/>
          </a:gradFill>
          <a:ln/>
        </p:spPr>
        <p:txBody>
          <a:bodyPr/>
          <a:lstStyle/>
          <a:p>
            <a:endParaRPr lang="es-001"/>
          </a:p>
        </p:txBody>
      </p:sp>
      <p:sp>
        <p:nvSpPr>
          <p:cNvPr id="10" name="Shape 7"/>
          <p:cNvSpPr/>
          <p:nvPr/>
        </p:nvSpPr>
        <p:spPr>
          <a:xfrm>
            <a:off x="14329172" y="8001796"/>
            <a:ext cx="3101280" cy="570704"/>
          </a:xfrm>
          <a:custGeom>
            <a:avLst/>
            <a:gdLst/>
            <a:ahLst/>
            <a:cxnLst/>
            <a:rect l="l" t="t" r="r" b="b"/>
            <a:pathLst>
              <a:path w="3101280" h="570704">
                <a:moveTo>
                  <a:pt x="46371" y="0"/>
                </a:moveTo>
                <a:lnTo>
                  <a:pt x="3054909" y="0"/>
                </a:lnTo>
                <a:arcTo wR="46371" hR="46371" stAng="16200000" swAng="5400000"/>
                <a:lnTo>
                  <a:pt x="3101280" y="570704"/>
                </a:lnTo>
                <a:lnTo>
                  <a:pt x="0" y="570704"/>
                </a:lnTo>
                <a:lnTo>
                  <a:pt x="0" y="46371"/>
                </a:lnTo>
                <a:arcTo wR="46371" hR="46371" stAng="10800000" swAng="5400000"/>
                <a:close/>
              </a:path>
            </a:pathLst>
          </a:custGeom>
          <a:gradFill rotWithShape="1">
            <a:gsLst>
              <a:gs pos="0">
                <a:srgbClr val="EAF4FC">
                  <a:alpha val="4000"/>
                </a:srgbClr>
              </a:gs>
              <a:gs pos="100000">
                <a:srgbClr val="EAF4FC">
                  <a:alpha val="0"/>
                </a:srgbClr>
              </a:gs>
            </a:gsLst>
            <a:lin ang="5400000" scaled="0"/>
          </a:gradFill>
          <a:ln/>
        </p:spPr>
        <p:txBody>
          <a:bodyPr/>
          <a:lstStyle/>
          <a:p>
            <a:endParaRPr lang="es-001"/>
          </a:p>
        </p:txBody>
      </p:sp>
      <p:sp>
        <p:nvSpPr>
          <p:cNvPr id="11" name="Shape 8"/>
          <p:cNvSpPr/>
          <p:nvPr/>
        </p:nvSpPr>
        <p:spPr>
          <a:xfrm>
            <a:off x="1047750" y="647700"/>
            <a:ext cx="285750" cy="9525"/>
          </a:xfrm>
          <a:prstGeom prst="rect">
            <a:avLst/>
          </a:prstGeom>
          <a:solidFill>
            <a:srgbClr val="BFDDF5">
              <a:alpha val="50000"/>
            </a:srgbClr>
          </a:solidFill>
          <a:ln/>
        </p:spPr>
        <p:txBody>
          <a:bodyPr/>
          <a:lstStyle/>
          <a:p>
            <a:endParaRPr lang="es-001"/>
          </a:p>
        </p:txBody>
      </p:sp>
      <p:sp>
        <p:nvSpPr>
          <p:cNvPr id="12" name="Text 9"/>
          <p:cNvSpPr/>
          <p:nvPr/>
        </p:nvSpPr>
        <p:spPr>
          <a:xfrm>
            <a:off x="1466850" y="514350"/>
            <a:ext cx="4297109" cy="304800"/>
          </a:xfrm>
          <a:prstGeom prst="rect">
            <a:avLst/>
          </a:prstGeom>
          <a:noFill/>
          <a:ln/>
        </p:spPr>
        <p:txBody>
          <a:bodyPr wrap="square" lIns="0" tIns="0" rIns="0" bIns="0" rtlCol="0" anchor="t">
            <a:normAutofit/>
          </a:bodyPr>
          <a:lstStyle/>
          <a:p>
            <a:pPr marL="0" indent="0" algn="l">
              <a:buNone/>
            </a:pPr>
            <a:r>
              <a:rPr lang="en-US" sz="1800" kern="0" spc="0" dirty="0">
                <a:solidFill>
                  <a:srgbClr val="FFFFFF">
                    <a:alpha val="50000"/>
                  </a:srgbClr>
                </a:solidFill>
                <a:latin typeface="Helvetica Neue" pitchFamily="34" charset="0"/>
                <a:ea typeface="Helvetica Neue" pitchFamily="34" charset="-122"/>
                <a:cs typeface="Helvetica Neue" pitchFamily="34" charset="-120"/>
              </a:rPr>
              <a:t>CUÁNTO CUESTA NO SABERLO</a:t>
            </a:r>
            <a:endParaRPr lang="en-US" sz="1800" dirty="0"/>
          </a:p>
        </p:txBody>
      </p:sp>
      <p:sp>
        <p:nvSpPr>
          <p:cNvPr id="13" name="Text 10"/>
          <p:cNvSpPr/>
          <p:nvPr/>
        </p:nvSpPr>
        <p:spPr>
          <a:xfrm>
            <a:off x="1047750" y="1129973"/>
            <a:ext cx="13146405" cy="1866900"/>
          </a:xfrm>
          <a:prstGeom prst="rect">
            <a:avLst/>
          </a:prstGeom>
          <a:noFill/>
          <a:ln/>
        </p:spPr>
        <p:txBody>
          <a:bodyPr wrap="square" lIns="25400" tIns="25400" rIns="25400" bIns="25400" rtlCol="0" anchor="t">
            <a:normAutofit/>
          </a:bodyPr>
          <a:lstStyle/>
          <a:p>
            <a:pPr marL="0" indent="0" algn="l">
              <a:lnSpc>
                <a:spcPct val="90467"/>
              </a:lnSpc>
              <a:buNone/>
            </a:pPr>
            <a:r>
              <a:rPr lang="en-US" sz="6600" kern="0" spc="0" dirty="0">
                <a:solidFill>
                  <a:srgbClr val="FFFFFF">
                    <a:alpha val="98000"/>
                  </a:srgbClr>
                </a:solidFill>
                <a:latin typeface="Helvetica Neue" pitchFamily="34" charset="0"/>
                <a:ea typeface="Helvetica Neue" pitchFamily="34" charset="-122"/>
                <a:cs typeface="Helvetica Neue" pitchFamily="34" charset="-120"/>
              </a:rPr>
              <a:t>Cargar siempre en el grifo caro </a:t>
            </a:r>
            <a:r>
              <a:rPr lang="en-US" sz="6600" kern="0" spc="0" dirty="0">
                <a:solidFill>
                  <a:srgbClr val="FFFFFF">
                    <a:alpha val="51000"/>
                  </a:srgbClr>
                </a:solidFill>
                <a:latin typeface="Helvetica Neue" pitchFamily="34" charset="0"/>
                <a:ea typeface="Helvetica Neue" pitchFamily="34" charset="-122"/>
                <a:cs typeface="Helvetica Neue" pitchFamily="34" charset="-120"/>
              </a:rPr>
              <a:t>cuesta S/ 814 al año</a:t>
            </a:r>
            <a:endParaRPr lang="en-US" sz="6600" dirty="0"/>
          </a:p>
        </p:txBody>
      </p:sp>
      <p:sp>
        <p:nvSpPr>
          <p:cNvPr id="14" name="Shape 11"/>
          <p:cNvSpPr/>
          <p:nvPr/>
        </p:nvSpPr>
        <p:spPr>
          <a:xfrm>
            <a:off x="1039091" y="3796108"/>
            <a:ext cx="5224208" cy="2761307"/>
          </a:xfrm>
          <a:prstGeom prst="roundRect">
            <a:avLst>
              <a:gd name="adj" fmla="val 8969"/>
            </a:avLst>
          </a:prstGeom>
          <a:solidFill>
            <a:srgbClr val="FFFFFF">
              <a:alpha val="5000"/>
            </a:srgbClr>
          </a:solidFill>
          <a:ln/>
          <a:effectLst>
            <a:outerShdw blurRad="762000" dist="285750" dir="5400000" algn="bl" rotWithShape="0">
              <a:srgbClr val="000000">
                <a:alpha val="53966"/>
              </a:srgbClr>
            </a:outerShdw>
          </a:effectLst>
        </p:spPr>
        <p:txBody>
          <a:bodyPr/>
          <a:lstStyle/>
          <a:p>
            <a:endParaRPr lang="es-001"/>
          </a:p>
        </p:txBody>
      </p:sp>
      <p:sp>
        <p:nvSpPr>
          <p:cNvPr id="15" name="Shape 12"/>
          <p:cNvSpPr/>
          <p:nvPr/>
        </p:nvSpPr>
        <p:spPr>
          <a:xfrm>
            <a:off x="1039091" y="6547890"/>
            <a:ext cx="5224208" cy="9525"/>
          </a:xfrm>
          <a:prstGeom prst="rect">
            <a:avLst/>
          </a:prstGeom>
          <a:solidFill>
            <a:srgbClr val="BFDDF5">
              <a:alpha val="16000"/>
            </a:srgbClr>
          </a:solidFill>
          <a:ln/>
        </p:spPr>
        <p:txBody>
          <a:bodyPr/>
          <a:lstStyle/>
          <a:p>
            <a:endParaRPr lang="es-001"/>
          </a:p>
        </p:txBody>
      </p:sp>
      <p:sp>
        <p:nvSpPr>
          <p:cNvPr id="16" name="Shape 13"/>
          <p:cNvSpPr/>
          <p:nvPr/>
        </p:nvSpPr>
        <p:spPr>
          <a:xfrm>
            <a:off x="1039091" y="3796108"/>
            <a:ext cx="5224208" cy="9525"/>
          </a:xfrm>
          <a:prstGeom prst="rect">
            <a:avLst/>
          </a:prstGeom>
          <a:solidFill>
            <a:srgbClr val="BFDDF5">
              <a:alpha val="16000"/>
            </a:srgbClr>
          </a:solidFill>
          <a:ln/>
        </p:spPr>
        <p:txBody>
          <a:bodyPr/>
          <a:lstStyle/>
          <a:p>
            <a:endParaRPr lang="es-001"/>
          </a:p>
        </p:txBody>
      </p:sp>
      <p:sp>
        <p:nvSpPr>
          <p:cNvPr id="17" name="Shape 14"/>
          <p:cNvSpPr/>
          <p:nvPr/>
        </p:nvSpPr>
        <p:spPr>
          <a:xfrm>
            <a:off x="1039091" y="3796108"/>
            <a:ext cx="9525" cy="2761307"/>
          </a:xfrm>
          <a:prstGeom prst="rect">
            <a:avLst/>
          </a:prstGeom>
          <a:solidFill>
            <a:srgbClr val="BFDDF5">
              <a:alpha val="16000"/>
            </a:srgbClr>
          </a:solidFill>
          <a:ln/>
        </p:spPr>
        <p:txBody>
          <a:bodyPr/>
          <a:lstStyle/>
          <a:p>
            <a:endParaRPr lang="es-001"/>
          </a:p>
        </p:txBody>
      </p:sp>
      <p:sp>
        <p:nvSpPr>
          <p:cNvPr id="18" name="Shape 15"/>
          <p:cNvSpPr/>
          <p:nvPr/>
        </p:nvSpPr>
        <p:spPr>
          <a:xfrm>
            <a:off x="6253774" y="3796108"/>
            <a:ext cx="9525" cy="2761307"/>
          </a:xfrm>
          <a:prstGeom prst="rect">
            <a:avLst/>
          </a:prstGeom>
          <a:solidFill>
            <a:srgbClr val="BFDDF5">
              <a:alpha val="16000"/>
            </a:srgbClr>
          </a:solidFill>
          <a:ln/>
        </p:spPr>
        <p:txBody>
          <a:bodyPr/>
          <a:lstStyle/>
          <a:p>
            <a:endParaRPr lang="es-001"/>
          </a:p>
        </p:txBody>
      </p:sp>
      <p:sp>
        <p:nvSpPr>
          <p:cNvPr id="19" name="Text 16"/>
          <p:cNvSpPr/>
          <p:nvPr/>
        </p:nvSpPr>
        <p:spPr>
          <a:xfrm>
            <a:off x="1460449" y="4222288"/>
            <a:ext cx="4819658" cy="313195"/>
          </a:xfrm>
          <a:prstGeom prst="rect">
            <a:avLst/>
          </a:prstGeom>
          <a:noFill/>
          <a:ln/>
        </p:spPr>
        <p:txBody>
          <a:bodyPr wrap="square" lIns="25400" tIns="25400" rIns="25400" bIns="25400" rtlCol="0" anchor="t">
            <a:normAutofit/>
          </a:bodyPr>
          <a:lstStyle/>
          <a:p>
            <a:pPr marL="0" indent="0" algn="l">
              <a:buNone/>
            </a:pPr>
            <a:r>
              <a:rPr lang="en-US" sz="1800" kern="0" spc="0" dirty="0">
                <a:solidFill>
                  <a:srgbClr val="88C1ED">
                    <a:alpha val="90000"/>
                  </a:srgbClr>
                </a:solidFill>
                <a:latin typeface="Helvetica Neue" pitchFamily="34" charset="0"/>
                <a:ea typeface="Helvetica Neue" pitchFamily="34" charset="-122"/>
                <a:cs typeface="Helvetica Neue" pitchFamily="34" charset="-120"/>
              </a:rPr>
              <a:t>POR CADA TANQUEADA</a:t>
            </a:r>
            <a:endParaRPr lang="en-US" sz="1800" dirty="0"/>
          </a:p>
        </p:txBody>
      </p:sp>
      <p:sp>
        <p:nvSpPr>
          <p:cNvPr id="20" name="Text 17"/>
          <p:cNvSpPr/>
          <p:nvPr/>
        </p:nvSpPr>
        <p:spPr>
          <a:xfrm>
            <a:off x="1454768" y="4706309"/>
            <a:ext cx="4832147" cy="952140"/>
          </a:xfrm>
          <a:prstGeom prst="rect">
            <a:avLst/>
          </a:prstGeom>
          <a:noFill/>
          <a:ln/>
        </p:spPr>
        <p:txBody>
          <a:bodyPr wrap="square" lIns="25400" tIns="25400" rIns="25400" bIns="25400" rtlCol="0" anchor="t">
            <a:normAutofit/>
          </a:bodyPr>
          <a:lstStyle/>
          <a:p>
            <a:pPr marL="0" indent="0" algn="l">
              <a:lnSpc>
                <a:spcPct val="82759"/>
              </a:lnSpc>
              <a:buNone/>
            </a:pPr>
            <a:r>
              <a:rPr lang="en-US" sz="7200" kern="0" spc="0" dirty="0">
                <a:solidFill>
                  <a:srgbClr val="FFFFFF">
                    <a:alpha val="90000"/>
                  </a:srgbClr>
                </a:solidFill>
                <a:latin typeface="Helvetica Neue" pitchFamily="34" charset="0"/>
                <a:ea typeface="Helvetica Neue" pitchFamily="34" charset="-122"/>
                <a:cs typeface="Helvetica Neue" pitchFamily="34" charset="-120"/>
              </a:rPr>
              <a:t>S/ 17</a:t>
            </a:r>
            <a:endParaRPr lang="en-US" sz="7200" dirty="0"/>
          </a:p>
        </p:txBody>
      </p:sp>
      <p:sp>
        <p:nvSpPr>
          <p:cNvPr id="21" name="Text 18"/>
          <p:cNvSpPr/>
          <p:nvPr/>
        </p:nvSpPr>
        <p:spPr>
          <a:xfrm>
            <a:off x="1452207" y="5792160"/>
            <a:ext cx="4837778" cy="372567"/>
          </a:xfrm>
          <a:prstGeom prst="rect">
            <a:avLst/>
          </a:prstGeom>
          <a:noFill/>
          <a:ln/>
        </p:spPr>
        <p:txBody>
          <a:bodyPr wrap="square" lIns="25400" tIns="25400" rIns="25400" bIns="25400" rtlCol="0" anchor="t">
            <a:normAutofit/>
          </a:bodyPr>
          <a:lstStyle/>
          <a:p>
            <a:pPr marL="0" indent="0" algn="l">
              <a:lnSpc>
                <a:spcPct val="116667"/>
              </a:lnSpc>
              <a:buNone/>
            </a:pPr>
            <a:r>
              <a:rPr lang="en-US" sz="1875" dirty="0">
                <a:solidFill>
                  <a:srgbClr val="FFFFFF">
                    <a:alpha val="63000"/>
                  </a:srgbClr>
                </a:solidFill>
                <a:latin typeface="Helvetica Neue" pitchFamily="34" charset="0"/>
                <a:ea typeface="Helvetica Neue" pitchFamily="34" charset="-122"/>
                <a:cs typeface="Helvetica Neue" pitchFamily="34" charset="-120"/>
              </a:rPr>
              <a:t>de más, en una carga de 8 galones</a:t>
            </a:r>
            <a:endParaRPr lang="en-US" sz="1875" dirty="0"/>
          </a:p>
        </p:txBody>
      </p:sp>
      <p:sp>
        <p:nvSpPr>
          <p:cNvPr id="22" name="Shape 19"/>
          <p:cNvSpPr/>
          <p:nvPr/>
        </p:nvSpPr>
        <p:spPr>
          <a:xfrm>
            <a:off x="6515002" y="3905594"/>
            <a:ext cx="5257817" cy="2755210"/>
          </a:xfrm>
          <a:prstGeom prst="roundRect">
            <a:avLst>
              <a:gd name="adj" fmla="val 8988"/>
            </a:avLst>
          </a:prstGeom>
          <a:solidFill>
            <a:srgbClr val="FFFFFF">
              <a:alpha val="4000"/>
            </a:srgbClr>
          </a:solidFill>
          <a:ln/>
          <a:effectLst>
            <a:outerShdw blurRad="762000" dist="285750" dir="5400000" algn="bl" rotWithShape="0">
              <a:srgbClr val="000000">
                <a:alpha val="43529"/>
              </a:srgbClr>
            </a:outerShdw>
          </a:effectLst>
        </p:spPr>
        <p:txBody>
          <a:bodyPr/>
          <a:lstStyle/>
          <a:p>
            <a:endParaRPr lang="es-001"/>
          </a:p>
        </p:txBody>
      </p:sp>
      <p:sp>
        <p:nvSpPr>
          <p:cNvPr id="23" name="Shape 20"/>
          <p:cNvSpPr/>
          <p:nvPr/>
        </p:nvSpPr>
        <p:spPr>
          <a:xfrm>
            <a:off x="6515002" y="6651279"/>
            <a:ext cx="5257817" cy="9525"/>
          </a:xfrm>
          <a:prstGeom prst="rect">
            <a:avLst/>
          </a:prstGeom>
          <a:solidFill>
            <a:srgbClr val="BFDDF5">
              <a:alpha val="13000"/>
            </a:srgbClr>
          </a:solidFill>
          <a:ln/>
        </p:spPr>
        <p:txBody>
          <a:bodyPr/>
          <a:lstStyle/>
          <a:p>
            <a:endParaRPr lang="es-001"/>
          </a:p>
        </p:txBody>
      </p:sp>
      <p:sp>
        <p:nvSpPr>
          <p:cNvPr id="24" name="Shape 21"/>
          <p:cNvSpPr/>
          <p:nvPr/>
        </p:nvSpPr>
        <p:spPr>
          <a:xfrm>
            <a:off x="6515002" y="3905594"/>
            <a:ext cx="5257817" cy="9525"/>
          </a:xfrm>
          <a:prstGeom prst="rect">
            <a:avLst/>
          </a:prstGeom>
          <a:solidFill>
            <a:srgbClr val="BFDDF5">
              <a:alpha val="13000"/>
            </a:srgbClr>
          </a:solidFill>
          <a:ln/>
        </p:spPr>
        <p:txBody>
          <a:bodyPr/>
          <a:lstStyle/>
          <a:p>
            <a:endParaRPr lang="es-001"/>
          </a:p>
        </p:txBody>
      </p:sp>
      <p:sp>
        <p:nvSpPr>
          <p:cNvPr id="25" name="Shape 22"/>
          <p:cNvSpPr/>
          <p:nvPr/>
        </p:nvSpPr>
        <p:spPr>
          <a:xfrm>
            <a:off x="6515002" y="3905594"/>
            <a:ext cx="9525" cy="2755210"/>
          </a:xfrm>
          <a:prstGeom prst="rect">
            <a:avLst/>
          </a:prstGeom>
          <a:solidFill>
            <a:srgbClr val="BFDDF5">
              <a:alpha val="13000"/>
            </a:srgbClr>
          </a:solidFill>
          <a:ln/>
        </p:spPr>
        <p:txBody>
          <a:bodyPr/>
          <a:lstStyle/>
          <a:p>
            <a:endParaRPr lang="es-001"/>
          </a:p>
        </p:txBody>
      </p:sp>
      <p:sp>
        <p:nvSpPr>
          <p:cNvPr id="26" name="Shape 23"/>
          <p:cNvSpPr/>
          <p:nvPr/>
        </p:nvSpPr>
        <p:spPr>
          <a:xfrm>
            <a:off x="11763294" y="3905594"/>
            <a:ext cx="9525" cy="2755210"/>
          </a:xfrm>
          <a:prstGeom prst="rect">
            <a:avLst/>
          </a:prstGeom>
          <a:solidFill>
            <a:srgbClr val="BFDDF5">
              <a:alpha val="13000"/>
            </a:srgbClr>
          </a:solidFill>
          <a:ln/>
        </p:spPr>
        <p:txBody>
          <a:bodyPr/>
          <a:lstStyle/>
          <a:p>
            <a:endParaRPr lang="es-001"/>
          </a:p>
        </p:txBody>
      </p:sp>
      <p:sp>
        <p:nvSpPr>
          <p:cNvPr id="27" name="Text 24"/>
          <p:cNvSpPr/>
          <p:nvPr/>
        </p:nvSpPr>
        <p:spPr>
          <a:xfrm>
            <a:off x="6957111" y="4326895"/>
            <a:ext cx="4811003" cy="310802"/>
          </a:xfrm>
          <a:prstGeom prst="rect">
            <a:avLst/>
          </a:prstGeom>
          <a:noFill/>
          <a:ln/>
        </p:spPr>
        <p:txBody>
          <a:bodyPr wrap="square" lIns="25400" tIns="25400" rIns="25400" bIns="25400" rtlCol="0" anchor="t">
            <a:normAutofit/>
          </a:bodyPr>
          <a:lstStyle/>
          <a:p>
            <a:pPr marL="0" indent="0" algn="l">
              <a:buNone/>
            </a:pPr>
            <a:r>
              <a:rPr lang="en-US" sz="1800" kern="0" spc="0" dirty="0">
                <a:solidFill>
                  <a:srgbClr val="88C1ED">
                    <a:alpha val="73000"/>
                  </a:srgbClr>
                </a:solidFill>
                <a:latin typeface="Helvetica Neue" pitchFamily="34" charset="0"/>
                <a:ea typeface="Helvetica Neue" pitchFamily="34" charset="-122"/>
                <a:cs typeface="Helvetica Neue" pitchFamily="34" charset="-120"/>
              </a:rPr>
              <a:t>AL MES</a:t>
            </a:r>
            <a:endParaRPr lang="en-US" sz="1800" dirty="0"/>
          </a:p>
        </p:txBody>
      </p:sp>
      <p:sp>
        <p:nvSpPr>
          <p:cNvPr id="28" name="Text 25"/>
          <p:cNvSpPr/>
          <p:nvPr/>
        </p:nvSpPr>
        <p:spPr>
          <a:xfrm>
            <a:off x="6941611" y="4807104"/>
            <a:ext cx="4845079" cy="949999"/>
          </a:xfrm>
          <a:prstGeom prst="rect">
            <a:avLst/>
          </a:prstGeom>
          <a:noFill/>
          <a:ln/>
        </p:spPr>
        <p:txBody>
          <a:bodyPr wrap="square" lIns="25400" tIns="25400" rIns="25400" bIns="25400" rtlCol="0" anchor="t">
            <a:normAutofit/>
          </a:bodyPr>
          <a:lstStyle/>
          <a:p>
            <a:pPr marL="0" indent="0" algn="l">
              <a:lnSpc>
                <a:spcPct val="82759"/>
              </a:lnSpc>
              <a:buNone/>
            </a:pPr>
            <a:r>
              <a:rPr lang="en-US" sz="7200" kern="0" spc="0" dirty="0">
                <a:solidFill>
                  <a:srgbClr val="FFFFFF">
                    <a:alpha val="73000"/>
                  </a:srgbClr>
                </a:solidFill>
                <a:latin typeface="Helvetica Neue" pitchFamily="34" charset="0"/>
                <a:ea typeface="Helvetica Neue" pitchFamily="34" charset="-122"/>
                <a:cs typeface="Helvetica Neue" pitchFamily="34" charset="-120"/>
              </a:rPr>
              <a:t>S/ 68</a:t>
            </a:r>
            <a:endParaRPr lang="en-US" sz="7200" dirty="0"/>
          </a:p>
        </p:txBody>
      </p:sp>
      <p:sp>
        <p:nvSpPr>
          <p:cNvPr id="29" name="Text 26"/>
          <p:cNvSpPr/>
          <p:nvPr/>
        </p:nvSpPr>
        <p:spPr>
          <a:xfrm>
            <a:off x="6934577" y="5891156"/>
            <a:ext cx="4860541" cy="373909"/>
          </a:xfrm>
          <a:prstGeom prst="rect">
            <a:avLst/>
          </a:prstGeom>
          <a:noFill/>
          <a:ln/>
        </p:spPr>
        <p:txBody>
          <a:bodyPr wrap="square" lIns="25400" tIns="25400" rIns="25400" bIns="25400" rtlCol="0" anchor="t">
            <a:normAutofit/>
          </a:bodyPr>
          <a:lstStyle/>
          <a:p>
            <a:pPr marL="0" indent="0" algn="l">
              <a:lnSpc>
                <a:spcPct val="116667"/>
              </a:lnSpc>
              <a:buNone/>
            </a:pPr>
            <a:r>
              <a:rPr lang="en-US" sz="1875" dirty="0">
                <a:solidFill>
                  <a:srgbClr val="FFFFFF">
                    <a:alpha val="51000"/>
                  </a:srgbClr>
                </a:solidFill>
                <a:latin typeface="Helvetica Neue" pitchFamily="34" charset="0"/>
                <a:ea typeface="Helvetica Neue" pitchFamily="34" charset="-122"/>
                <a:cs typeface="Helvetica Neue" pitchFamily="34" charset="-120"/>
              </a:rPr>
              <a:t>cargando una vez por semana</a:t>
            </a:r>
            <a:endParaRPr lang="en-US" sz="1875" dirty="0"/>
          </a:p>
        </p:txBody>
      </p:sp>
      <p:sp>
        <p:nvSpPr>
          <p:cNvPr id="30" name="Shape 27"/>
          <p:cNvSpPr/>
          <p:nvPr/>
        </p:nvSpPr>
        <p:spPr>
          <a:xfrm>
            <a:off x="12033200" y="3733800"/>
            <a:ext cx="5206901" cy="2762250"/>
          </a:xfrm>
          <a:prstGeom prst="roundRect">
            <a:avLst>
              <a:gd name="adj" fmla="val 8966"/>
            </a:avLst>
          </a:prstGeom>
          <a:gradFill rotWithShape="1">
            <a:gsLst>
              <a:gs pos="0">
                <a:srgbClr val="88C1ED">
                  <a:alpha val="3000"/>
                </a:srgbClr>
              </a:gs>
              <a:gs pos="100000">
                <a:srgbClr val="FFFFFF">
                  <a:alpha val="1000"/>
                </a:srgbClr>
              </a:gs>
            </a:gsLst>
            <a:lin ang="5400000" scaled="0"/>
          </a:gradFill>
          <a:ln w="9525">
            <a:solidFill>
              <a:srgbClr val="BFDDF5">
                <a:alpha val="6000"/>
              </a:srgbClr>
            </a:solidFill>
            <a:prstDash val="solid"/>
          </a:ln>
          <a:effectLst>
            <a:outerShdw blurRad="952500" dist="50800" dir="16200000" algn="bl" rotWithShape="0">
              <a:srgbClr val="88C1ED">
                <a:alpha val="5730"/>
              </a:srgbClr>
            </a:outerShdw>
          </a:effectLst>
        </p:spPr>
        <p:txBody>
          <a:bodyPr/>
          <a:lstStyle/>
          <a:p>
            <a:endParaRPr lang="es-001"/>
          </a:p>
        </p:txBody>
      </p:sp>
      <p:sp>
        <p:nvSpPr>
          <p:cNvPr id="31" name="Text 28"/>
          <p:cNvSpPr/>
          <p:nvPr/>
        </p:nvSpPr>
        <p:spPr>
          <a:xfrm>
            <a:off x="12442775" y="4162425"/>
            <a:ext cx="4826526" cy="314325"/>
          </a:xfrm>
          <a:prstGeom prst="rect">
            <a:avLst/>
          </a:prstGeom>
          <a:noFill/>
          <a:ln/>
        </p:spPr>
        <p:txBody>
          <a:bodyPr wrap="square" lIns="25400" tIns="25400" rIns="25400" bIns="25400" rtlCol="0" anchor="t">
            <a:normAutofit/>
          </a:bodyPr>
          <a:lstStyle/>
          <a:p>
            <a:pPr marL="0" indent="0" algn="l">
              <a:buNone/>
            </a:pPr>
            <a:r>
              <a:rPr lang="en-US" sz="1800" kern="0" spc="0" dirty="0">
                <a:solidFill>
                  <a:srgbClr val="BFDDF5">
                    <a:alpha val="18000"/>
                  </a:srgbClr>
                </a:solidFill>
                <a:latin typeface="Helvetica Neue" pitchFamily="34" charset="0"/>
                <a:ea typeface="Helvetica Neue" pitchFamily="34" charset="-122"/>
                <a:cs typeface="Helvetica Neue" pitchFamily="34" charset="-120"/>
              </a:rPr>
              <a:t>AL AÑO</a:t>
            </a:r>
            <a:endParaRPr lang="en-US" sz="1800" dirty="0"/>
          </a:p>
        </p:txBody>
      </p:sp>
      <p:sp>
        <p:nvSpPr>
          <p:cNvPr id="32" name="Text 29"/>
          <p:cNvSpPr/>
          <p:nvPr/>
        </p:nvSpPr>
        <p:spPr>
          <a:xfrm>
            <a:off x="12442775" y="4648200"/>
            <a:ext cx="4826526" cy="952500"/>
          </a:xfrm>
          <a:prstGeom prst="rect">
            <a:avLst/>
          </a:prstGeom>
          <a:noFill/>
          <a:ln/>
        </p:spPr>
        <p:txBody>
          <a:bodyPr wrap="none" lIns="25400" tIns="25400" rIns="25400" bIns="25400" rtlCol="0" anchor="t">
            <a:normAutofit/>
          </a:bodyPr>
          <a:lstStyle/>
          <a:p>
            <a:pPr marL="0" indent="0" algn="l">
              <a:lnSpc>
                <a:spcPct val="82759"/>
              </a:lnSpc>
              <a:buNone/>
            </a:pPr>
            <a:r>
              <a:rPr lang="en-US" sz="7200" kern="0" spc="0" dirty="0">
                <a:gradFill rotWithShape="1">
                  <a:gsLst>
                    <a:gs pos="0">
                      <a:srgbClr val="8E9AA8">
                        <a:alpha val="18000"/>
                      </a:srgbClr>
                    </a:gs>
                    <a:gs pos="42000">
                      <a:srgbClr val="FFFFFF">
                        <a:alpha val="18000"/>
                      </a:srgbClr>
                    </a:gs>
                    <a:gs pos="100000">
                      <a:srgbClr val="88C1ED">
                        <a:alpha val="18000"/>
                      </a:srgbClr>
                    </a:gs>
                  </a:gsLst>
                  <a:lin ang="600000" scaled="0"/>
                </a:gradFill>
                <a:latin typeface="Helvetica Neue" pitchFamily="34" charset="0"/>
                <a:ea typeface="Helvetica Neue" pitchFamily="34" charset="-122"/>
                <a:cs typeface="Helvetica Neue" pitchFamily="34" charset="-120"/>
              </a:rPr>
              <a:t>S/ 814</a:t>
            </a:r>
            <a:endParaRPr lang="en-US" sz="7200" dirty="0"/>
          </a:p>
        </p:txBody>
      </p:sp>
      <p:sp>
        <p:nvSpPr>
          <p:cNvPr id="33" name="Text 30"/>
          <p:cNvSpPr/>
          <p:nvPr/>
        </p:nvSpPr>
        <p:spPr>
          <a:xfrm>
            <a:off x="12442775" y="5734050"/>
            <a:ext cx="4826526" cy="371475"/>
          </a:xfrm>
          <a:prstGeom prst="rect">
            <a:avLst/>
          </a:prstGeom>
          <a:noFill/>
          <a:ln/>
        </p:spPr>
        <p:txBody>
          <a:bodyPr wrap="square" lIns="25400" tIns="25400" rIns="25400" bIns="25400" rtlCol="0" anchor="t">
            <a:normAutofit/>
          </a:bodyPr>
          <a:lstStyle/>
          <a:p>
            <a:pPr marL="0" indent="0" algn="l">
              <a:lnSpc>
                <a:spcPct val="116667"/>
              </a:lnSpc>
              <a:buNone/>
            </a:pPr>
            <a:r>
              <a:rPr lang="en-US" sz="1875" dirty="0">
                <a:solidFill>
                  <a:srgbClr val="FFFFFF">
                    <a:alpha val="14000"/>
                  </a:srgbClr>
                </a:solidFill>
                <a:latin typeface="Helvetica Neue" pitchFamily="34" charset="0"/>
                <a:ea typeface="Helvetica Neue" pitchFamily="34" charset="-122"/>
                <a:cs typeface="Helvetica Neue" pitchFamily="34" charset="-120"/>
              </a:rPr>
              <a:t>casi un sueldo mínimo, solo por no saber</a:t>
            </a:r>
            <a:endParaRPr lang="en-US" sz="1875" dirty="0"/>
          </a:p>
        </p:txBody>
      </p:sp>
      <p:sp>
        <p:nvSpPr>
          <p:cNvPr id="34" name="Shape 31"/>
          <p:cNvSpPr/>
          <p:nvPr/>
        </p:nvSpPr>
        <p:spPr>
          <a:xfrm>
            <a:off x="1047750" y="9267825"/>
            <a:ext cx="16192500" cy="9525"/>
          </a:xfrm>
          <a:prstGeom prst="rect">
            <a:avLst/>
          </a:prstGeom>
          <a:solidFill>
            <a:srgbClr val="BFDDF5">
              <a:alpha val="12000"/>
            </a:srgbClr>
          </a:solidFill>
          <a:ln/>
        </p:spPr>
        <p:txBody>
          <a:bodyPr/>
          <a:lstStyle/>
          <a:p>
            <a:endParaRPr lang="es-001"/>
          </a:p>
        </p:txBody>
      </p:sp>
      <p:pic>
        <p:nvPicPr>
          <p:cNvPr id="35" name="Image 1" descr="preencoded.png"/>
          <p:cNvPicPr>
            <a:picLocks noChangeAspect="1"/>
          </p:cNvPicPr>
          <p:nvPr/>
        </p:nvPicPr>
        <p:blipFill>
          <a:blip r:embed="rId4">
            <a:alphaModFix amt="85000"/>
          </a:blip>
          <a:stretch>
            <a:fillRect/>
          </a:stretch>
        </p:blipFill>
        <p:spPr>
          <a:xfrm>
            <a:off x="1047750" y="9486900"/>
            <a:ext cx="639961" cy="304800"/>
          </a:xfrm>
          <a:prstGeom prst="rect">
            <a:avLst/>
          </a:prstGeom>
        </p:spPr>
      </p:pic>
      <p:sp>
        <p:nvSpPr>
          <p:cNvPr id="36" name="Shape 32"/>
          <p:cNvSpPr/>
          <p:nvPr/>
        </p:nvSpPr>
        <p:spPr>
          <a:xfrm>
            <a:off x="1859161" y="9515475"/>
            <a:ext cx="9525" cy="247650"/>
          </a:xfrm>
          <a:prstGeom prst="rect">
            <a:avLst/>
          </a:prstGeom>
          <a:solidFill>
            <a:srgbClr val="BFDDF5">
              <a:alpha val="22000"/>
            </a:srgbClr>
          </a:solidFill>
          <a:ln/>
        </p:spPr>
        <p:txBody>
          <a:bodyPr/>
          <a:lstStyle/>
          <a:p>
            <a:endParaRPr lang="es-001"/>
          </a:p>
        </p:txBody>
      </p:sp>
      <p:pic>
        <p:nvPicPr>
          <p:cNvPr id="37" name="Image 2" descr="preencoded.png"/>
          <p:cNvPicPr>
            <a:picLocks noChangeAspect="1"/>
          </p:cNvPicPr>
          <p:nvPr/>
        </p:nvPicPr>
        <p:blipFill>
          <a:blip r:embed="rId5">
            <a:alphaModFix amt="85000"/>
          </a:blip>
          <a:stretch>
            <a:fillRect/>
          </a:stretch>
        </p:blipFill>
        <p:spPr>
          <a:xfrm>
            <a:off x="2040136" y="9534525"/>
            <a:ext cx="279350" cy="209550"/>
          </a:xfrm>
          <a:prstGeom prst="rect">
            <a:avLst/>
          </a:prstGeom>
        </p:spPr>
      </p:pic>
      <p:sp>
        <p:nvSpPr>
          <p:cNvPr id="38" name="Text 33"/>
          <p:cNvSpPr/>
          <p:nvPr/>
        </p:nvSpPr>
        <p:spPr>
          <a:xfrm>
            <a:off x="2490936" y="9501188"/>
            <a:ext cx="1122164" cy="314325"/>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50000"/>
                  </a:srgbClr>
                </a:solidFill>
                <a:latin typeface="Helvetica Neue" pitchFamily="34" charset="0"/>
                <a:ea typeface="Helvetica Neue" pitchFamily="34" charset="-122"/>
                <a:cs typeface="Helvetica Neue" pitchFamily="34" charset="-120"/>
              </a:rPr>
              <a:t>Lunetra IA</a:t>
            </a:r>
            <a:endParaRPr lang="en-US" sz="1800" dirty="0"/>
          </a:p>
        </p:txBody>
      </p:sp>
      <p:sp>
        <p:nvSpPr>
          <p:cNvPr id="39" name="Text 34"/>
          <p:cNvSpPr/>
          <p:nvPr/>
        </p:nvSpPr>
        <p:spPr>
          <a:xfrm>
            <a:off x="16528554" y="9501188"/>
            <a:ext cx="787896" cy="314325"/>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45000"/>
                  </a:srgbClr>
                </a:solidFill>
                <a:latin typeface="Helvetica Neue" pitchFamily="34" charset="0"/>
                <a:ea typeface="Helvetica Neue" pitchFamily="34" charset="-122"/>
                <a:cs typeface="Helvetica Neue" pitchFamily="34" charset="-120"/>
              </a:rPr>
              <a:t>05 / 13</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C2138">
                  <a:alpha val="100000"/>
                </a:srgbClr>
              </a:gs>
              <a:gs pos="58000">
                <a:srgbClr val="06101C">
                  <a:alpha val="100000"/>
                </a:srgbClr>
              </a:gs>
              <a:gs pos="100000">
                <a:srgbClr val="000000">
                  <a:alpha val="100000"/>
                </a:srgbClr>
              </a:gs>
            </a:gsLst>
            <a:path path="circle">
              <a:fillToRect l="62000" t="44000" r="38000" b="56000"/>
            </a:path>
          </a:gradFill>
          <a:ln/>
        </p:spPr>
        <p:txBody>
          <a:bodyPr/>
          <a:lstStyle/>
          <a:p>
            <a:endParaRPr lang="es-001"/>
          </a:p>
        </p:txBody>
      </p:sp>
      <p:sp>
        <p:nvSpPr>
          <p:cNvPr id="3" name="Shape 1"/>
          <p:cNvSpPr/>
          <p:nvPr/>
        </p:nvSpPr>
        <p:spPr>
          <a:xfrm>
            <a:off x="-2662559" y="-2180081"/>
            <a:ext cx="24804202" cy="13952365"/>
          </a:xfrm>
          <a:prstGeom prst="rect">
            <a:avLst/>
          </a:prstGeom>
          <a:gradFill rotWithShape="1">
            <a:gsLst>
              <a:gs pos="0">
                <a:srgbClr val="EAF4FC">
                  <a:alpha val="49000"/>
                </a:srgbClr>
              </a:gs>
              <a:gs pos="20000">
                <a:srgbClr val="88C1ED">
                  <a:alpha val="33000"/>
                </a:srgbClr>
              </a:gs>
              <a:gs pos="76000">
                <a:srgbClr val="88C1ED">
                  <a:alpha val="0"/>
                </a:srgbClr>
              </a:gs>
            </a:gsLst>
            <a:path path="circle">
              <a:fillToRect l="16000" t="100000" r="84000"/>
            </a:path>
          </a:gradFill>
          <a:ln/>
        </p:spPr>
        <p:txBody>
          <a:bodyPr/>
          <a:lstStyle/>
          <a:p>
            <a:endParaRPr lang="es-001"/>
          </a:p>
        </p:txBody>
      </p:sp>
      <p:sp>
        <p:nvSpPr>
          <p:cNvPr id="4" name="Shape 2"/>
          <p:cNvSpPr/>
          <p:nvPr/>
        </p:nvSpPr>
        <p:spPr>
          <a:xfrm>
            <a:off x="0" y="0"/>
            <a:ext cx="18288000" cy="10287000"/>
          </a:xfrm>
          <a:prstGeom prst="rect">
            <a:avLst/>
          </a:prstGeom>
          <a:gradFill rotWithShape="1">
            <a:gsLst>
              <a:gs pos="0">
                <a:srgbClr val="BFDDF5">
                  <a:alpha val="5000"/>
                </a:srgbClr>
              </a:gs>
              <a:gs pos="100000">
                <a:srgbClr val="BFDDF5">
                  <a:alpha val="0"/>
                </a:srgbClr>
              </a:gs>
            </a:gsLst>
            <a:lin ang="5400000" scaled="0"/>
          </a:gradFill>
          <a:ln/>
        </p:spPr>
        <p:txBody>
          <a:bodyPr/>
          <a:lstStyle/>
          <a:p>
            <a:endParaRPr lang="es-001"/>
          </a:p>
        </p:txBody>
      </p:sp>
      <p:sp>
        <p:nvSpPr>
          <p:cNvPr id="5" name="Shape 3"/>
          <p:cNvSpPr/>
          <p:nvPr/>
        </p:nvSpPr>
        <p:spPr>
          <a:xfrm>
            <a:off x="1047750" y="647700"/>
            <a:ext cx="285750" cy="9525"/>
          </a:xfrm>
          <a:prstGeom prst="rect">
            <a:avLst/>
          </a:prstGeom>
          <a:solidFill>
            <a:srgbClr val="BFDDF5">
              <a:alpha val="50000"/>
            </a:srgbClr>
          </a:solidFill>
          <a:ln/>
        </p:spPr>
        <p:txBody>
          <a:bodyPr/>
          <a:lstStyle/>
          <a:p>
            <a:endParaRPr lang="es-001"/>
          </a:p>
        </p:txBody>
      </p:sp>
      <p:sp>
        <p:nvSpPr>
          <p:cNvPr id="6" name="Text 4"/>
          <p:cNvSpPr/>
          <p:nvPr/>
        </p:nvSpPr>
        <p:spPr>
          <a:xfrm>
            <a:off x="1466850" y="514350"/>
            <a:ext cx="6705372" cy="304800"/>
          </a:xfrm>
          <a:prstGeom prst="rect">
            <a:avLst/>
          </a:prstGeom>
          <a:noFill/>
          <a:ln/>
        </p:spPr>
        <p:txBody>
          <a:bodyPr wrap="square" lIns="0" tIns="0" rIns="0" bIns="0" rtlCol="0" anchor="t">
            <a:normAutofit/>
          </a:bodyPr>
          <a:lstStyle/>
          <a:p>
            <a:pPr marL="0" indent="0" algn="l">
              <a:buNone/>
            </a:pPr>
            <a:r>
              <a:rPr lang="en-US" sz="1800" kern="0" spc="0" dirty="0">
                <a:solidFill>
                  <a:srgbClr val="FFFFFF">
                    <a:alpha val="50000"/>
                  </a:srgbClr>
                </a:solidFill>
                <a:latin typeface="Helvetica Neue" pitchFamily="34" charset="0"/>
                <a:ea typeface="Helvetica Neue" pitchFamily="34" charset="-122"/>
                <a:cs typeface="Helvetica Neue" pitchFamily="34" charset="-120"/>
              </a:rPr>
              <a:t>LO QUE ENCONTRAMOS EN LOS DATOS · 2 DE 2</a:t>
            </a:r>
            <a:endParaRPr lang="en-US" sz="1800" dirty="0"/>
          </a:p>
        </p:txBody>
      </p:sp>
      <p:sp>
        <p:nvSpPr>
          <p:cNvPr id="7" name="Text 5"/>
          <p:cNvSpPr/>
          <p:nvPr/>
        </p:nvSpPr>
        <p:spPr>
          <a:xfrm>
            <a:off x="1047750" y="1129708"/>
            <a:ext cx="10203180" cy="1752600"/>
          </a:xfrm>
          <a:prstGeom prst="rect">
            <a:avLst/>
          </a:prstGeom>
          <a:noFill/>
          <a:ln/>
        </p:spPr>
        <p:txBody>
          <a:bodyPr wrap="square" lIns="25400" tIns="25400" rIns="25400" bIns="25400" rtlCol="0" anchor="t">
            <a:normAutofit/>
          </a:bodyPr>
          <a:lstStyle/>
          <a:p>
            <a:pPr marL="0" indent="0" algn="l">
              <a:lnSpc>
                <a:spcPct val="92041"/>
              </a:lnSpc>
              <a:buNone/>
            </a:pPr>
            <a:r>
              <a:rPr lang="en-US" sz="6150" kern="0" spc="0" dirty="0">
                <a:solidFill>
                  <a:srgbClr val="FFFFFF">
                    <a:alpha val="98000"/>
                  </a:srgbClr>
                </a:solidFill>
                <a:latin typeface="Helvetica Neue" pitchFamily="34" charset="0"/>
                <a:ea typeface="Helvetica Neue" pitchFamily="34" charset="-122"/>
                <a:cs typeface="Helvetica Neue" pitchFamily="34" charset="-120"/>
              </a:rPr>
              <a:t>Los precios se mueven lento. </a:t>
            </a:r>
            <a:r>
              <a:rPr lang="en-US" sz="6150" kern="0" spc="0" dirty="0">
                <a:solidFill>
                  <a:srgbClr val="FFFFFF">
                    <a:alpha val="51000"/>
                  </a:srgbClr>
                </a:solidFill>
                <a:latin typeface="Helvetica Neue" pitchFamily="34" charset="0"/>
                <a:ea typeface="Helvetica Neue" pitchFamily="34" charset="-122"/>
                <a:cs typeface="Helvetica Neue" pitchFamily="34" charset="-120"/>
              </a:rPr>
              <a:t>Por eso se pueden anticipar.</a:t>
            </a:r>
            <a:endParaRPr lang="en-US" sz="6150" dirty="0"/>
          </a:p>
        </p:txBody>
      </p:sp>
      <p:sp>
        <p:nvSpPr>
          <p:cNvPr id="8" name="Text 6"/>
          <p:cNvSpPr/>
          <p:nvPr/>
        </p:nvSpPr>
        <p:spPr>
          <a:xfrm>
            <a:off x="1047750" y="3810000"/>
            <a:ext cx="8171304" cy="1714500"/>
          </a:xfrm>
          <a:prstGeom prst="rect">
            <a:avLst/>
          </a:prstGeom>
          <a:noFill/>
          <a:ln/>
        </p:spPr>
        <p:txBody>
          <a:bodyPr wrap="none" lIns="25400" tIns="25400" rIns="25400" bIns="25400" rtlCol="0" anchor="t">
            <a:normAutofit/>
          </a:bodyPr>
          <a:lstStyle/>
          <a:p>
            <a:pPr marL="0" indent="0" algn="l">
              <a:lnSpc>
                <a:spcPct val="74118"/>
              </a:lnSpc>
              <a:buNone/>
            </a:pPr>
            <a:r>
              <a:rPr lang="en-US" sz="14700" kern="0" spc="0" dirty="0">
                <a:gradFill rotWithShape="1">
                  <a:gsLst>
                    <a:gs pos="0">
                      <a:srgbClr val="6F7C8A">
                        <a:alpha val="88000"/>
                      </a:srgbClr>
                    </a:gs>
                    <a:gs pos="16000">
                      <a:srgbClr val="8E9AA8">
                        <a:alpha val="88000"/>
                      </a:srgbClr>
                    </a:gs>
                    <a:gs pos="42000">
                      <a:srgbClr val="FFFFFF">
                        <a:alpha val="88000"/>
                      </a:srgbClr>
                    </a:gs>
                    <a:gs pos="64000">
                      <a:srgbClr val="BFDDF5">
                        <a:alpha val="88000"/>
                      </a:srgbClr>
                    </a:gs>
                    <a:gs pos="100000">
                      <a:srgbClr val="88C1ED">
                        <a:alpha val="88000"/>
                      </a:srgbClr>
                    </a:gs>
                  </a:gsLst>
                  <a:lin ang="600000" scaled="0"/>
                </a:gradFill>
                <a:latin typeface="Helvetica Neue" pitchFamily="34" charset="0"/>
                <a:ea typeface="Helvetica Neue" pitchFamily="34" charset="-122"/>
                <a:cs typeface="Helvetica Neue" pitchFamily="34" charset="-120"/>
              </a:rPr>
              <a:t>96 de 100</a:t>
            </a:r>
            <a:endParaRPr lang="en-US" sz="14700" dirty="0"/>
          </a:p>
        </p:txBody>
      </p:sp>
      <p:sp>
        <p:nvSpPr>
          <p:cNvPr id="9" name="Text 7"/>
          <p:cNvSpPr/>
          <p:nvPr/>
        </p:nvSpPr>
        <p:spPr>
          <a:xfrm>
            <a:off x="1047750" y="5676900"/>
            <a:ext cx="6867525" cy="838200"/>
          </a:xfrm>
          <a:prstGeom prst="rect">
            <a:avLst/>
          </a:prstGeom>
          <a:noFill/>
          <a:ln/>
        </p:spPr>
        <p:txBody>
          <a:bodyPr wrap="square" lIns="25400" tIns="25400" rIns="25400" bIns="25400" rtlCol="0" anchor="t">
            <a:normAutofit/>
          </a:bodyPr>
          <a:lstStyle/>
          <a:p>
            <a:pPr marL="0" indent="0" algn="l">
              <a:lnSpc>
                <a:spcPct val="116667"/>
              </a:lnSpc>
              <a:buNone/>
            </a:pPr>
            <a:r>
              <a:rPr lang="en-US" sz="2250" dirty="0">
                <a:solidFill>
                  <a:srgbClr val="FFFFFF">
                    <a:alpha val="64000"/>
                  </a:srgbClr>
                </a:solidFill>
                <a:latin typeface="Helvetica Neue" pitchFamily="34" charset="0"/>
                <a:ea typeface="Helvetica Neue" pitchFamily="34" charset="-122"/>
                <a:cs typeface="Helvetica Neue" pitchFamily="34" charset="-120"/>
              </a:rPr>
              <a:t>grifos cobran hoy exactamente lo mismo que cobraron ayer</a:t>
            </a:r>
            <a:endParaRPr lang="en-US" sz="2250" dirty="0"/>
          </a:p>
        </p:txBody>
      </p:sp>
      <p:sp>
        <p:nvSpPr>
          <p:cNvPr id="10" name="Shape 8"/>
          <p:cNvSpPr/>
          <p:nvPr/>
        </p:nvSpPr>
        <p:spPr>
          <a:xfrm>
            <a:off x="9372097" y="3611852"/>
            <a:ext cx="7716257" cy="3477814"/>
          </a:xfrm>
          <a:prstGeom prst="roundRect">
            <a:avLst>
              <a:gd name="adj" fmla="val 6851"/>
            </a:avLst>
          </a:prstGeom>
          <a:solidFill>
            <a:srgbClr val="FFFFFF">
              <a:alpha val="4000"/>
            </a:srgbClr>
          </a:solidFill>
          <a:ln w="9164">
            <a:solidFill>
              <a:srgbClr val="BFDDF5">
                <a:alpha val="14000"/>
              </a:srgbClr>
            </a:solidFill>
            <a:prstDash val="solid"/>
          </a:ln>
          <a:effectLst>
            <a:outerShdw blurRad="762000" dist="285750" dir="5400000" algn="bl" rotWithShape="0">
              <a:srgbClr val="000000">
                <a:alpha val="47374"/>
              </a:srgbClr>
            </a:outerShdw>
          </a:effectLst>
        </p:spPr>
        <p:txBody>
          <a:bodyPr/>
          <a:lstStyle/>
          <a:p>
            <a:endParaRPr lang="es-001"/>
          </a:p>
        </p:txBody>
      </p:sp>
      <p:sp>
        <p:nvSpPr>
          <p:cNvPr id="11" name="Text 9"/>
          <p:cNvSpPr/>
          <p:nvPr/>
        </p:nvSpPr>
        <p:spPr>
          <a:xfrm>
            <a:off x="9747829" y="3969256"/>
            <a:ext cx="4712218" cy="303862"/>
          </a:xfrm>
          <a:prstGeom prst="rect">
            <a:avLst/>
          </a:prstGeom>
          <a:noFill/>
          <a:ln/>
        </p:spPr>
        <p:txBody>
          <a:bodyPr wrap="square" lIns="25400" tIns="25400" rIns="25400" bIns="25400" rtlCol="0" anchor="t">
            <a:normAutofit/>
          </a:bodyPr>
          <a:lstStyle/>
          <a:p>
            <a:pPr marL="0" indent="0" algn="l">
              <a:buNone/>
            </a:pPr>
            <a:r>
              <a:rPr lang="en-US" sz="1732" kern="0" spc="0" dirty="0">
                <a:solidFill>
                  <a:srgbClr val="FFFFFF">
                    <a:alpha val="47000"/>
                  </a:srgbClr>
                </a:solidFill>
                <a:latin typeface="Helvetica Neue" pitchFamily="34" charset="0"/>
                <a:ea typeface="Helvetica Neue" pitchFamily="34" charset="-122"/>
                <a:cs typeface="Helvetica Neue" pitchFamily="34" charset="-120"/>
              </a:rPr>
              <a:t>CIEN GRIFOS, UN DÍA CUALQUIERA</a:t>
            </a:r>
            <a:endParaRPr lang="en-US" sz="1732" dirty="0"/>
          </a:p>
        </p:txBody>
      </p:sp>
      <p:sp>
        <p:nvSpPr>
          <p:cNvPr id="12" name="Text 10"/>
          <p:cNvSpPr/>
          <p:nvPr/>
        </p:nvSpPr>
        <p:spPr>
          <a:xfrm>
            <a:off x="15685658" y="3969256"/>
            <a:ext cx="1103164" cy="303862"/>
          </a:xfrm>
          <a:prstGeom prst="rect">
            <a:avLst/>
          </a:prstGeom>
          <a:noFill/>
          <a:ln/>
        </p:spPr>
        <p:txBody>
          <a:bodyPr wrap="square" lIns="25400" tIns="25400" rIns="25400" bIns="25400" rtlCol="0" anchor="t">
            <a:normAutofit/>
          </a:bodyPr>
          <a:lstStyle/>
          <a:p>
            <a:pPr marL="0" indent="0" algn="l">
              <a:buNone/>
            </a:pPr>
            <a:r>
              <a:rPr lang="en-US" sz="1732" dirty="0">
                <a:solidFill>
                  <a:srgbClr val="FFFFFF">
                    <a:alpha val="39000"/>
                  </a:srgbClr>
                </a:solidFill>
                <a:latin typeface="Helvetica Neue" pitchFamily="34" charset="0"/>
                <a:ea typeface="Helvetica Neue" pitchFamily="34" charset="-122"/>
                <a:cs typeface="Helvetica Neue" pitchFamily="34" charset="-120"/>
              </a:rPr>
              <a:t>4 cambian</a:t>
            </a:r>
            <a:endParaRPr lang="en-US" sz="1732" dirty="0"/>
          </a:p>
        </p:txBody>
      </p:sp>
      <p:sp>
        <p:nvSpPr>
          <p:cNvPr id="13" name="Shape 11"/>
          <p:cNvSpPr/>
          <p:nvPr/>
        </p:nvSpPr>
        <p:spPr>
          <a:xfrm>
            <a:off x="9747829" y="4491615"/>
            <a:ext cx="261180" cy="261180"/>
          </a:xfrm>
          <a:prstGeom prst="ellipse">
            <a:avLst/>
          </a:prstGeom>
          <a:solidFill>
            <a:srgbClr val="BFDDF5">
              <a:alpha val="16000"/>
            </a:srgbClr>
          </a:solidFill>
          <a:ln/>
        </p:spPr>
        <p:txBody>
          <a:bodyPr/>
          <a:lstStyle/>
          <a:p>
            <a:endParaRPr lang="es-001"/>
          </a:p>
        </p:txBody>
      </p:sp>
      <p:sp>
        <p:nvSpPr>
          <p:cNvPr id="14" name="Shape 12"/>
          <p:cNvSpPr/>
          <p:nvPr/>
        </p:nvSpPr>
        <p:spPr>
          <a:xfrm>
            <a:off x="10100651" y="4491615"/>
            <a:ext cx="261179" cy="261180"/>
          </a:xfrm>
          <a:prstGeom prst="ellipse">
            <a:avLst/>
          </a:prstGeom>
          <a:solidFill>
            <a:srgbClr val="BFDDF5">
              <a:alpha val="16000"/>
            </a:srgbClr>
          </a:solidFill>
          <a:ln/>
        </p:spPr>
        <p:txBody>
          <a:bodyPr/>
          <a:lstStyle/>
          <a:p>
            <a:endParaRPr lang="es-001"/>
          </a:p>
        </p:txBody>
      </p:sp>
      <p:sp>
        <p:nvSpPr>
          <p:cNvPr id="15" name="Shape 13"/>
          <p:cNvSpPr/>
          <p:nvPr/>
        </p:nvSpPr>
        <p:spPr>
          <a:xfrm>
            <a:off x="10453472" y="4491615"/>
            <a:ext cx="261179" cy="261180"/>
          </a:xfrm>
          <a:prstGeom prst="ellipse">
            <a:avLst/>
          </a:prstGeom>
          <a:solidFill>
            <a:srgbClr val="BFDDF5">
              <a:alpha val="16000"/>
            </a:srgbClr>
          </a:solidFill>
          <a:ln/>
        </p:spPr>
        <p:txBody>
          <a:bodyPr/>
          <a:lstStyle/>
          <a:p>
            <a:endParaRPr lang="es-001"/>
          </a:p>
        </p:txBody>
      </p:sp>
      <p:sp>
        <p:nvSpPr>
          <p:cNvPr id="16" name="Shape 14"/>
          <p:cNvSpPr/>
          <p:nvPr/>
        </p:nvSpPr>
        <p:spPr>
          <a:xfrm>
            <a:off x="10806294" y="4491615"/>
            <a:ext cx="261179" cy="261180"/>
          </a:xfrm>
          <a:prstGeom prst="ellipse">
            <a:avLst/>
          </a:prstGeom>
          <a:solidFill>
            <a:srgbClr val="BFDDF5">
              <a:alpha val="16000"/>
            </a:srgbClr>
          </a:solidFill>
          <a:ln/>
        </p:spPr>
        <p:txBody>
          <a:bodyPr/>
          <a:lstStyle/>
          <a:p>
            <a:endParaRPr lang="es-001"/>
          </a:p>
        </p:txBody>
      </p:sp>
      <p:sp>
        <p:nvSpPr>
          <p:cNvPr id="17" name="Shape 15"/>
          <p:cNvSpPr/>
          <p:nvPr/>
        </p:nvSpPr>
        <p:spPr>
          <a:xfrm>
            <a:off x="11159115" y="4491615"/>
            <a:ext cx="261181" cy="261180"/>
          </a:xfrm>
          <a:prstGeom prst="ellipse">
            <a:avLst/>
          </a:prstGeom>
          <a:solidFill>
            <a:srgbClr val="BFDDF5">
              <a:alpha val="16000"/>
            </a:srgbClr>
          </a:solidFill>
          <a:ln/>
        </p:spPr>
        <p:txBody>
          <a:bodyPr/>
          <a:lstStyle/>
          <a:p>
            <a:endParaRPr lang="es-001"/>
          </a:p>
        </p:txBody>
      </p:sp>
      <p:sp>
        <p:nvSpPr>
          <p:cNvPr id="18" name="Shape 16"/>
          <p:cNvSpPr/>
          <p:nvPr/>
        </p:nvSpPr>
        <p:spPr>
          <a:xfrm>
            <a:off x="11511937" y="4491615"/>
            <a:ext cx="261181" cy="261180"/>
          </a:xfrm>
          <a:prstGeom prst="ellipse">
            <a:avLst/>
          </a:prstGeom>
          <a:solidFill>
            <a:srgbClr val="BFDDF5">
              <a:alpha val="16000"/>
            </a:srgbClr>
          </a:solidFill>
          <a:ln/>
        </p:spPr>
        <p:txBody>
          <a:bodyPr/>
          <a:lstStyle/>
          <a:p>
            <a:endParaRPr lang="es-001"/>
          </a:p>
        </p:txBody>
      </p:sp>
      <p:sp>
        <p:nvSpPr>
          <p:cNvPr id="19" name="Shape 17"/>
          <p:cNvSpPr/>
          <p:nvPr/>
        </p:nvSpPr>
        <p:spPr>
          <a:xfrm>
            <a:off x="11864760" y="4491615"/>
            <a:ext cx="261179" cy="261180"/>
          </a:xfrm>
          <a:prstGeom prst="ellipse">
            <a:avLst/>
          </a:prstGeom>
          <a:solidFill>
            <a:srgbClr val="BFDDF5">
              <a:alpha val="16000"/>
            </a:srgbClr>
          </a:solidFill>
          <a:ln/>
        </p:spPr>
        <p:txBody>
          <a:bodyPr/>
          <a:lstStyle/>
          <a:p>
            <a:endParaRPr lang="es-001"/>
          </a:p>
        </p:txBody>
      </p:sp>
      <p:sp>
        <p:nvSpPr>
          <p:cNvPr id="20" name="Shape 18"/>
          <p:cNvSpPr/>
          <p:nvPr/>
        </p:nvSpPr>
        <p:spPr>
          <a:xfrm>
            <a:off x="12210295" y="4484329"/>
            <a:ext cx="275499" cy="275500"/>
          </a:xfrm>
          <a:prstGeom prst="ellipse">
            <a:avLst/>
          </a:prstGeom>
          <a:solidFill>
            <a:srgbClr val="88C1ED">
              <a:alpha val="44000"/>
            </a:srgbClr>
          </a:solidFill>
          <a:ln/>
          <a:effectLst>
            <a:outerShdw blurRad="114300" dist="50800" dir="16200000" algn="bl" rotWithShape="0">
              <a:srgbClr val="88C1ED">
                <a:alpha val="43807"/>
              </a:srgbClr>
            </a:outerShdw>
          </a:effectLst>
        </p:spPr>
        <p:txBody>
          <a:bodyPr/>
          <a:lstStyle/>
          <a:p>
            <a:endParaRPr lang="es-001"/>
          </a:p>
        </p:txBody>
      </p:sp>
      <p:sp>
        <p:nvSpPr>
          <p:cNvPr id="21" name="Shape 19"/>
          <p:cNvSpPr/>
          <p:nvPr/>
        </p:nvSpPr>
        <p:spPr>
          <a:xfrm>
            <a:off x="12570402" y="4491615"/>
            <a:ext cx="261179" cy="261180"/>
          </a:xfrm>
          <a:prstGeom prst="ellipse">
            <a:avLst/>
          </a:prstGeom>
          <a:solidFill>
            <a:srgbClr val="BFDDF5">
              <a:alpha val="16000"/>
            </a:srgbClr>
          </a:solidFill>
          <a:ln/>
        </p:spPr>
        <p:txBody>
          <a:bodyPr/>
          <a:lstStyle/>
          <a:p>
            <a:endParaRPr lang="es-001"/>
          </a:p>
        </p:txBody>
      </p:sp>
      <p:sp>
        <p:nvSpPr>
          <p:cNvPr id="22" name="Shape 20"/>
          <p:cNvSpPr/>
          <p:nvPr/>
        </p:nvSpPr>
        <p:spPr>
          <a:xfrm>
            <a:off x="12923224" y="4491615"/>
            <a:ext cx="261181" cy="261180"/>
          </a:xfrm>
          <a:prstGeom prst="ellipse">
            <a:avLst/>
          </a:prstGeom>
          <a:solidFill>
            <a:srgbClr val="BFDDF5">
              <a:alpha val="16000"/>
            </a:srgbClr>
          </a:solidFill>
          <a:ln/>
        </p:spPr>
        <p:txBody>
          <a:bodyPr/>
          <a:lstStyle/>
          <a:p>
            <a:endParaRPr lang="es-001"/>
          </a:p>
        </p:txBody>
      </p:sp>
      <p:sp>
        <p:nvSpPr>
          <p:cNvPr id="23" name="Shape 21"/>
          <p:cNvSpPr/>
          <p:nvPr/>
        </p:nvSpPr>
        <p:spPr>
          <a:xfrm>
            <a:off x="13276045" y="4491615"/>
            <a:ext cx="261181" cy="261180"/>
          </a:xfrm>
          <a:prstGeom prst="ellipse">
            <a:avLst/>
          </a:prstGeom>
          <a:solidFill>
            <a:srgbClr val="BFDDF5">
              <a:alpha val="16000"/>
            </a:srgbClr>
          </a:solidFill>
          <a:ln/>
        </p:spPr>
        <p:txBody>
          <a:bodyPr/>
          <a:lstStyle/>
          <a:p>
            <a:endParaRPr lang="es-001"/>
          </a:p>
        </p:txBody>
      </p:sp>
      <p:sp>
        <p:nvSpPr>
          <p:cNvPr id="24" name="Shape 22"/>
          <p:cNvSpPr/>
          <p:nvPr/>
        </p:nvSpPr>
        <p:spPr>
          <a:xfrm>
            <a:off x="13628868" y="4491615"/>
            <a:ext cx="261179" cy="261180"/>
          </a:xfrm>
          <a:prstGeom prst="ellipse">
            <a:avLst/>
          </a:prstGeom>
          <a:solidFill>
            <a:srgbClr val="BFDDF5">
              <a:alpha val="16000"/>
            </a:srgbClr>
          </a:solidFill>
          <a:ln/>
        </p:spPr>
        <p:txBody>
          <a:bodyPr/>
          <a:lstStyle/>
          <a:p>
            <a:endParaRPr lang="es-001"/>
          </a:p>
        </p:txBody>
      </p:sp>
      <p:sp>
        <p:nvSpPr>
          <p:cNvPr id="25" name="Shape 23"/>
          <p:cNvSpPr/>
          <p:nvPr/>
        </p:nvSpPr>
        <p:spPr>
          <a:xfrm>
            <a:off x="13981690" y="4491615"/>
            <a:ext cx="261179" cy="261180"/>
          </a:xfrm>
          <a:prstGeom prst="ellipse">
            <a:avLst/>
          </a:prstGeom>
          <a:solidFill>
            <a:srgbClr val="BFDDF5">
              <a:alpha val="16000"/>
            </a:srgbClr>
          </a:solidFill>
          <a:ln/>
        </p:spPr>
        <p:txBody>
          <a:bodyPr/>
          <a:lstStyle/>
          <a:p>
            <a:endParaRPr lang="es-001"/>
          </a:p>
        </p:txBody>
      </p:sp>
      <p:sp>
        <p:nvSpPr>
          <p:cNvPr id="26" name="Shape 24"/>
          <p:cNvSpPr/>
          <p:nvPr/>
        </p:nvSpPr>
        <p:spPr>
          <a:xfrm>
            <a:off x="14334511" y="4491615"/>
            <a:ext cx="261179" cy="261180"/>
          </a:xfrm>
          <a:prstGeom prst="ellipse">
            <a:avLst/>
          </a:prstGeom>
          <a:solidFill>
            <a:srgbClr val="BFDDF5">
              <a:alpha val="16000"/>
            </a:srgbClr>
          </a:solidFill>
          <a:ln/>
        </p:spPr>
        <p:txBody>
          <a:bodyPr/>
          <a:lstStyle/>
          <a:p>
            <a:endParaRPr lang="es-001"/>
          </a:p>
        </p:txBody>
      </p:sp>
      <p:sp>
        <p:nvSpPr>
          <p:cNvPr id="27" name="Shape 25"/>
          <p:cNvSpPr/>
          <p:nvPr/>
        </p:nvSpPr>
        <p:spPr>
          <a:xfrm>
            <a:off x="14687333" y="4491615"/>
            <a:ext cx="261181" cy="261180"/>
          </a:xfrm>
          <a:prstGeom prst="ellipse">
            <a:avLst/>
          </a:prstGeom>
          <a:solidFill>
            <a:srgbClr val="BFDDF5">
              <a:alpha val="16000"/>
            </a:srgbClr>
          </a:solidFill>
          <a:ln/>
        </p:spPr>
        <p:txBody>
          <a:bodyPr/>
          <a:lstStyle/>
          <a:p>
            <a:endParaRPr lang="es-001"/>
          </a:p>
        </p:txBody>
      </p:sp>
      <p:sp>
        <p:nvSpPr>
          <p:cNvPr id="28" name="Shape 26"/>
          <p:cNvSpPr/>
          <p:nvPr/>
        </p:nvSpPr>
        <p:spPr>
          <a:xfrm>
            <a:off x="15040154" y="4491615"/>
            <a:ext cx="261181" cy="261180"/>
          </a:xfrm>
          <a:prstGeom prst="ellipse">
            <a:avLst/>
          </a:prstGeom>
          <a:solidFill>
            <a:srgbClr val="BFDDF5">
              <a:alpha val="16000"/>
            </a:srgbClr>
          </a:solidFill>
          <a:ln/>
        </p:spPr>
        <p:txBody>
          <a:bodyPr/>
          <a:lstStyle/>
          <a:p>
            <a:endParaRPr lang="es-001"/>
          </a:p>
        </p:txBody>
      </p:sp>
      <p:sp>
        <p:nvSpPr>
          <p:cNvPr id="29" name="Shape 27"/>
          <p:cNvSpPr/>
          <p:nvPr/>
        </p:nvSpPr>
        <p:spPr>
          <a:xfrm>
            <a:off x="15392977" y="4491615"/>
            <a:ext cx="261179" cy="261180"/>
          </a:xfrm>
          <a:prstGeom prst="ellipse">
            <a:avLst/>
          </a:prstGeom>
          <a:solidFill>
            <a:srgbClr val="BFDDF5">
              <a:alpha val="16000"/>
            </a:srgbClr>
          </a:solidFill>
          <a:ln/>
        </p:spPr>
        <p:txBody>
          <a:bodyPr/>
          <a:lstStyle/>
          <a:p>
            <a:endParaRPr lang="es-001"/>
          </a:p>
        </p:txBody>
      </p:sp>
      <p:sp>
        <p:nvSpPr>
          <p:cNvPr id="30" name="Shape 28"/>
          <p:cNvSpPr/>
          <p:nvPr/>
        </p:nvSpPr>
        <p:spPr>
          <a:xfrm>
            <a:off x="15745798" y="4491615"/>
            <a:ext cx="261179" cy="261180"/>
          </a:xfrm>
          <a:prstGeom prst="ellipse">
            <a:avLst/>
          </a:prstGeom>
          <a:solidFill>
            <a:srgbClr val="BFDDF5">
              <a:alpha val="16000"/>
            </a:srgbClr>
          </a:solidFill>
          <a:ln/>
        </p:spPr>
        <p:txBody>
          <a:bodyPr/>
          <a:lstStyle/>
          <a:p>
            <a:endParaRPr lang="es-001"/>
          </a:p>
        </p:txBody>
      </p:sp>
      <p:sp>
        <p:nvSpPr>
          <p:cNvPr id="31" name="Shape 29"/>
          <p:cNvSpPr/>
          <p:nvPr/>
        </p:nvSpPr>
        <p:spPr>
          <a:xfrm>
            <a:off x="16098620" y="4491615"/>
            <a:ext cx="261179" cy="261180"/>
          </a:xfrm>
          <a:prstGeom prst="ellipse">
            <a:avLst/>
          </a:prstGeom>
          <a:solidFill>
            <a:srgbClr val="BFDDF5">
              <a:alpha val="16000"/>
            </a:srgbClr>
          </a:solidFill>
          <a:ln/>
        </p:spPr>
        <p:txBody>
          <a:bodyPr/>
          <a:lstStyle/>
          <a:p>
            <a:endParaRPr lang="es-001"/>
          </a:p>
        </p:txBody>
      </p:sp>
      <p:sp>
        <p:nvSpPr>
          <p:cNvPr id="32" name="Shape 30"/>
          <p:cNvSpPr/>
          <p:nvPr/>
        </p:nvSpPr>
        <p:spPr>
          <a:xfrm>
            <a:off x="16451441" y="4491615"/>
            <a:ext cx="261181" cy="261180"/>
          </a:xfrm>
          <a:prstGeom prst="ellipse">
            <a:avLst/>
          </a:prstGeom>
          <a:solidFill>
            <a:srgbClr val="BFDDF5">
              <a:alpha val="16000"/>
            </a:srgbClr>
          </a:solidFill>
          <a:ln/>
        </p:spPr>
        <p:txBody>
          <a:bodyPr/>
          <a:lstStyle/>
          <a:p>
            <a:endParaRPr lang="es-001"/>
          </a:p>
        </p:txBody>
      </p:sp>
      <p:sp>
        <p:nvSpPr>
          <p:cNvPr id="33" name="Shape 31"/>
          <p:cNvSpPr/>
          <p:nvPr/>
        </p:nvSpPr>
        <p:spPr>
          <a:xfrm>
            <a:off x="9747829" y="4844437"/>
            <a:ext cx="261180" cy="261180"/>
          </a:xfrm>
          <a:prstGeom prst="ellipse">
            <a:avLst/>
          </a:prstGeom>
          <a:solidFill>
            <a:srgbClr val="BFDDF5">
              <a:alpha val="16000"/>
            </a:srgbClr>
          </a:solidFill>
          <a:ln/>
        </p:spPr>
        <p:txBody>
          <a:bodyPr/>
          <a:lstStyle/>
          <a:p>
            <a:endParaRPr lang="es-001"/>
          </a:p>
        </p:txBody>
      </p:sp>
      <p:sp>
        <p:nvSpPr>
          <p:cNvPr id="34" name="Shape 32"/>
          <p:cNvSpPr/>
          <p:nvPr/>
        </p:nvSpPr>
        <p:spPr>
          <a:xfrm>
            <a:off x="10100651" y="4844437"/>
            <a:ext cx="261179" cy="261180"/>
          </a:xfrm>
          <a:prstGeom prst="ellipse">
            <a:avLst/>
          </a:prstGeom>
          <a:solidFill>
            <a:srgbClr val="BFDDF5">
              <a:alpha val="16000"/>
            </a:srgbClr>
          </a:solidFill>
          <a:ln/>
        </p:spPr>
        <p:txBody>
          <a:bodyPr/>
          <a:lstStyle/>
          <a:p>
            <a:endParaRPr lang="es-001"/>
          </a:p>
        </p:txBody>
      </p:sp>
      <p:sp>
        <p:nvSpPr>
          <p:cNvPr id="35" name="Shape 33"/>
          <p:cNvSpPr/>
          <p:nvPr/>
        </p:nvSpPr>
        <p:spPr>
          <a:xfrm>
            <a:off x="10453472" y="4844437"/>
            <a:ext cx="261179" cy="261180"/>
          </a:xfrm>
          <a:prstGeom prst="ellipse">
            <a:avLst/>
          </a:prstGeom>
          <a:solidFill>
            <a:srgbClr val="BFDDF5">
              <a:alpha val="16000"/>
            </a:srgbClr>
          </a:solidFill>
          <a:ln/>
        </p:spPr>
        <p:txBody>
          <a:bodyPr/>
          <a:lstStyle/>
          <a:p>
            <a:endParaRPr lang="es-001"/>
          </a:p>
        </p:txBody>
      </p:sp>
      <p:sp>
        <p:nvSpPr>
          <p:cNvPr id="36" name="Shape 34"/>
          <p:cNvSpPr/>
          <p:nvPr/>
        </p:nvSpPr>
        <p:spPr>
          <a:xfrm>
            <a:off x="10806294" y="4844437"/>
            <a:ext cx="261179" cy="261180"/>
          </a:xfrm>
          <a:prstGeom prst="ellipse">
            <a:avLst/>
          </a:prstGeom>
          <a:solidFill>
            <a:srgbClr val="BFDDF5">
              <a:alpha val="16000"/>
            </a:srgbClr>
          </a:solidFill>
          <a:ln/>
        </p:spPr>
        <p:txBody>
          <a:bodyPr/>
          <a:lstStyle/>
          <a:p>
            <a:endParaRPr lang="es-001"/>
          </a:p>
        </p:txBody>
      </p:sp>
      <p:sp>
        <p:nvSpPr>
          <p:cNvPr id="37" name="Shape 35"/>
          <p:cNvSpPr/>
          <p:nvPr/>
        </p:nvSpPr>
        <p:spPr>
          <a:xfrm>
            <a:off x="11159115" y="4844437"/>
            <a:ext cx="261181" cy="261180"/>
          </a:xfrm>
          <a:prstGeom prst="ellipse">
            <a:avLst/>
          </a:prstGeom>
          <a:solidFill>
            <a:srgbClr val="BFDDF5">
              <a:alpha val="16000"/>
            </a:srgbClr>
          </a:solidFill>
          <a:ln/>
        </p:spPr>
        <p:txBody>
          <a:bodyPr/>
          <a:lstStyle/>
          <a:p>
            <a:endParaRPr lang="es-001"/>
          </a:p>
        </p:txBody>
      </p:sp>
      <p:sp>
        <p:nvSpPr>
          <p:cNvPr id="38" name="Shape 36"/>
          <p:cNvSpPr/>
          <p:nvPr/>
        </p:nvSpPr>
        <p:spPr>
          <a:xfrm>
            <a:off x="11511937" y="4844437"/>
            <a:ext cx="261181" cy="261180"/>
          </a:xfrm>
          <a:prstGeom prst="ellipse">
            <a:avLst/>
          </a:prstGeom>
          <a:solidFill>
            <a:srgbClr val="BFDDF5">
              <a:alpha val="16000"/>
            </a:srgbClr>
          </a:solidFill>
          <a:ln/>
        </p:spPr>
        <p:txBody>
          <a:bodyPr/>
          <a:lstStyle/>
          <a:p>
            <a:endParaRPr lang="es-001"/>
          </a:p>
        </p:txBody>
      </p:sp>
      <p:sp>
        <p:nvSpPr>
          <p:cNvPr id="39" name="Shape 37"/>
          <p:cNvSpPr/>
          <p:nvPr/>
        </p:nvSpPr>
        <p:spPr>
          <a:xfrm>
            <a:off x="11864760" y="4844437"/>
            <a:ext cx="261179" cy="261180"/>
          </a:xfrm>
          <a:prstGeom prst="ellipse">
            <a:avLst/>
          </a:prstGeom>
          <a:solidFill>
            <a:srgbClr val="BFDDF5">
              <a:alpha val="16000"/>
            </a:srgbClr>
          </a:solidFill>
          <a:ln/>
        </p:spPr>
        <p:txBody>
          <a:bodyPr/>
          <a:lstStyle/>
          <a:p>
            <a:endParaRPr lang="es-001"/>
          </a:p>
        </p:txBody>
      </p:sp>
      <p:sp>
        <p:nvSpPr>
          <p:cNvPr id="40" name="Shape 38"/>
          <p:cNvSpPr/>
          <p:nvPr/>
        </p:nvSpPr>
        <p:spPr>
          <a:xfrm>
            <a:off x="12217581" y="4844437"/>
            <a:ext cx="261179" cy="261180"/>
          </a:xfrm>
          <a:prstGeom prst="ellipse">
            <a:avLst/>
          </a:prstGeom>
          <a:solidFill>
            <a:srgbClr val="BFDDF5">
              <a:alpha val="16000"/>
            </a:srgbClr>
          </a:solidFill>
          <a:ln/>
        </p:spPr>
        <p:txBody>
          <a:bodyPr/>
          <a:lstStyle/>
          <a:p>
            <a:endParaRPr lang="es-001"/>
          </a:p>
        </p:txBody>
      </p:sp>
      <p:sp>
        <p:nvSpPr>
          <p:cNvPr id="41" name="Shape 39"/>
          <p:cNvSpPr/>
          <p:nvPr/>
        </p:nvSpPr>
        <p:spPr>
          <a:xfrm>
            <a:off x="12570402" y="4844437"/>
            <a:ext cx="261179" cy="261180"/>
          </a:xfrm>
          <a:prstGeom prst="ellipse">
            <a:avLst/>
          </a:prstGeom>
          <a:solidFill>
            <a:srgbClr val="BFDDF5">
              <a:alpha val="16000"/>
            </a:srgbClr>
          </a:solidFill>
          <a:ln/>
        </p:spPr>
        <p:txBody>
          <a:bodyPr/>
          <a:lstStyle/>
          <a:p>
            <a:endParaRPr lang="es-001"/>
          </a:p>
        </p:txBody>
      </p:sp>
      <p:sp>
        <p:nvSpPr>
          <p:cNvPr id="42" name="Shape 40"/>
          <p:cNvSpPr/>
          <p:nvPr/>
        </p:nvSpPr>
        <p:spPr>
          <a:xfrm>
            <a:off x="12923224" y="4844437"/>
            <a:ext cx="261181" cy="261180"/>
          </a:xfrm>
          <a:prstGeom prst="ellipse">
            <a:avLst/>
          </a:prstGeom>
          <a:solidFill>
            <a:srgbClr val="BFDDF5">
              <a:alpha val="16000"/>
            </a:srgbClr>
          </a:solidFill>
          <a:ln/>
        </p:spPr>
        <p:txBody>
          <a:bodyPr/>
          <a:lstStyle/>
          <a:p>
            <a:endParaRPr lang="es-001"/>
          </a:p>
        </p:txBody>
      </p:sp>
      <p:sp>
        <p:nvSpPr>
          <p:cNvPr id="43" name="Shape 41"/>
          <p:cNvSpPr/>
          <p:nvPr/>
        </p:nvSpPr>
        <p:spPr>
          <a:xfrm>
            <a:off x="13276045" y="4844437"/>
            <a:ext cx="261181" cy="261180"/>
          </a:xfrm>
          <a:prstGeom prst="ellipse">
            <a:avLst/>
          </a:prstGeom>
          <a:solidFill>
            <a:srgbClr val="BFDDF5">
              <a:alpha val="16000"/>
            </a:srgbClr>
          </a:solidFill>
          <a:ln/>
        </p:spPr>
        <p:txBody>
          <a:bodyPr/>
          <a:lstStyle/>
          <a:p>
            <a:endParaRPr lang="es-001"/>
          </a:p>
        </p:txBody>
      </p:sp>
      <p:sp>
        <p:nvSpPr>
          <p:cNvPr id="44" name="Shape 42"/>
          <p:cNvSpPr/>
          <p:nvPr/>
        </p:nvSpPr>
        <p:spPr>
          <a:xfrm>
            <a:off x="13628868" y="4844437"/>
            <a:ext cx="261179" cy="261180"/>
          </a:xfrm>
          <a:prstGeom prst="ellipse">
            <a:avLst/>
          </a:prstGeom>
          <a:solidFill>
            <a:srgbClr val="BFDDF5">
              <a:alpha val="16000"/>
            </a:srgbClr>
          </a:solidFill>
          <a:ln/>
        </p:spPr>
        <p:txBody>
          <a:bodyPr/>
          <a:lstStyle/>
          <a:p>
            <a:endParaRPr lang="es-001"/>
          </a:p>
        </p:txBody>
      </p:sp>
      <p:sp>
        <p:nvSpPr>
          <p:cNvPr id="45" name="Shape 43"/>
          <p:cNvSpPr/>
          <p:nvPr/>
        </p:nvSpPr>
        <p:spPr>
          <a:xfrm>
            <a:off x="13981690" y="4844437"/>
            <a:ext cx="261179" cy="261180"/>
          </a:xfrm>
          <a:prstGeom prst="ellipse">
            <a:avLst/>
          </a:prstGeom>
          <a:solidFill>
            <a:srgbClr val="BFDDF5">
              <a:alpha val="16000"/>
            </a:srgbClr>
          </a:solidFill>
          <a:ln/>
        </p:spPr>
        <p:txBody>
          <a:bodyPr/>
          <a:lstStyle/>
          <a:p>
            <a:endParaRPr lang="es-001"/>
          </a:p>
        </p:txBody>
      </p:sp>
      <p:sp>
        <p:nvSpPr>
          <p:cNvPr id="46" name="Shape 44"/>
          <p:cNvSpPr/>
          <p:nvPr/>
        </p:nvSpPr>
        <p:spPr>
          <a:xfrm>
            <a:off x="14334511" y="4844437"/>
            <a:ext cx="261179" cy="261180"/>
          </a:xfrm>
          <a:prstGeom prst="ellipse">
            <a:avLst/>
          </a:prstGeom>
          <a:solidFill>
            <a:srgbClr val="BFDDF5">
              <a:alpha val="16000"/>
            </a:srgbClr>
          </a:solidFill>
          <a:ln/>
        </p:spPr>
        <p:txBody>
          <a:bodyPr/>
          <a:lstStyle/>
          <a:p>
            <a:endParaRPr lang="es-001"/>
          </a:p>
        </p:txBody>
      </p:sp>
      <p:sp>
        <p:nvSpPr>
          <p:cNvPr id="47" name="Shape 45"/>
          <p:cNvSpPr/>
          <p:nvPr/>
        </p:nvSpPr>
        <p:spPr>
          <a:xfrm>
            <a:off x="14687333" y="4844437"/>
            <a:ext cx="261181" cy="261180"/>
          </a:xfrm>
          <a:prstGeom prst="ellipse">
            <a:avLst/>
          </a:prstGeom>
          <a:solidFill>
            <a:srgbClr val="BFDDF5">
              <a:alpha val="16000"/>
            </a:srgbClr>
          </a:solidFill>
          <a:ln/>
        </p:spPr>
        <p:txBody>
          <a:bodyPr/>
          <a:lstStyle/>
          <a:p>
            <a:endParaRPr lang="es-001"/>
          </a:p>
        </p:txBody>
      </p:sp>
      <p:sp>
        <p:nvSpPr>
          <p:cNvPr id="48" name="Shape 46"/>
          <p:cNvSpPr/>
          <p:nvPr/>
        </p:nvSpPr>
        <p:spPr>
          <a:xfrm>
            <a:off x="15032870" y="4837151"/>
            <a:ext cx="275499" cy="275499"/>
          </a:xfrm>
          <a:prstGeom prst="ellipse">
            <a:avLst/>
          </a:prstGeom>
          <a:solidFill>
            <a:srgbClr val="88C1ED">
              <a:alpha val="44000"/>
            </a:srgbClr>
          </a:solidFill>
          <a:ln/>
          <a:effectLst>
            <a:outerShdw blurRad="114300" dist="50800" dir="16200000" algn="bl" rotWithShape="0">
              <a:srgbClr val="88C1ED">
                <a:alpha val="43807"/>
              </a:srgbClr>
            </a:outerShdw>
          </a:effectLst>
        </p:spPr>
        <p:txBody>
          <a:bodyPr/>
          <a:lstStyle/>
          <a:p>
            <a:endParaRPr lang="es-001"/>
          </a:p>
        </p:txBody>
      </p:sp>
      <p:sp>
        <p:nvSpPr>
          <p:cNvPr id="49" name="Shape 47"/>
          <p:cNvSpPr/>
          <p:nvPr/>
        </p:nvSpPr>
        <p:spPr>
          <a:xfrm>
            <a:off x="15392977" y="4844437"/>
            <a:ext cx="261179" cy="261180"/>
          </a:xfrm>
          <a:prstGeom prst="ellipse">
            <a:avLst/>
          </a:prstGeom>
          <a:solidFill>
            <a:srgbClr val="BFDDF5">
              <a:alpha val="16000"/>
            </a:srgbClr>
          </a:solidFill>
          <a:ln/>
        </p:spPr>
        <p:txBody>
          <a:bodyPr/>
          <a:lstStyle/>
          <a:p>
            <a:endParaRPr lang="es-001"/>
          </a:p>
        </p:txBody>
      </p:sp>
      <p:sp>
        <p:nvSpPr>
          <p:cNvPr id="50" name="Shape 48"/>
          <p:cNvSpPr/>
          <p:nvPr/>
        </p:nvSpPr>
        <p:spPr>
          <a:xfrm>
            <a:off x="15745798" y="4844437"/>
            <a:ext cx="261179" cy="261180"/>
          </a:xfrm>
          <a:prstGeom prst="ellipse">
            <a:avLst/>
          </a:prstGeom>
          <a:solidFill>
            <a:srgbClr val="BFDDF5">
              <a:alpha val="16000"/>
            </a:srgbClr>
          </a:solidFill>
          <a:ln/>
        </p:spPr>
        <p:txBody>
          <a:bodyPr/>
          <a:lstStyle/>
          <a:p>
            <a:endParaRPr lang="es-001"/>
          </a:p>
        </p:txBody>
      </p:sp>
      <p:sp>
        <p:nvSpPr>
          <p:cNvPr id="51" name="Shape 49"/>
          <p:cNvSpPr/>
          <p:nvPr/>
        </p:nvSpPr>
        <p:spPr>
          <a:xfrm>
            <a:off x="16098620" y="4844437"/>
            <a:ext cx="261179" cy="261180"/>
          </a:xfrm>
          <a:prstGeom prst="ellipse">
            <a:avLst/>
          </a:prstGeom>
          <a:solidFill>
            <a:srgbClr val="BFDDF5">
              <a:alpha val="16000"/>
            </a:srgbClr>
          </a:solidFill>
          <a:ln/>
        </p:spPr>
        <p:txBody>
          <a:bodyPr/>
          <a:lstStyle/>
          <a:p>
            <a:endParaRPr lang="es-001"/>
          </a:p>
        </p:txBody>
      </p:sp>
      <p:sp>
        <p:nvSpPr>
          <p:cNvPr id="52" name="Shape 50"/>
          <p:cNvSpPr/>
          <p:nvPr/>
        </p:nvSpPr>
        <p:spPr>
          <a:xfrm>
            <a:off x="16451441" y="4844437"/>
            <a:ext cx="261181" cy="261180"/>
          </a:xfrm>
          <a:prstGeom prst="ellipse">
            <a:avLst/>
          </a:prstGeom>
          <a:solidFill>
            <a:srgbClr val="BFDDF5">
              <a:alpha val="16000"/>
            </a:srgbClr>
          </a:solidFill>
          <a:ln/>
        </p:spPr>
        <p:txBody>
          <a:bodyPr/>
          <a:lstStyle/>
          <a:p>
            <a:endParaRPr lang="es-001"/>
          </a:p>
        </p:txBody>
      </p:sp>
      <p:sp>
        <p:nvSpPr>
          <p:cNvPr id="53" name="Shape 51"/>
          <p:cNvSpPr/>
          <p:nvPr/>
        </p:nvSpPr>
        <p:spPr>
          <a:xfrm>
            <a:off x="9747829" y="5197258"/>
            <a:ext cx="261180" cy="261180"/>
          </a:xfrm>
          <a:prstGeom prst="ellipse">
            <a:avLst/>
          </a:prstGeom>
          <a:solidFill>
            <a:srgbClr val="BFDDF5">
              <a:alpha val="16000"/>
            </a:srgbClr>
          </a:solidFill>
          <a:ln/>
        </p:spPr>
        <p:txBody>
          <a:bodyPr/>
          <a:lstStyle/>
          <a:p>
            <a:endParaRPr lang="es-001"/>
          </a:p>
        </p:txBody>
      </p:sp>
      <p:sp>
        <p:nvSpPr>
          <p:cNvPr id="54" name="Shape 52"/>
          <p:cNvSpPr/>
          <p:nvPr/>
        </p:nvSpPr>
        <p:spPr>
          <a:xfrm>
            <a:off x="10100651" y="5197258"/>
            <a:ext cx="261179" cy="261180"/>
          </a:xfrm>
          <a:prstGeom prst="ellipse">
            <a:avLst/>
          </a:prstGeom>
          <a:solidFill>
            <a:srgbClr val="BFDDF5">
              <a:alpha val="16000"/>
            </a:srgbClr>
          </a:solidFill>
          <a:ln/>
        </p:spPr>
        <p:txBody>
          <a:bodyPr/>
          <a:lstStyle/>
          <a:p>
            <a:endParaRPr lang="es-001"/>
          </a:p>
        </p:txBody>
      </p:sp>
      <p:sp>
        <p:nvSpPr>
          <p:cNvPr id="55" name="Shape 53"/>
          <p:cNvSpPr/>
          <p:nvPr/>
        </p:nvSpPr>
        <p:spPr>
          <a:xfrm>
            <a:off x="10453472" y="5197258"/>
            <a:ext cx="261179" cy="261180"/>
          </a:xfrm>
          <a:prstGeom prst="ellipse">
            <a:avLst/>
          </a:prstGeom>
          <a:solidFill>
            <a:srgbClr val="BFDDF5">
              <a:alpha val="16000"/>
            </a:srgbClr>
          </a:solidFill>
          <a:ln/>
        </p:spPr>
        <p:txBody>
          <a:bodyPr/>
          <a:lstStyle/>
          <a:p>
            <a:endParaRPr lang="es-001"/>
          </a:p>
        </p:txBody>
      </p:sp>
      <p:sp>
        <p:nvSpPr>
          <p:cNvPr id="56" name="Shape 54"/>
          <p:cNvSpPr/>
          <p:nvPr/>
        </p:nvSpPr>
        <p:spPr>
          <a:xfrm>
            <a:off x="10799008" y="5189973"/>
            <a:ext cx="275499" cy="275500"/>
          </a:xfrm>
          <a:prstGeom prst="ellipse">
            <a:avLst/>
          </a:prstGeom>
          <a:solidFill>
            <a:srgbClr val="88C1ED">
              <a:alpha val="44000"/>
            </a:srgbClr>
          </a:solidFill>
          <a:ln/>
          <a:effectLst>
            <a:outerShdw blurRad="114300" dist="50800" dir="16200000" algn="bl" rotWithShape="0">
              <a:srgbClr val="88C1ED">
                <a:alpha val="43807"/>
              </a:srgbClr>
            </a:outerShdw>
          </a:effectLst>
        </p:spPr>
        <p:txBody>
          <a:bodyPr/>
          <a:lstStyle/>
          <a:p>
            <a:endParaRPr lang="es-001"/>
          </a:p>
        </p:txBody>
      </p:sp>
      <p:sp>
        <p:nvSpPr>
          <p:cNvPr id="57" name="Shape 55"/>
          <p:cNvSpPr/>
          <p:nvPr/>
        </p:nvSpPr>
        <p:spPr>
          <a:xfrm>
            <a:off x="11159115" y="5197258"/>
            <a:ext cx="261181" cy="261180"/>
          </a:xfrm>
          <a:prstGeom prst="ellipse">
            <a:avLst/>
          </a:prstGeom>
          <a:solidFill>
            <a:srgbClr val="BFDDF5">
              <a:alpha val="16000"/>
            </a:srgbClr>
          </a:solidFill>
          <a:ln/>
        </p:spPr>
        <p:txBody>
          <a:bodyPr/>
          <a:lstStyle/>
          <a:p>
            <a:endParaRPr lang="es-001"/>
          </a:p>
        </p:txBody>
      </p:sp>
      <p:sp>
        <p:nvSpPr>
          <p:cNvPr id="58" name="Shape 56"/>
          <p:cNvSpPr/>
          <p:nvPr/>
        </p:nvSpPr>
        <p:spPr>
          <a:xfrm>
            <a:off x="11511937" y="5197258"/>
            <a:ext cx="261181" cy="261180"/>
          </a:xfrm>
          <a:prstGeom prst="ellipse">
            <a:avLst/>
          </a:prstGeom>
          <a:solidFill>
            <a:srgbClr val="BFDDF5">
              <a:alpha val="16000"/>
            </a:srgbClr>
          </a:solidFill>
          <a:ln/>
        </p:spPr>
        <p:txBody>
          <a:bodyPr/>
          <a:lstStyle/>
          <a:p>
            <a:endParaRPr lang="es-001"/>
          </a:p>
        </p:txBody>
      </p:sp>
      <p:sp>
        <p:nvSpPr>
          <p:cNvPr id="59" name="Shape 57"/>
          <p:cNvSpPr/>
          <p:nvPr/>
        </p:nvSpPr>
        <p:spPr>
          <a:xfrm>
            <a:off x="11864760" y="5197258"/>
            <a:ext cx="261179" cy="261180"/>
          </a:xfrm>
          <a:prstGeom prst="ellipse">
            <a:avLst/>
          </a:prstGeom>
          <a:solidFill>
            <a:srgbClr val="BFDDF5">
              <a:alpha val="16000"/>
            </a:srgbClr>
          </a:solidFill>
          <a:ln/>
        </p:spPr>
        <p:txBody>
          <a:bodyPr/>
          <a:lstStyle/>
          <a:p>
            <a:endParaRPr lang="es-001"/>
          </a:p>
        </p:txBody>
      </p:sp>
      <p:sp>
        <p:nvSpPr>
          <p:cNvPr id="60" name="Shape 58"/>
          <p:cNvSpPr/>
          <p:nvPr/>
        </p:nvSpPr>
        <p:spPr>
          <a:xfrm>
            <a:off x="12217581" y="5197258"/>
            <a:ext cx="261179" cy="261180"/>
          </a:xfrm>
          <a:prstGeom prst="ellipse">
            <a:avLst/>
          </a:prstGeom>
          <a:solidFill>
            <a:srgbClr val="BFDDF5">
              <a:alpha val="16000"/>
            </a:srgbClr>
          </a:solidFill>
          <a:ln/>
        </p:spPr>
        <p:txBody>
          <a:bodyPr/>
          <a:lstStyle/>
          <a:p>
            <a:endParaRPr lang="es-001"/>
          </a:p>
        </p:txBody>
      </p:sp>
      <p:sp>
        <p:nvSpPr>
          <p:cNvPr id="61" name="Shape 59"/>
          <p:cNvSpPr/>
          <p:nvPr/>
        </p:nvSpPr>
        <p:spPr>
          <a:xfrm>
            <a:off x="12570402" y="5197258"/>
            <a:ext cx="261179" cy="261180"/>
          </a:xfrm>
          <a:prstGeom prst="ellipse">
            <a:avLst/>
          </a:prstGeom>
          <a:solidFill>
            <a:srgbClr val="BFDDF5">
              <a:alpha val="16000"/>
            </a:srgbClr>
          </a:solidFill>
          <a:ln/>
        </p:spPr>
        <p:txBody>
          <a:bodyPr/>
          <a:lstStyle/>
          <a:p>
            <a:endParaRPr lang="es-001"/>
          </a:p>
        </p:txBody>
      </p:sp>
      <p:sp>
        <p:nvSpPr>
          <p:cNvPr id="62" name="Shape 60"/>
          <p:cNvSpPr/>
          <p:nvPr/>
        </p:nvSpPr>
        <p:spPr>
          <a:xfrm>
            <a:off x="12923224" y="5197258"/>
            <a:ext cx="261181" cy="261180"/>
          </a:xfrm>
          <a:prstGeom prst="ellipse">
            <a:avLst/>
          </a:prstGeom>
          <a:solidFill>
            <a:srgbClr val="BFDDF5">
              <a:alpha val="16000"/>
            </a:srgbClr>
          </a:solidFill>
          <a:ln/>
        </p:spPr>
        <p:txBody>
          <a:bodyPr/>
          <a:lstStyle/>
          <a:p>
            <a:endParaRPr lang="es-001"/>
          </a:p>
        </p:txBody>
      </p:sp>
      <p:sp>
        <p:nvSpPr>
          <p:cNvPr id="63" name="Shape 61"/>
          <p:cNvSpPr/>
          <p:nvPr/>
        </p:nvSpPr>
        <p:spPr>
          <a:xfrm>
            <a:off x="13276045" y="5197258"/>
            <a:ext cx="261181" cy="261180"/>
          </a:xfrm>
          <a:prstGeom prst="ellipse">
            <a:avLst/>
          </a:prstGeom>
          <a:solidFill>
            <a:srgbClr val="BFDDF5">
              <a:alpha val="16000"/>
            </a:srgbClr>
          </a:solidFill>
          <a:ln/>
        </p:spPr>
        <p:txBody>
          <a:bodyPr/>
          <a:lstStyle/>
          <a:p>
            <a:endParaRPr lang="es-001"/>
          </a:p>
        </p:txBody>
      </p:sp>
      <p:sp>
        <p:nvSpPr>
          <p:cNvPr id="64" name="Shape 62"/>
          <p:cNvSpPr/>
          <p:nvPr/>
        </p:nvSpPr>
        <p:spPr>
          <a:xfrm>
            <a:off x="13628868" y="5197258"/>
            <a:ext cx="261179" cy="261180"/>
          </a:xfrm>
          <a:prstGeom prst="ellipse">
            <a:avLst/>
          </a:prstGeom>
          <a:solidFill>
            <a:srgbClr val="BFDDF5">
              <a:alpha val="16000"/>
            </a:srgbClr>
          </a:solidFill>
          <a:ln/>
        </p:spPr>
        <p:txBody>
          <a:bodyPr/>
          <a:lstStyle/>
          <a:p>
            <a:endParaRPr lang="es-001"/>
          </a:p>
        </p:txBody>
      </p:sp>
      <p:sp>
        <p:nvSpPr>
          <p:cNvPr id="65" name="Shape 63"/>
          <p:cNvSpPr/>
          <p:nvPr/>
        </p:nvSpPr>
        <p:spPr>
          <a:xfrm>
            <a:off x="13981690" y="5197258"/>
            <a:ext cx="261179" cy="261180"/>
          </a:xfrm>
          <a:prstGeom prst="ellipse">
            <a:avLst/>
          </a:prstGeom>
          <a:solidFill>
            <a:srgbClr val="BFDDF5">
              <a:alpha val="16000"/>
            </a:srgbClr>
          </a:solidFill>
          <a:ln/>
        </p:spPr>
        <p:txBody>
          <a:bodyPr/>
          <a:lstStyle/>
          <a:p>
            <a:endParaRPr lang="es-001"/>
          </a:p>
        </p:txBody>
      </p:sp>
      <p:sp>
        <p:nvSpPr>
          <p:cNvPr id="66" name="Shape 64"/>
          <p:cNvSpPr/>
          <p:nvPr/>
        </p:nvSpPr>
        <p:spPr>
          <a:xfrm>
            <a:off x="14334511" y="5197258"/>
            <a:ext cx="261179" cy="261180"/>
          </a:xfrm>
          <a:prstGeom prst="ellipse">
            <a:avLst/>
          </a:prstGeom>
          <a:solidFill>
            <a:srgbClr val="BFDDF5">
              <a:alpha val="16000"/>
            </a:srgbClr>
          </a:solidFill>
          <a:ln/>
        </p:spPr>
        <p:txBody>
          <a:bodyPr/>
          <a:lstStyle/>
          <a:p>
            <a:endParaRPr lang="es-001"/>
          </a:p>
        </p:txBody>
      </p:sp>
      <p:sp>
        <p:nvSpPr>
          <p:cNvPr id="67" name="Shape 65"/>
          <p:cNvSpPr/>
          <p:nvPr/>
        </p:nvSpPr>
        <p:spPr>
          <a:xfrm>
            <a:off x="14687333" y="5197258"/>
            <a:ext cx="261181" cy="261180"/>
          </a:xfrm>
          <a:prstGeom prst="ellipse">
            <a:avLst/>
          </a:prstGeom>
          <a:solidFill>
            <a:srgbClr val="BFDDF5">
              <a:alpha val="16000"/>
            </a:srgbClr>
          </a:solidFill>
          <a:ln/>
        </p:spPr>
        <p:txBody>
          <a:bodyPr/>
          <a:lstStyle/>
          <a:p>
            <a:endParaRPr lang="es-001"/>
          </a:p>
        </p:txBody>
      </p:sp>
      <p:sp>
        <p:nvSpPr>
          <p:cNvPr id="68" name="Shape 66"/>
          <p:cNvSpPr/>
          <p:nvPr/>
        </p:nvSpPr>
        <p:spPr>
          <a:xfrm>
            <a:off x="15040154" y="5197258"/>
            <a:ext cx="261181" cy="261180"/>
          </a:xfrm>
          <a:prstGeom prst="ellipse">
            <a:avLst/>
          </a:prstGeom>
          <a:solidFill>
            <a:srgbClr val="BFDDF5">
              <a:alpha val="16000"/>
            </a:srgbClr>
          </a:solidFill>
          <a:ln/>
        </p:spPr>
        <p:txBody>
          <a:bodyPr/>
          <a:lstStyle/>
          <a:p>
            <a:endParaRPr lang="es-001"/>
          </a:p>
        </p:txBody>
      </p:sp>
      <p:sp>
        <p:nvSpPr>
          <p:cNvPr id="69" name="Shape 67"/>
          <p:cNvSpPr/>
          <p:nvPr/>
        </p:nvSpPr>
        <p:spPr>
          <a:xfrm>
            <a:off x="15392977" y="5197258"/>
            <a:ext cx="261179" cy="261180"/>
          </a:xfrm>
          <a:prstGeom prst="ellipse">
            <a:avLst/>
          </a:prstGeom>
          <a:solidFill>
            <a:srgbClr val="BFDDF5">
              <a:alpha val="16000"/>
            </a:srgbClr>
          </a:solidFill>
          <a:ln/>
        </p:spPr>
        <p:txBody>
          <a:bodyPr/>
          <a:lstStyle/>
          <a:p>
            <a:endParaRPr lang="es-001"/>
          </a:p>
        </p:txBody>
      </p:sp>
      <p:sp>
        <p:nvSpPr>
          <p:cNvPr id="70" name="Shape 68"/>
          <p:cNvSpPr/>
          <p:nvPr/>
        </p:nvSpPr>
        <p:spPr>
          <a:xfrm>
            <a:off x="15745798" y="5197258"/>
            <a:ext cx="261179" cy="261180"/>
          </a:xfrm>
          <a:prstGeom prst="ellipse">
            <a:avLst/>
          </a:prstGeom>
          <a:solidFill>
            <a:srgbClr val="BFDDF5">
              <a:alpha val="16000"/>
            </a:srgbClr>
          </a:solidFill>
          <a:ln/>
        </p:spPr>
        <p:txBody>
          <a:bodyPr/>
          <a:lstStyle/>
          <a:p>
            <a:endParaRPr lang="es-001"/>
          </a:p>
        </p:txBody>
      </p:sp>
      <p:sp>
        <p:nvSpPr>
          <p:cNvPr id="71" name="Shape 69"/>
          <p:cNvSpPr/>
          <p:nvPr/>
        </p:nvSpPr>
        <p:spPr>
          <a:xfrm>
            <a:off x="16098620" y="5197258"/>
            <a:ext cx="261179" cy="261180"/>
          </a:xfrm>
          <a:prstGeom prst="ellipse">
            <a:avLst/>
          </a:prstGeom>
          <a:solidFill>
            <a:srgbClr val="BFDDF5">
              <a:alpha val="16000"/>
            </a:srgbClr>
          </a:solidFill>
          <a:ln/>
        </p:spPr>
        <p:txBody>
          <a:bodyPr/>
          <a:lstStyle/>
          <a:p>
            <a:endParaRPr lang="es-001"/>
          </a:p>
        </p:txBody>
      </p:sp>
      <p:sp>
        <p:nvSpPr>
          <p:cNvPr id="72" name="Shape 70"/>
          <p:cNvSpPr/>
          <p:nvPr/>
        </p:nvSpPr>
        <p:spPr>
          <a:xfrm>
            <a:off x="16451441" y="5197258"/>
            <a:ext cx="261181" cy="261180"/>
          </a:xfrm>
          <a:prstGeom prst="ellipse">
            <a:avLst/>
          </a:prstGeom>
          <a:solidFill>
            <a:srgbClr val="BFDDF5">
              <a:alpha val="16000"/>
            </a:srgbClr>
          </a:solidFill>
          <a:ln/>
        </p:spPr>
        <p:txBody>
          <a:bodyPr/>
          <a:lstStyle/>
          <a:p>
            <a:endParaRPr lang="es-001"/>
          </a:p>
        </p:txBody>
      </p:sp>
      <p:sp>
        <p:nvSpPr>
          <p:cNvPr id="73" name="Shape 71"/>
          <p:cNvSpPr/>
          <p:nvPr/>
        </p:nvSpPr>
        <p:spPr>
          <a:xfrm>
            <a:off x="9747829" y="5550080"/>
            <a:ext cx="261180" cy="261179"/>
          </a:xfrm>
          <a:prstGeom prst="ellipse">
            <a:avLst/>
          </a:prstGeom>
          <a:solidFill>
            <a:srgbClr val="BFDDF5">
              <a:alpha val="16000"/>
            </a:srgbClr>
          </a:solidFill>
          <a:ln/>
        </p:spPr>
        <p:txBody>
          <a:bodyPr/>
          <a:lstStyle/>
          <a:p>
            <a:endParaRPr lang="es-001"/>
          </a:p>
        </p:txBody>
      </p:sp>
      <p:sp>
        <p:nvSpPr>
          <p:cNvPr id="74" name="Shape 72"/>
          <p:cNvSpPr/>
          <p:nvPr/>
        </p:nvSpPr>
        <p:spPr>
          <a:xfrm>
            <a:off x="10100651" y="5550080"/>
            <a:ext cx="261179" cy="261179"/>
          </a:xfrm>
          <a:prstGeom prst="ellipse">
            <a:avLst/>
          </a:prstGeom>
          <a:solidFill>
            <a:srgbClr val="BFDDF5">
              <a:alpha val="16000"/>
            </a:srgbClr>
          </a:solidFill>
          <a:ln/>
        </p:spPr>
        <p:txBody>
          <a:bodyPr/>
          <a:lstStyle/>
          <a:p>
            <a:endParaRPr lang="es-001"/>
          </a:p>
        </p:txBody>
      </p:sp>
      <p:sp>
        <p:nvSpPr>
          <p:cNvPr id="75" name="Shape 73"/>
          <p:cNvSpPr/>
          <p:nvPr/>
        </p:nvSpPr>
        <p:spPr>
          <a:xfrm>
            <a:off x="10453472" y="5550080"/>
            <a:ext cx="261179" cy="261179"/>
          </a:xfrm>
          <a:prstGeom prst="ellipse">
            <a:avLst/>
          </a:prstGeom>
          <a:solidFill>
            <a:srgbClr val="BFDDF5">
              <a:alpha val="16000"/>
            </a:srgbClr>
          </a:solidFill>
          <a:ln/>
        </p:spPr>
        <p:txBody>
          <a:bodyPr/>
          <a:lstStyle/>
          <a:p>
            <a:endParaRPr lang="es-001"/>
          </a:p>
        </p:txBody>
      </p:sp>
      <p:sp>
        <p:nvSpPr>
          <p:cNvPr id="76" name="Shape 74"/>
          <p:cNvSpPr/>
          <p:nvPr/>
        </p:nvSpPr>
        <p:spPr>
          <a:xfrm>
            <a:off x="10806294" y="5550080"/>
            <a:ext cx="261179" cy="261179"/>
          </a:xfrm>
          <a:prstGeom prst="ellipse">
            <a:avLst/>
          </a:prstGeom>
          <a:solidFill>
            <a:srgbClr val="BFDDF5">
              <a:alpha val="16000"/>
            </a:srgbClr>
          </a:solidFill>
          <a:ln/>
        </p:spPr>
        <p:txBody>
          <a:bodyPr/>
          <a:lstStyle/>
          <a:p>
            <a:endParaRPr lang="es-001"/>
          </a:p>
        </p:txBody>
      </p:sp>
      <p:sp>
        <p:nvSpPr>
          <p:cNvPr id="77" name="Shape 75"/>
          <p:cNvSpPr/>
          <p:nvPr/>
        </p:nvSpPr>
        <p:spPr>
          <a:xfrm>
            <a:off x="11159115" y="5550080"/>
            <a:ext cx="261181" cy="261179"/>
          </a:xfrm>
          <a:prstGeom prst="ellipse">
            <a:avLst/>
          </a:prstGeom>
          <a:solidFill>
            <a:srgbClr val="BFDDF5">
              <a:alpha val="16000"/>
            </a:srgbClr>
          </a:solidFill>
          <a:ln/>
        </p:spPr>
        <p:txBody>
          <a:bodyPr/>
          <a:lstStyle/>
          <a:p>
            <a:endParaRPr lang="es-001"/>
          </a:p>
        </p:txBody>
      </p:sp>
      <p:sp>
        <p:nvSpPr>
          <p:cNvPr id="78" name="Shape 76"/>
          <p:cNvSpPr/>
          <p:nvPr/>
        </p:nvSpPr>
        <p:spPr>
          <a:xfrm>
            <a:off x="11511937" y="5550080"/>
            <a:ext cx="261181" cy="261179"/>
          </a:xfrm>
          <a:prstGeom prst="ellipse">
            <a:avLst/>
          </a:prstGeom>
          <a:solidFill>
            <a:srgbClr val="BFDDF5">
              <a:alpha val="16000"/>
            </a:srgbClr>
          </a:solidFill>
          <a:ln/>
        </p:spPr>
        <p:txBody>
          <a:bodyPr/>
          <a:lstStyle/>
          <a:p>
            <a:endParaRPr lang="es-001"/>
          </a:p>
        </p:txBody>
      </p:sp>
      <p:sp>
        <p:nvSpPr>
          <p:cNvPr id="79" name="Shape 77"/>
          <p:cNvSpPr/>
          <p:nvPr/>
        </p:nvSpPr>
        <p:spPr>
          <a:xfrm>
            <a:off x="11864760" y="5550080"/>
            <a:ext cx="261179" cy="261179"/>
          </a:xfrm>
          <a:prstGeom prst="ellipse">
            <a:avLst/>
          </a:prstGeom>
          <a:solidFill>
            <a:srgbClr val="BFDDF5">
              <a:alpha val="16000"/>
            </a:srgbClr>
          </a:solidFill>
          <a:ln/>
        </p:spPr>
        <p:txBody>
          <a:bodyPr/>
          <a:lstStyle/>
          <a:p>
            <a:endParaRPr lang="es-001"/>
          </a:p>
        </p:txBody>
      </p:sp>
      <p:sp>
        <p:nvSpPr>
          <p:cNvPr id="80" name="Shape 78"/>
          <p:cNvSpPr/>
          <p:nvPr/>
        </p:nvSpPr>
        <p:spPr>
          <a:xfrm>
            <a:off x="12217581" y="5550080"/>
            <a:ext cx="261179" cy="261179"/>
          </a:xfrm>
          <a:prstGeom prst="ellipse">
            <a:avLst/>
          </a:prstGeom>
          <a:solidFill>
            <a:srgbClr val="BFDDF5">
              <a:alpha val="16000"/>
            </a:srgbClr>
          </a:solidFill>
          <a:ln/>
        </p:spPr>
        <p:txBody>
          <a:bodyPr/>
          <a:lstStyle/>
          <a:p>
            <a:endParaRPr lang="es-001"/>
          </a:p>
        </p:txBody>
      </p:sp>
      <p:sp>
        <p:nvSpPr>
          <p:cNvPr id="81" name="Shape 79"/>
          <p:cNvSpPr/>
          <p:nvPr/>
        </p:nvSpPr>
        <p:spPr>
          <a:xfrm>
            <a:off x="12570402" y="5550080"/>
            <a:ext cx="261179" cy="261179"/>
          </a:xfrm>
          <a:prstGeom prst="ellipse">
            <a:avLst/>
          </a:prstGeom>
          <a:solidFill>
            <a:srgbClr val="BFDDF5">
              <a:alpha val="16000"/>
            </a:srgbClr>
          </a:solidFill>
          <a:ln/>
        </p:spPr>
        <p:txBody>
          <a:bodyPr/>
          <a:lstStyle/>
          <a:p>
            <a:endParaRPr lang="es-001"/>
          </a:p>
        </p:txBody>
      </p:sp>
      <p:sp>
        <p:nvSpPr>
          <p:cNvPr id="82" name="Shape 80"/>
          <p:cNvSpPr/>
          <p:nvPr/>
        </p:nvSpPr>
        <p:spPr>
          <a:xfrm>
            <a:off x="12923224" y="5550080"/>
            <a:ext cx="261181" cy="261179"/>
          </a:xfrm>
          <a:prstGeom prst="ellipse">
            <a:avLst/>
          </a:prstGeom>
          <a:solidFill>
            <a:srgbClr val="BFDDF5">
              <a:alpha val="16000"/>
            </a:srgbClr>
          </a:solidFill>
          <a:ln/>
        </p:spPr>
        <p:txBody>
          <a:bodyPr/>
          <a:lstStyle/>
          <a:p>
            <a:endParaRPr lang="es-001"/>
          </a:p>
        </p:txBody>
      </p:sp>
      <p:sp>
        <p:nvSpPr>
          <p:cNvPr id="83" name="Shape 81"/>
          <p:cNvSpPr/>
          <p:nvPr/>
        </p:nvSpPr>
        <p:spPr>
          <a:xfrm>
            <a:off x="13276045" y="5550080"/>
            <a:ext cx="261181" cy="261179"/>
          </a:xfrm>
          <a:prstGeom prst="ellipse">
            <a:avLst/>
          </a:prstGeom>
          <a:solidFill>
            <a:srgbClr val="BFDDF5">
              <a:alpha val="16000"/>
            </a:srgbClr>
          </a:solidFill>
          <a:ln/>
        </p:spPr>
        <p:txBody>
          <a:bodyPr/>
          <a:lstStyle/>
          <a:p>
            <a:endParaRPr lang="es-001"/>
          </a:p>
        </p:txBody>
      </p:sp>
      <p:sp>
        <p:nvSpPr>
          <p:cNvPr id="84" name="Shape 82"/>
          <p:cNvSpPr/>
          <p:nvPr/>
        </p:nvSpPr>
        <p:spPr>
          <a:xfrm>
            <a:off x="13628868" y="5550080"/>
            <a:ext cx="261179" cy="261179"/>
          </a:xfrm>
          <a:prstGeom prst="ellipse">
            <a:avLst/>
          </a:prstGeom>
          <a:solidFill>
            <a:srgbClr val="BFDDF5">
              <a:alpha val="16000"/>
            </a:srgbClr>
          </a:solidFill>
          <a:ln/>
        </p:spPr>
        <p:txBody>
          <a:bodyPr/>
          <a:lstStyle/>
          <a:p>
            <a:endParaRPr lang="es-001"/>
          </a:p>
        </p:txBody>
      </p:sp>
      <p:sp>
        <p:nvSpPr>
          <p:cNvPr id="85" name="Shape 83"/>
          <p:cNvSpPr/>
          <p:nvPr/>
        </p:nvSpPr>
        <p:spPr>
          <a:xfrm>
            <a:off x="13974404" y="5542795"/>
            <a:ext cx="275499" cy="275499"/>
          </a:xfrm>
          <a:prstGeom prst="ellipse">
            <a:avLst/>
          </a:prstGeom>
          <a:solidFill>
            <a:srgbClr val="88C1ED">
              <a:alpha val="44000"/>
            </a:srgbClr>
          </a:solidFill>
          <a:ln/>
          <a:effectLst>
            <a:outerShdw blurRad="114300" dist="50800" dir="16200000" algn="bl" rotWithShape="0">
              <a:srgbClr val="88C1ED">
                <a:alpha val="43807"/>
              </a:srgbClr>
            </a:outerShdw>
          </a:effectLst>
        </p:spPr>
        <p:txBody>
          <a:bodyPr/>
          <a:lstStyle/>
          <a:p>
            <a:endParaRPr lang="es-001"/>
          </a:p>
        </p:txBody>
      </p:sp>
      <p:sp>
        <p:nvSpPr>
          <p:cNvPr id="86" name="Shape 84"/>
          <p:cNvSpPr/>
          <p:nvPr/>
        </p:nvSpPr>
        <p:spPr>
          <a:xfrm>
            <a:off x="14334511" y="5550080"/>
            <a:ext cx="261179" cy="261179"/>
          </a:xfrm>
          <a:prstGeom prst="ellipse">
            <a:avLst/>
          </a:prstGeom>
          <a:solidFill>
            <a:srgbClr val="BFDDF5">
              <a:alpha val="16000"/>
            </a:srgbClr>
          </a:solidFill>
          <a:ln/>
        </p:spPr>
        <p:txBody>
          <a:bodyPr/>
          <a:lstStyle/>
          <a:p>
            <a:endParaRPr lang="es-001"/>
          </a:p>
        </p:txBody>
      </p:sp>
      <p:sp>
        <p:nvSpPr>
          <p:cNvPr id="87" name="Shape 85"/>
          <p:cNvSpPr/>
          <p:nvPr/>
        </p:nvSpPr>
        <p:spPr>
          <a:xfrm>
            <a:off x="14687333" y="5550080"/>
            <a:ext cx="261181" cy="261179"/>
          </a:xfrm>
          <a:prstGeom prst="ellipse">
            <a:avLst/>
          </a:prstGeom>
          <a:solidFill>
            <a:srgbClr val="BFDDF5">
              <a:alpha val="16000"/>
            </a:srgbClr>
          </a:solidFill>
          <a:ln/>
        </p:spPr>
        <p:txBody>
          <a:bodyPr/>
          <a:lstStyle/>
          <a:p>
            <a:endParaRPr lang="es-001"/>
          </a:p>
        </p:txBody>
      </p:sp>
      <p:sp>
        <p:nvSpPr>
          <p:cNvPr id="88" name="Shape 86"/>
          <p:cNvSpPr/>
          <p:nvPr/>
        </p:nvSpPr>
        <p:spPr>
          <a:xfrm>
            <a:off x="15040154" y="5550080"/>
            <a:ext cx="261181" cy="261179"/>
          </a:xfrm>
          <a:prstGeom prst="ellipse">
            <a:avLst/>
          </a:prstGeom>
          <a:solidFill>
            <a:srgbClr val="BFDDF5">
              <a:alpha val="16000"/>
            </a:srgbClr>
          </a:solidFill>
          <a:ln/>
        </p:spPr>
        <p:txBody>
          <a:bodyPr/>
          <a:lstStyle/>
          <a:p>
            <a:endParaRPr lang="es-001"/>
          </a:p>
        </p:txBody>
      </p:sp>
      <p:sp>
        <p:nvSpPr>
          <p:cNvPr id="89" name="Shape 87"/>
          <p:cNvSpPr/>
          <p:nvPr/>
        </p:nvSpPr>
        <p:spPr>
          <a:xfrm>
            <a:off x="15392977" y="5550080"/>
            <a:ext cx="261179" cy="261179"/>
          </a:xfrm>
          <a:prstGeom prst="ellipse">
            <a:avLst/>
          </a:prstGeom>
          <a:solidFill>
            <a:srgbClr val="BFDDF5">
              <a:alpha val="16000"/>
            </a:srgbClr>
          </a:solidFill>
          <a:ln/>
        </p:spPr>
        <p:txBody>
          <a:bodyPr/>
          <a:lstStyle/>
          <a:p>
            <a:endParaRPr lang="es-001"/>
          </a:p>
        </p:txBody>
      </p:sp>
      <p:sp>
        <p:nvSpPr>
          <p:cNvPr id="90" name="Shape 88"/>
          <p:cNvSpPr/>
          <p:nvPr/>
        </p:nvSpPr>
        <p:spPr>
          <a:xfrm>
            <a:off x="15745798" y="5550080"/>
            <a:ext cx="261179" cy="261179"/>
          </a:xfrm>
          <a:prstGeom prst="ellipse">
            <a:avLst/>
          </a:prstGeom>
          <a:solidFill>
            <a:srgbClr val="BFDDF5">
              <a:alpha val="16000"/>
            </a:srgbClr>
          </a:solidFill>
          <a:ln/>
        </p:spPr>
        <p:txBody>
          <a:bodyPr/>
          <a:lstStyle/>
          <a:p>
            <a:endParaRPr lang="es-001"/>
          </a:p>
        </p:txBody>
      </p:sp>
      <p:sp>
        <p:nvSpPr>
          <p:cNvPr id="91" name="Shape 89"/>
          <p:cNvSpPr/>
          <p:nvPr/>
        </p:nvSpPr>
        <p:spPr>
          <a:xfrm>
            <a:off x="16098620" y="5550080"/>
            <a:ext cx="261179" cy="261179"/>
          </a:xfrm>
          <a:prstGeom prst="ellipse">
            <a:avLst/>
          </a:prstGeom>
          <a:solidFill>
            <a:srgbClr val="BFDDF5">
              <a:alpha val="16000"/>
            </a:srgbClr>
          </a:solidFill>
          <a:ln/>
        </p:spPr>
        <p:txBody>
          <a:bodyPr/>
          <a:lstStyle/>
          <a:p>
            <a:endParaRPr lang="es-001"/>
          </a:p>
        </p:txBody>
      </p:sp>
      <p:sp>
        <p:nvSpPr>
          <p:cNvPr id="92" name="Shape 90"/>
          <p:cNvSpPr/>
          <p:nvPr/>
        </p:nvSpPr>
        <p:spPr>
          <a:xfrm>
            <a:off x="16451441" y="5550080"/>
            <a:ext cx="261181" cy="261179"/>
          </a:xfrm>
          <a:prstGeom prst="ellipse">
            <a:avLst/>
          </a:prstGeom>
          <a:solidFill>
            <a:srgbClr val="BFDDF5">
              <a:alpha val="16000"/>
            </a:srgbClr>
          </a:solidFill>
          <a:ln/>
        </p:spPr>
        <p:txBody>
          <a:bodyPr/>
          <a:lstStyle/>
          <a:p>
            <a:endParaRPr lang="es-001"/>
          </a:p>
        </p:txBody>
      </p:sp>
      <p:sp>
        <p:nvSpPr>
          <p:cNvPr id="93" name="Shape 91"/>
          <p:cNvSpPr/>
          <p:nvPr/>
        </p:nvSpPr>
        <p:spPr>
          <a:xfrm>
            <a:off x="9747829" y="5902902"/>
            <a:ext cx="261180" cy="261180"/>
          </a:xfrm>
          <a:prstGeom prst="ellipse">
            <a:avLst/>
          </a:prstGeom>
          <a:solidFill>
            <a:srgbClr val="BFDDF5">
              <a:alpha val="16000"/>
            </a:srgbClr>
          </a:solidFill>
          <a:ln/>
        </p:spPr>
        <p:txBody>
          <a:bodyPr/>
          <a:lstStyle/>
          <a:p>
            <a:endParaRPr lang="es-001"/>
          </a:p>
        </p:txBody>
      </p:sp>
      <p:sp>
        <p:nvSpPr>
          <p:cNvPr id="94" name="Shape 92"/>
          <p:cNvSpPr/>
          <p:nvPr/>
        </p:nvSpPr>
        <p:spPr>
          <a:xfrm>
            <a:off x="10100651" y="5902902"/>
            <a:ext cx="261179" cy="261180"/>
          </a:xfrm>
          <a:prstGeom prst="ellipse">
            <a:avLst/>
          </a:prstGeom>
          <a:solidFill>
            <a:srgbClr val="BFDDF5">
              <a:alpha val="16000"/>
            </a:srgbClr>
          </a:solidFill>
          <a:ln/>
        </p:spPr>
        <p:txBody>
          <a:bodyPr/>
          <a:lstStyle/>
          <a:p>
            <a:endParaRPr lang="es-001"/>
          </a:p>
        </p:txBody>
      </p:sp>
      <p:sp>
        <p:nvSpPr>
          <p:cNvPr id="95" name="Shape 93"/>
          <p:cNvSpPr/>
          <p:nvPr/>
        </p:nvSpPr>
        <p:spPr>
          <a:xfrm>
            <a:off x="10453472" y="5902902"/>
            <a:ext cx="261179" cy="261180"/>
          </a:xfrm>
          <a:prstGeom prst="ellipse">
            <a:avLst/>
          </a:prstGeom>
          <a:solidFill>
            <a:srgbClr val="BFDDF5">
              <a:alpha val="16000"/>
            </a:srgbClr>
          </a:solidFill>
          <a:ln/>
        </p:spPr>
        <p:txBody>
          <a:bodyPr/>
          <a:lstStyle/>
          <a:p>
            <a:endParaRPr lang="es-001"/>
          </a:p>
        </p:txBody>
      </p:sp>
      <p:sp>
        <p:nvSpPr>
          <p:cNvPr id="96" name="Shape 94"/>
          <p:cNvSpPr/>
          <p:nvPr/>
        </p:nvSpPr>
        <p:spPr>
          <a:xfrm>
            <a:off x="10806294" y="5902902"/>
            <a:ext cx="261179" cy="261180"/>
          </a:xfrm>
          <a:prstGeom prst="ellipse">
            <a:avLst/>
          </a:prstGeom>
          <a:solidFill>
            <a:srgbClr val="BFDDF5">
              <a:alpha val="16000"/>
            </a:srgbClr>
          </a:solidFill>
          <a:ln/>
        </p:spPr>
        <p:txBody>
          <a:bodyPr/>
          <a:lstStyle/>
          <a:p>
            <a:endParaRPr lang="es-001"/>
          </a:p>
        </p:txBody>
      </p:sp>
      <p:sp>
        <p:nvSpPr>
          <p:cNvPr id="97" name="Shape 95"/>
          <p:cNvSpPr/>
          <p:nvPr/>
        </p:nvSpPr>
        <p:spPr>
          <a:xfrm>
            <a:off x="11159115" y="5902902"/>
            <a:ext cx="261181" cy="261180"/>
          </a:xfrm>
          <a:prstGeom prst="ellipse">
            <a:avLst/>
          </a:prstGeom>
          <a:solidFill>
            <a:srgbClr val="BFDDF5">
              <a:alpha val="16000"/>
            </a:srgbClr>
          </a:solidFill>
          <a:ln/>
        </p:spPr>
        <p:txBody>
          <a:bodyPr/>
          <a:lstStyle/>
          <a:p>
            <a:endParaRPr lang="es-001"/>
          </a:p>
        </p:txBody>
      </p:sp>
      <p:sp>
        <p:nvSpPr>
          <p:cNvPr id="98" name="Shape 96"/>
          <p:cNvSpPr/>
          <p:nvPr/>
        </p:nvSpPr>
        <p:spPr>
          <a:xfrm>
            <a:off x="11511937" y="5902902"/>
            <a:ext cx="261181" cy="261180"/>
          </a:xfrm>
          <a:prstGeom prst="ellipse">
            <a:avLst/>
          </a:prstGeom>
          <a:solidFill>
            <a:srgbClr val="BFDDF5">
              <a:alpha val="16000"/>
            </a:srgbClr>
          </a:solidFill>
          <a:ln/>
        </p:spPr>
        <p:txBody>
          <a:bodyPr/>
          <a:lstStyle/>
          <a:p>
            <a:endParaRPr lang="es-001"/>
          </a:p>
        </p:txBody>
      </p:sp>
      <p:sp>
        <p:nvSpPr>
          <p:cNvPr id="99" name="Shape 97"/>
          <p:cNvSpPr/>
          <p:nvPr/>
        </p:nvSpPr>
        <p:spPr>
          <a:xfrm>
            <a:off x="11864760" y="5902902"/>
            <a:ext cx="261179" cy="261180"/>
          </a:xfrm>
          <a:prstGeom prst="ellipse">
            <a:avLst/>
          </a:prstGeom>
          <a:solidFill>
            <a:srgbClr val="BFDDF5">
              <a:alpha val="16000"/>
            </a:srgbClr>
          </a:solidFill>
          <a:ln/>
        </p:spPr>
        <p:txBody>
          <a:bodyPr/>
          <a:lstStyle/>
          <a:p>
            <a:endParaRPr lang="es-001"/>
          </a:p>
        </p:txBody>
      </p:sp>
      <p:sp>
        <p:nvSpPr>
          <p:cNvPr id="100" name="Shape 98"/>
          <p:cNvSpPr/>
          <p:nvPr/>
        </p:nvSpPr>
        <p:spPr>
          <a:xfrm>
            <a:off x="12217581" y="5902902"/>
            <a:ext cx="261179" cy="261180"/>
          </a:xfrm>
          <a:prstGeom prst="ellipse">
            <a:avLst/>
          </a:prstGeom>
          <a:solidFill>
            <a:srgbClr val="BFDDF5">
              <a:alpha val="16000"/>
            </a:srgbClr>
          </a:solidFill>
          <a:ln/>
        </p:spPr>
        <p:txBody>
          <a:bodyPr/>
          <a:lstStyle/>
          <a:p>
            <a:endParaRPr lang="es-001"/>
          </a:p>
        </p:txBody>
      </p:sp>
      <p:sp>
        <p:nvSpPr>
          <p:cNvPr id="101" name="Shape 99"/>
          <p:cNvSpPr/>
          <p:nvPr/>
        </p:nvSpPr>
        <p:spPr>
          <a:xfrm>
            <a:off x="12570402" y="5902902"/>
            <a:ext cx="261179" cy="261180"/>
          </a:xfrm>
          <a:prstGeom prst="ellipse">
            <a:avLst/>
          </a:prstGeom>
          <a:solidFill>
            <a:srgbClr val="BFDDF5">
              <a:alpha val="16000"/>
            </a:srgbClr>
          </a:solidFill>
          <a:ln/>
        </p:spPr>
        <p:txBody>
          <a:bodyPr/>
          <a:lstStyle/>
          <a:p>
            <a:endParaRPr lang="es-001"/>
          </a:p>
        </p:txBody>
      </p:sp>
      <p:sp>
        <p:nvSpPr>
          <p:cNvPr id="102" name="Shape 100"/>
          <p:cNvSpPr/>
          <p:nvPr/>
        </p:nvSpPr>
        <p:spPr>
          <a:xfrm>
            <a:off x="12923224" y="5902902"/>
            <a:ext cx="261181" cy="261180"/>
          </a:xfrm>
          <a:prstGeom prst="ellipse">
            <a:avLst/>
          </a:prstGeom>
          <a:solidFill>
            <a:srgbClr val="BFDDF5">
              <a:alpha val="16000"/>
            </a:srgbClr>
          </a:solidFill>
          <a:ln/>
        </p:spPr>
        <p:txBody>
          <a:bodyPr/>
          <a:lstStyle/>
          <a:p>
            <a:endParaRPr lang="es-001"/>
          </a:p>
        </p:txBody>
      </p:sp>
      <p:sp>
        <p:nvSpPr>
          <p:cNvPr id="103" name="Shape 101"/>
          <p:cNvSpPr/>
          <p:nvPr/>
        </p:nvSpPr>
        <p:spPr>
          <a:xfrm>
            <a:off x="13276045" y="5902902"/>
            <a:ext cx="261181" cy="261180"/>
          </a:xfrm>
          <a:prstGeom prst="ellipse">
            <a:avLst/>
          </a:prstGeom>
          <a:solidFill>
            <a:srgbClr val="BFDDF5">
              <a:alpha val="16000"/>
            </a:srgbClr>
          </a:solidFill>
          <a:ln/>
        </p:spPr>
        <p:txBody>
          <a:bodyPr/>
          <a:lstStyle/>
          <a:p>
            <a:endParaRPr lang="es-001"/>
          </a:p>
        </p:txBody>
      </p:sp>
      <p:sp>
        <p:nvSpPr>
          <p:cNvPr id="104" name="Shape 102"/>
          <p:cNvSpPr/>
          <p:nvPr/>
        </p:nvSpPr>
        <p:spPr>
          <a:xfrm>
            <a:off x="13628868" y="5902902"/>
            <a:ext cx="261179" cy="261180"/>
          </a:xfrm>
          <a:prstGeom prst="ellipse">
            <a:avLst/>
          </a:prstGeom>
          <a:solidFill>
            <a:srgbClr val="BFDDF5">
              <a:alpha val="16000"/>
            </a:srgbClr>
          </a:solidFill>
          <a:ln/>
        </p:spPr>
        <p:txBody>
          <a:bodyPr/>
          <a:lstStyle/>
          <a:p>
            <a:endParaRPr lang="es-001"/>
          </a:p>
        </p:txBody>
      </p:sp>
      <p:sp>
        <p:nvSpPr>
          <p:cNvPr id="105" name="Shape 103"/>
          <p:cNvSpPr/>
          <p:nvPr/>
        </p:nvSpPr>
        <p:spPr>
          <a:xfrm>
            <a:off x="13981690" y="5902902"/>
            <a:ext cx="261179" cy="261180"/>
          </a:xfrm>
          <a:prstGeom prst="ellipse">
            <a:avLst/>
          </a:prstGeom>
          <a:solidFill>
            <a:srgbClr val="BFDDF5">
              <a:alpha val="16000"/>
            </a:srgbClr>
          </a:solidFill>
          <a:ln/>
        </p:spPr>
        <p:txBody>
          <a:bodyPr/>
          <a:lstStyle/>
          <a:p>
            <a:endParaRPr lang="es-001"/>
          </a:p>
        </p:txBody>
      </p:sp>
      <p:sp>
        <p:nvSpPr>
          <p:cNvPr id="106" name="Shape 104"/>
          <p:cNvSpPr/>
          <p:nvPr/>
        </p:nvSpPr>
        <p:spPr>
          <a:xfrm>
            <a:off x="14334511" y="5902902"/>
            <a:ext cx="261179" cy="261180"/>
          </a:xfrm>
          <a:prstGeom prst="ellipse">
            <a:avLst/>
          </a:prstGeom>
          <a:solidFill>
            <a:srgbClr val="BFDDF5">
              <a:alpha val="16000"/>
            </a:srgbClr>
          </a:solidFill>
          <a:ln/>
        </p:spPr>
        <p:txBody>
          <a:bodyPr/>
          <a:lstStyle/>
          <a:p>
            <a:endParaRPr lang="es-001"/>
          </a:p>
        </p:txBody>
      </p:sp>
      <p:sp>
        <p:nvSpPr>
          <p:cNvPr id="107" name="Shape 105"/>
          <p:cNvSpPr/>
          <p:nvPr/>
        </p:nvSpPr>
        <p:spPr>
          <a:xfrm>
            <a:off x="14687333" y="5902902"/>
            <a:ext cx="261181" cy="261180"/>
          </a:xfrm>
          <a:prstGeom prst="ellipse">
            <a:avLst/>
          </a:prstGeom>
          <a:solidFill>
            <a:srgbClr val="BFDDF5">
              <a:alpha val="16000"/>
            </a:srgbClr>
          </a:solidFill>
          <a:ln/>
        </p:spPr>
        <p:txBody>
          <a:bodyPr/>
          <a:lstStyle/>
          <a:p>
            <a:endParaRPr lang="es-001"/>
          </a:p>
        </p:txBody>
      </p:sp>
      <p:sp>
        <p:nvSpPr>
          <p:cNvPr id="108" name="Shape 106"/>
          <p:cNvSpPr/>
          <p:nvPr/>
        </p:nvSpPr>
        <p:spPr>
          <a:xfrm>
            <a:off x="15040154" y="5902902"/>
            <a:ext cx="261181" cy="261180"/>
          </a:xfrm>
          <a:prstGeom prst="ellipse">
            <a:avLst/>
          </a:prstGeom>
          <a:solidFill>
            <a:srgbClr val="BFDDF5">
              <a:alpha val="16000"/>
            </a:srgbClr>
          </a:solidFill>
          <a:ln/>
        </p:spPr>
        <p:txBody>
          <a:bodyPr/>
          <a:lstStyle/>
          <a:p>
            <a:endParaRPr lang="es-001"/>
          </a:p>
        </p:txBody>
      </p:sp>
      <p:sp>
        <p:nvSpPr>
          <p:cNvPr id="109" name="Shape 107"/>
          <p:cNvSpPr/>
          <p:nvPr/>
        </p:nvSpPr>
        <p:spPr>
          <a:xfrm>
            <a:off x="15392977" y="5902902"/>
            <a:ext cx="261179" cy="261180"/>
          </a:xfrm>
          <a:prstGeom prst="ellipse">
            <a:avLst/>
          </a:prstGeom>
          <a:solidFill>
            <a:srgbClr val="BFDDF5">
              <a:alpha val="16000"/>
            </a:srgbClr>
          </a:solidFill>
          <a:ln/>
        </p:spPr>
        <p:txBody>
          <a:bodyPr/>
          <a:lstStyle/>
          <a:p>
            <a:endParaRPr lang="es-001"/>
          </a:p>
        </p:txBody>
      </p:sp>
      <p:sp>
        <p:nvSpPr>
          <p:cNvPr id="110" name="Shape 108"/>
          <p:cNvSpPr/>
          <p:nvPr/>
        </p:nvSpPr>
        <p:spPr>
          <a:xfrm>
            <a:off x="15745798" y="5902902"/>
            <a:ext cx="261179" cy="261180"/>
          </a:xfrm>
          <a:prstGeom prst="ellipse">
            <a:avLst/>
          </a:prstGeom>
          <a:solidFill>
            <a:srgbClr val="BFDDF5">
              <a:alpha val="16000"/>
            </a:srgbClr>
          </a:solidFill>
          <a:ln/>
        </p:spPr>
        <p:txBody>
          <a:bodyPr/>
          <a:lstStyle/>
          <a:p>
            <a:endParaRPr lang="es-001"/>
          </a:p>
        </p:txBody>
      </p:sp>
      <p:sp>
        <p:nvSpPr>
          <p:cNvPr id="111" name="Shape 109"/>
          <p:cNvSpPr/>
          <p:nvPr/>
        </p:nvSpPr>
        <p:spPr>
          <a:xfrm>
            <a:off x="16098620" y="5902902"/>
            <a:ext cx="261179" cy="261180"/>
          </a:xfrm>
          <a:prstGeom prst="ellipse">
            <a:avLst/>
          </a:prstGeom>
          <a:solidFill>
            <a:srgbClr val="BFDDF5">
              <a:alpha val="16000"/>
            </a:srgbClr>
          </a:solidFill>
          <a:ln/>
        </p:spPr>
        <p:txBody>
          <a:bodyPr/>
          <a:lstStyle/>
          <a:p>
            <a:endParaRPr lang="es-001"/>
          </a:p>
        </p:txBody>
      </p:sp>
      <p:sp>
        <p:nvSpPr>
          <p:cNvPr id="112" name="Shape 110"/>
          <p:cNvSpPr/>
          <p:nvPr/>
        </p:nvSpPr>
        <p:spPr>
          <a:xfrm>
            <a:off x="16451441" y="5902902"/>
            <a:ext cx="261181" cy="261180"/>
          </a:xfrm>
          <a:prstGeom prst="ellipse">
            <a:avLst/>
          </a:prstGeom>
          <a:solidFill>
            <a:srgbClr val="BFDDF5">
              <a:alpha val="16000"/>
            </a:srgbClr>
          </a:solidFill>
          <a:ln/>
        </p:spPr>
        <p:txBody>
          <a:bodyPr/>
          <a:lstStyle/>
          <a:p>
            <a:endParaRPr lang="es-001"/>
          </a:p>
        </p:txBody>
      </p:sp>
      <p:sp>
        <p:nvSpPr>
          <p:cNvPr id="113" name="Text 111"/>
          <p:cNvSpPr/>
          <p:nvPr/>
        </p:nvSpPr>
        <p:spPr>
          <a:xfrm>
            <a:off x="9747829" y="6420680"/>
            <a:ext cx="7661272" cy="349683"/>
          </a:xfrm>
          <a:prstGeom prst="rect">
            <a:avLst/>
          </a:prstGeom>
          <a:noFill/>
          <a:ln/>
        </p:spPr>
        <p:txBody>
          <a:bodyPr wrap="square" lIns="25400" tIns="25400" rIns="25400" bIns="25400" rtlCol="0" anchor="t">
            <a:normAutofit/>
          </a:bodyPr>
          <a:lstStyle/>
          <a:p>
            <a:pPr marL="0" indent="0" algn="l">
              <a:lnSpc>
                <a:spcPct val="120000"/>
              </a:lnSpc>
              <a:buNone/>
            </a:pPr>
            <a:r>
              <a:rPr lang="en-US" sz="1732" dirty="0">
                <a:solidFill>
                  <a:srgbClr val="FFFFFF">
                    <a:alpha val="57000"/>
                  </a:srgbClr>
                </a:solidFill>
                <a:latin typeface="Helvetica Neue" pitchFamily="34" charset="0"/>
                <a:ea typeface="Helvetica Neue" pitchFamily="34" charset="-122"/>
                <a:cs typeface="Helvetica Neue" pitchFamily="34" charset="-120"/>
              </a:rPr>
              <a:t>Los puntos azules son los únicos grifos que cambiaron de precio ese día.</a:t>
            </a:r>
            <a:endParaRPr lang="en-US" sz="1732" dirty="0"/>
          </a:p>
        </p:txBody>
      </p:sp>
      <p:sp>
        <p:nvSpPr>
          <p:cNvPr id="114" name="Shape 112"/>
          <p:cNvSpPr/>
          <p:nvPr/>
        </p:nvSpPr>
        <p:spPr>
          <a:xfrm>
            <a:off x="1047750" y="7153275"/>
            <a:ext cx="7972425" cy="1704975"/>
          </a:xfrm>
          <a:prstGeom prst="roundRect">
            <a:avLst>
              <a:gd name="adj" fmla="val 12291"/>
            </a:avLst>
          </a:prstGeom>
          <a:solidFill>
            <a:srgbClr val="5ED092">
              <a:alpha val="0"/>
            </a:srgbClr>
          </a:solidFill>
          <a:ln w="9525">
            <a:solidFill>
              <a:srgbClr val="5ED092">
                <a:alpha val="1000"/>
              </a:srgbClr>
            </a:solidFill>
            <a:prstDash val="solid"/>
          </a:ln>
        </p:spPr>
        <p:txBody>
          <a:bodyPr/>
          <a:lstStyle/>
          <a:p>
            <a:endParaRPr lang="es-001"/>
          </a:p>
        </p:txBody>
      </p:sp>
      <p:sp>
        <p:nvSpPr>
          <p:cNvPr id="115" name="Text 113"/>
          <p:cNvSpPr/>
          <p:nvPr/>
        </p:nvSpPr>
        <p:spPr>
          <a:xfrm>
            <a:off x="1362075" y="7448550"/>
            <a:ext cx="8078153" cy="314325"/>
          </a:xfrm>
          <a:prstGeom prst="rect">
            <a:avLst/>
          </a:prstGeom>
          <a:noFill/>
          <a:ln/>
        </p:spPr>
        <p:txBody>
          <a:bodyPr wrap="square" lIns="25400" tIns="25400" rIns="25400" bIns="25400" rtlCol="0" anchor="t">
            <a:normAutofit/>
          </a:bodyPr>
          <a:lstStyle/>
          <a:p>
            <a:pPr marL="0" indent="0" algn="l">
              <a:buNone/>
            </a:pPr>
            <a:r>
              <a:rPr lang="en-US" sz="1800" kern="0" spc="0" dirty="0">
                <a:solidFill>
                  <a:srgbClr val="5ED092">
                    <a:alpha val="3000"/>
                  </a:srgbClr>
                </a:solidFill>
                <a:latin typeface="Helvetica Neue" pitchFamily="34" charset="0"/>
                <a:ea typeface="Helvetica Neue" pitchFamily="34" charset="-122"/>
                <a:cs typeface="Helvetica Neue" pitchFamily="34" charset="-120"/>
              </a:rPr>
              <a:t>POR QUÉ ES BUENA NOTICIA</a:t>
            </a:r>
            <a:endParaRPr lang="en-US" sz="1800" dirty="0"/>
          </a:p>
        </p:txBody>
      </p:sp>
      <p:sp>
        <p:nvSpPr>
          <p:cNvPr id="116" name="Text 114"/>
          <p:cNvSpPr/>
          <p:nvPr/>
        </p:nvSpPr>
        <p:spPr>
          <a:xfrm>
            <a:off x="1362075" y="7858125"/>
            <a:ext cx="7564088" cy="742950"/>
          </a:xfrm>
          <a:prstGeom prst="rect">
            <a:avLst/>
          </a:prstGeom>
          <a:noFill/>
          <a:ln/>
        </p:spPr>
        <p:txBody>
          <a:bodyPr wrap="square" lIns="25400" tIns="25400" rIns="25400" bIns="25400" rtlCol="0" anchor="t">
            <a:normAutofit/>
          </a:bodyPr>
          <a:lstStyle/>
          <a:p>
            <a:pPr marL="0" indent="0" algn="l">
              <a:lnSpc>
                <a:spcPct val="114545"/>
              </a:lnSpc>
              <a:buNone/>
            </a:pPr>
            <a:r>
              <a:rPr lang="en-US" sz="2025" dirty="0">
                <a:solidFill>
                  <a:srgbClr val="FFFFFF">
                    <a:alpha val="3000"/>
                  </a:srgbClr>
                </a:solidFill>
                <a:latin typeface="Helvetica Neue" pitchFamily="34" charset="0"/>
                <a:ea typeface="Helvetica Neue" pitchFamily="34" charset="-122"/>
                <a:cs typeface="Helvetica Neue" pitchFamily="34" charset="-120"/>
              </a:rPr>
              <a:t>Si los precios fueran caóticos, no habría nada que anticipar. Como son lentos, sí se puede avisar con tiempo.</a:t>
            </a:r>
            <a:endParaRPr lang="en-US" sz="2025" dirty="0"/>
          </a:p>
        </p:txBody>
      </p:sp>
      <p:sp>
        <p:nvSpPr>
          <p:cNvPr id="117" name="Shape 115"/>
          <p:cNvSpPr/>
          <p:nvPr/>
        </p:nvSpPr>
        <p:spPr>
          <a:xfrm>
            <a:off x="9267825" y="7153275"/>
            <a:ext cx="7972425" cy="1704975"/>
          </a:xfrm>
          <a:prstGeom prst="roundRect">
            <a:avLst>
              <a:gd name="adj" fmla="val 12291"/>
            </a:avLst>
          </a:prstGeom>
          <a:solidFill>
            <a:srgbClr val="FFFFFF">
              <a:alpha val="0"/>
            </a:srgbClr>
          </a:solidFill>
          <a:ln w="9525">
            <a:solidFill>
              <a:srgbClr val="BFDDF5">
                <a:alpha val="1000"/>
              </a:srgbClr>
            </a:solidFill>
            <a:prstDash val="solid"/>
          </a:ln>
        </p:spPr>
        <p:txBody>
          <a:bodyPr/>
          <a:lstStyle/>
          <a:p>
            <a:endParaRPr lang="es-001"/>
          </a:p>
        </p:txBody>
      </p:sp>
      <p:sp>
        <p:nvSpPr>
          <p:cNvPr id="118" name="Text 116"/>
          <p:cNvSpPr/>
          <p:nvPr/>
        </p:nvSpPr>
        <p:spPr>
          <a:xfrm>
            <a:off x="9582150" y="7448550"/>
            <a:ext cx="8078153" cy="314325"/>
          </a:xfrm>
          <a:prstGeom prst="rect">
            <a:avLst/>
          </a:prstGeom>
          <a:noFill/>
          <a:ln/>
        </p:spPr>
        <p:txBody>
          <a:bodyPr wrap="square" lIns="25400" tIns="25400" rIns="25400" bIns="25400" rtlCol="0" anchor="t">
            <a:normAutofit/>
          </a:bodyPr>
          <a:lstStyle/>
          <a:p>
            <a:pPr marL="0" indent="0" algn="l">
              <a:buNone/>
            </a:pPr>
            <a:r>
              <a:rPr lang="en-US" sz="1800" kern="0" spc="0" dirty="0">
                <a:solidFill>
                  <a:srgbClr val="88C1ED">
                    <a:alpha val="3000"/>
                  </a:srgbClr>
                </a:solidFill>
                <a:latin typeface="Helvetica Neue" pitchFamily="34" charset="0"/>
                <a:ea typeface="Helvetica Neue" pitchFamily="34" charset="-122"/>
                <a:cs typeface="Helvetica Neue" pitchFamily="34" charset="-120"/>
              </a:rPr>
              <a:t>LO QUE ESTO SIGNIFICA</a:t>
            </a:r>
            <a:endParaRPr lang="en-US" sz="1800" dirty="0"/>
          </a:p>
        </p:txBody>
      </p:sp>
      <p:sp>
        <p:nvSpPr>
          <p:cNvPr id="119" name="Text 117"/>
          <p:cNvSpPr/>
          <p:nvPr/>
        </p:nvSpPr>
        <p:spPr>
          <a:xfrm>
            <a:off x="9582150" y="7858125"/>
            <a:ext cx="7564088" cy="742950"/>
          </a:xfrm>
          <a:prstGeom prst="rect">
            <a:avLst/>
          </a:prstGeom>
          <a:noFill/>
          <a:ln/>
        </p:spPr>
        <p:txBody>
          <a:bodyPr wrap="square" lIns="25400" tIns="25400" rIns="25400" bIns="25400" rtlCol="0" anchor="t">
            <a:normAutofit/>
          </a:bodyPr>
          <a:lstStyle/>
          <a:p>
            <a:pPr marL="0" indent="0" algn="l">
              <a:lnSpc>
                <a:spcPct val="114545"/>
              </a:lnSpc>
              <a:buNone/>
            </a:pPr>
            <a:r>
              <a:rPr lang="en-US" sz="2025" dirty="0">
                <a:solidFill>
                  <a:srgbClr val="FFFFFF">
                    <a:alpha val="3000"/>
                  </a:srgbClr>
                </a:solidFill>
                <a:latin typeface="Helvetica Neue" pitchFamily="34" charset="0"/>
                <a:ea typeface="Helvetica Neue" pitchFamily="34" charset="-122"/>
                <a:cs typeface="Helvetica Neue" pitchFamily="34" charset="-120"/>
              </a:rPr>
              <a:t>El grifo barato de hoy también será barato mañana. Saberlo una vez ya te sirve toda la semana.</a:t>
            </a:r>
            <a:endParaRPr lang="en-US" sz="2025" dirty="0"/>
          </a:p>
        </p:txBody>
      </p:sp>
      <p:sp>
        <p:nvSpPr>
          <p:cNvPr id="120" name="Shape 118"/>
          <p:cNvSpPr/>
          <p:nvPr/>
        </p:nvSpPr>
        <p:spPr>
          <a:xfrm>
            <a:off x="1047750" y="9267825"/>
            <a:ext cx="16192500" cy="9525"/>
          </a:xfrm>
          <a:prstGeom prst="rect">
            <a:avLst/>
          </a:prstGeom>
          <a:solidFill>
            <a:srgbClr val="BFDDF5">
              <a:alpha val="12000"/>
            </a:srgbClr>
          </a:solidFill>
          <a:ln/>
        </p:spPr>
        <p:txBody>
          <a:bodyPr/>
          <a:lstStyle/>
          <a:p>
            <a:endParaRPr lang="es-001"/>
          </a:p>
        </p:txBody>
      </p:sp>
      <p:pic>
        <p:nvPicPr>
          <p:cNvPr id="121" name="Image 0" descr="preencoded.png"/>
          <p:cNvPicPr>
            <a:picLocks noChangeAspect="1"/>
          </p:cNvPicPr>
          <p:nvPr/>
        </p:nvPicPr>
        <p:blipFill>
          <a:blip r:embed="rId3">
            <a:alphaModFix amt="85000"/>
          </a:blip>
          <a:stretch>
            <a:fillRect/>
          </a:stretch>
        </p:blipFill>
        <p:spPr>
          <a:xfrm>
            <a:off x="1047750" y="9486900"/>
            <a:ext cx="639961" cy="304800"/>
          </a:xfrm>
          <a:prstGeom prst="rect">
            <a:avLst/>
          </a:prstGeom>
        </p:spPr>
      </p:pic>
      <p:sp>
        <p:nvSpPr>
          <p:cNvPr id="122" name="Shape 119"/>
          <p:cNvSpPr/>
          <p:nvPr/>
        </p:nvSpPr>
        <p:spPr>
          <a:xfrm>
            <a:off x="1859161" y="9515475"/>
            <a:ext cx="9525" cy="247650"/>
          </a:xfrm>
          <a:prstGeom prst="rect">
            <a:avLst/>
          </a:prstGeom>
          <a:solidFill>
            <a:srgbClr val="BFDDF5">
              <a:alpha val="22000"/>
            </a:srgbClr>
          </a:solidFill>
          <a:ln/>
        </p:spPr>
        <p:txBody>
          <a:bodyPr/>
          <a:lstStyle/>
          <a:p>
            <a:endParaRPr lang="es-001"/>
          </a:p>
        </p:txBody>
      </p:sp>
      <p:pic>
        <p:nvPicPr>
          <p:cNvPr id="123" name="Image 1" descr="preencoded.png"/>
          <p:cNvPicPr>
            <a:picLocks noChangeAspect="1"/>
          </p:cNvPicPr>
          <p:nvPr/>
        </p:nvPicPr>
        <p:blipFill>
          <a:blip r:embed="rId4">
            <a:alphaModFix amt="85000"/>
          </a:blip>
          <a:stretch>
            <a:fillRect/>
          </a:stretch>
        </p:blipFill>
        <p:spPr>
          <a:xfrm>
            <a:off x="2040136" y="9534525"/>
            <a:ext cx="279350" cy="209550"/>
          </a:xfrm>
          <a:prstGeom prst="rect">
            <a:avLst/>
          </a:prstGeom>
        </p:spPr>
      </p:pic>
      <p:sp>
        <p:nvSpPr>
          <p:cNvPr id="124" name="Text 120"/>
          <p:cNvSpPr/>
          <p:nvPr/>
        </p:nvSpPr>
        <p:spPr>
          <a:xfrm>
            <a:off x="2490936" y="9501188"/>
            <a:ext cx="1122164" cy="314325"/>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50000"/>
                  </a:srgbClr>
                </a:solidFill>
                <a:latin typeface="Helvetica Neue" pitchFamily="34" charset="0"/>
                <a:ea typeface="Helvetica Neue" pitchFamily="34" charset="-122"/>
                <a:cs typeface="Helvetica Neue" pitchFamily="34" charset="-120"/>
              </a:rPr>
              <a:t>Lunetra IA</a:t>
            </a:r>
            <a:endParaRPr lang="en-US" sz="1800" dirty="0"/>
          </a:p>
        </p:txBody>
      </p:sp>
      <p:sp>
        <p:nvSpPr>
          <p:cNvPr id="125" name="Text 121"/>
          <p:cNvSpPr/>
          <p:nvPr/>
        </p:nvSpPr>
        <p:spPr>
          <a:xfrm>
            <a:off x="16528554" y="9501188"/>
            <a:ext cx="787896" cy="314325"/>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45000"/>
                  </a:srgbClr>
                </a:solidFill>
                <a:latin typeface="Helvetica Neue" pitchFamily="34" charset="0"/>
                <a:ea typeface="Helvetica Neue" pitchFamily="34" charset="-122"/>
                <a:cs typeface="Helvetica Neue" pitchFamily="34" charset="-120"/>
              </a:rPr>
              <a:t>06 / 13</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A1B2C">
                  <a:alpha val="100000"/>
                </a:srgbClr>
              </a:gs>
              <a:gs pos="50000">
                <a:srgbClr val="061020">
                  <a:alpha val="100000"/>
                </a:srgbClr>
              </a:gs>
              <a:gs pos="100000">
                <a:srgbClr val="01040A">
                  <a:alpha val="100000"/>
                </a:srgbClr>
              </a:gs>
            </a:gsLst>
            <a:lin ang="6360000" scaled="0"/>
          </a:gradFill>
          <a:ln/>
        </p:spPr>
        <p:txBody>
          <a:bodyPr/>
          <a:lstStyle/>
          <a:p>
            <a:endParaRPr lang="es-001"/>
          </a:p>
        </p:txBody>
      </p:sp>
      <p:sp>
        <p:nvSpPr>
          <p:cNvPr id="3" name="Shape 1"/>
          <p:cNvSpPr/>
          <p:nvPr/>
        </p:nvSpPr>
        <p:spPr>
          <a:xfrm>
            <a:off x="-2813171" y="-1017977"/>
            <a:ext cx="22851907" cy="12854178"/>
          </a:xfrm>
          <a:prstGeom prst="rect">
            <a:avLst/>
          </a:prstGeom>
          <a:gradFill rotWithShape="1">
            <a:gsLst>
              <a:gs pos="0">
                <a:srgbClr val="88C1ED">
                  <a:alpha val="23000"/>
                </a:srgbClr>
              </a:gs>
              <a:gs pos="72000">
                <a:srgbClr val="88C1ED">
                  <a:alpha val="0"/>
                </a:srgbClr>
              </a:gs>
            </a:gsLst>
            <a:path path="circle">
              <a:fillToRect l="18000" t="18000" r="82000" b="82000"/>
            </a:path>
          </a:gradFill>
          <a:ln/>
        </p:spPr>
        <p:txBody>
          <a:bodyPr/>
          <a:lstStyle/>
          <a:p>
            <a:endParaRPr lang="es-001"/>
          </a:p>
        </p:txBody>
      </p:sp>
      <p:pic>
        <p:nvPicPr>
          <p:cNvPr id="4" name="Image 0" descr="preencoded.png"/>
          <p:cNvPicPr>
            <a:picLocks noChangeAspect="1"/>
          </p:cNvPicPr>
          <p:nvPr/>
        </p:nvPicPr>
        <p:blipFill>
          <a:blip r:embed="rId3"/>
          <a:srcRect t="2913" b="9225"/>
          <a:stretch/>
        </p:blipFill>
        <p:spPr>
          <a:xfrm>
            <a:off x="0" y="0"/>
            <a:ext cx="18288000" cy="10287000"/>
          </a:xfrm>
          <a:prstGeom prst="rect">
            <a:avLst/>
          </a:prstGeom>
        </p:spPr>
      </p:pic>
      <p:sp>
        <p:nvSpPr>
          <p:cNvPr id="5" name="Shape 2"/>
          <p:cNvSpPr/>
          <p:nvPr/>
        </p:nvSpPr>
        <p:spPr>
          <a:xfrm>
            <a:off x="0" y="0"/>
            <a:ext cx="18288000" cy="10287000"/>
          </a:xfrm>
          <a:prstGeom prst="rect">
            <a:avLst/>
          </a:prstGeom>
          <a:gradFill rotWithShape="1">
            <a:gsLst>
              <a:gs pos="0">
                <a:srgbClr val="010409">
                  <a:alpha val="12000"/>
                </a:srgbClr>
              </a:gs>
              <a:gs pos="18000">
                <a:srgbClr val="010409">
                  <a:alpha val="40000"/>
                </a:srgbClr>
              </a:gs>
              <a:gs pos="42000">
                <a:srgbClr val="010409">
                  <a:alpha val="84000"/>
                </a:srgbClr>
              </a:gs>
              <a:gs pos="70000">
                <a:srgbClr val="010409">
                  <a:alpha val="94000"/>
                </a:srgbClr>
              </a:gs>
              <a:gs pos="100000">
                <a:srgbClr val="010409">
                  <a:alpha val="96000"/>
                </a:srgbClr>
              </a:gs>
            </a:gsLst>
            <a:lin ang="10080000" scaled="0"/>
          </a:gradFill>
          <a:ln/>
        </p:spPr>
        <p:txBody>
          <a:bodyPr/>
          <a:lstStyle/>
          <a:p>
            <a:endParaRPr lang="es-001"/>
          </a:p>
        </p:txBody>
      </p:sp>
      <p:sp>
        <p:nvSpPr>
          <p:cNvPr id="6" name="Shape 3"/>
          <p:cNvSpPr/>
          <p:nvPr/>
        </p:nvSpPr>
        <p:spPr>
          <a:xfrm>
            <a:off x="0" y="0"/>
            <a:ext cx="18288000" cy="10287000"/>
          </a:xfrm>
          <a:prstGeom prst="rect">
            <a:avLst/>
          </a:prstGeom>
          <a:gradFill rotWithShape="1">
            <a:gsLst>
              <a:gs pos="0">
                <a:srgbClr val="BFDDF5">
                  <a:alpha val="5000"/>
                </a:srgbClr>
              </a:gs>
              <a:gs pos="100000">
                <a:srgbClr val="BFDDF5">
                  <a:alpha val="0"/>
                </a:srgbClr>
              </a:gs>
            </a:gsLst>
            <a:lin ang="5400000" scaled="0"/>
          </a:gradFill>
          <a:ln/>
        </p:spPr>
        <p:txBody>
          <a:bodyPr/>
          <a:lstStyle/>
          <a:p>
            <a:endParaRPr lang="es-001"/>
          </a:p>
        </p:txBody>
      </p:sp>
      <p:sp>
        <p:nvSpPr>
          <p:cNvPr id="7" name="Shape 4"/>
          <p:cNvSpPr/>
          <p:nvPr/>
        </p:nvSpPr>
        <p:spPr>
          <a:xfrm>
            <a:off x="1047750" y="647700"/>
            <a:ext cx="285750" cy="9525"/>
          </a:xfrm>
          <a:prstGeom prst="rect">
            <a:avLst/>
          </a:prstGeom>
          <a:solidFill>
            <a:srgbClr val="BFDDF5">
              <a:alpha val="50000"/>
            </a:srgbClr>
          </a:solidFill>
          <a:ln/>
        </p:spPr>
        <p:txBody>
          <a:bodyPr/>
          <a:lstStyle/>
          <a:p>
            <a:endParaRPr lang="es-001"/>
          </a:p>
        </p:txBody>
      </p:sp>
      <p:sp>
        <p:nvSpPr>
          <p:cNvPr id="8" name="Text 5"/>
          <p:cNvSpPr/>
          <p:nvPr/>
        </p:nvSpPr>
        <p:spPr>
          <a:xfrm>
            <a:off x="1466850" y="514350"/>
            <a:ext cx="5129453" cy="304800"/>
          </a:xfrm>
          <a:prstGeom prst="rect">
            <a:avLst/>
          </a:prstGeom>
          <a:noFill/>
          <a:ln/>
        </p:spPr>
        <p:txBody>
          <a:bodyPr wrap="square" lIns="0" tIns="0" rIns="0" bIns="0" rtlCol="0" anchor="t">
            <a:normAutofit/>
          </a:bodyPr>
          <a:lstStyle/>
          <a:p>
            <a:pPr marL="0" indent="0" algn="l">
              <a:buNone/>
            </a:pPr>
            <a:r>
              <a:rPr lang="en-US" sz="1800" kern="0" spc="0" dirty="0">
                <a:solidFill>
                  <a:srgbClr val="FFFFFF">
                    <a:alpha val="50000"/>
                  </a:srgbClr>
                </a:solidFill>
                <a:latin typeface="Helvetica Neue" pitchFamily="34" charset="0"/>
                <a:ea typeface="Helvetica Neue" pitchFamily="34" charset="-122"/>
                <a:cs typeface="Helvetica Neue" pitchFamily="34" charset="-120"/>
              </a:rPr>
              <a:t>DE DÓNDE SALEN NUESTROS DATOS</a:t>
            </a:r>
            <a:endParaRPr lang="en-US" sz="1800" dirty="0"/>
          </a:p>
        </p:txBody>
      </p:sp>
      <p:sp>
        <p:nvSpPr>
          <p:cNvPr id="9" name="Text 6"/>
          <p:cNvSpPr/>
          <p:nvPr/>
        </p:nvSpPr>
        <p:spPr>
          <a:xfrm>
            <a:off x="1047750" y="1128821"/>
            <a:ext cx="13538835" cy="1790700"/>
          </a:xfrm>
          <a:prstGeom prst="rect">
            <a:avLst/>
          </a:prstGeom>
          <a:noFill/>
          <a:ln/>
        </p:spPr>
        <p:txBody>
          <a:bodyPr wrap="square" lIns="25400" tIns="25400" rIns="25400" bIns="25400" rtlCol="0" anchor="t">
            <a:normAutofit/>
          </a:bodyPr>
          <a:lstStyle/>
          <a:p>
            <a:pPr marL="0" indent="0" algn="l">
              <a:lnSpc>
                <a:spcPct val="91485"/>
              </a:lnSpc>
              <a:buNone/>
            </a:pPr>
            <a:r>
              <a:rPr lang="en-US" sz="6300" kern="0" spc="0" dirty="0">
                <a:solidFill>
                  <a:srgbClr val="FFFFFF">
                    <a:alpha val="99000"/>
                  </a:srgbClr>
                </a:solidFill>
                <a:latin typeface="Helvetica Neue" pitchFamily="34" charset="0"/>
                <a:ea typeface="Helvetica Neue" pitchFamily="34" charset="-122"/>
                <a:cs typeface="Helvetica Neue" pitchFamily="34" charset="-120"/>
              </a:rPr>
              <a:t>Todo viene de datos públicos </a:t>
            </a:r>
            <a:r>
              <a:rPr lang="en-US" sz="6300" kern="0" spc="0" dirty="0">
                <a:solidFill>
                  <a:srgbClr val="FFFFFF">
                    <a:alpha val="51000"/>
                  </a:srgbClr>
                </a:solidFill>
                <a:latin typeface="Helvetica Neue" pitchFamily="34" charset="0"/>
                <a:ea typeface="Helvetica Neue" pitchFamily="34" charset="-122"/>
                <a:cs typeface="Helvetica Neue" pitchFamily="34" charset="-120"/>
              </a:rPr>
              <a:t>que cualquiera puede verificar</a:t>
            </a:r>
            <a:endParaRPr lang="en-US" sz="6300" dirty="0"/>
          </a:p>
        </p:txBody>
      </p:sp>
      <p:sp>
        <p:nvSpPr>
          <p:cNvPr id="10" name="Text 7"/>
          <p:cNvSpPr/>
          <p:nvPr/>
        </p:nvSpPr>
        <p:spPr>
          <a:xfrm>
            <a:off x="1047750" y="2857500"/>
            <a:ext cx="11772900" cy="857250"/>
          </a:xfrm>
          <a:prstGeom prst="rect">
            <a:avLst/>
          </a:prstGeom>
          <a:noFill/>
          <a:ln/>
        </p:spPr>
        <p:txBody>
          <a:bodyPr wrap="square" lIns="25400" tIns="25400" rIns="25400" bIns="25400" rtlCol="0" anchor="t">
            <a:normAutofit/>
          </a:bodyPr>
          <a:lstStyle/>
          <a:p>
            <a:pPr marL="0" indent="0" algn="l">
              <a:lnSpc>
                <a:spcPct val="120833"/>
              </a:lnSpc>
              <a:buNone/>
            </a:pPr>
            <a:r>
              <a:rPr lang="en-US" sz="2250" dirty="0">
                <a:solidFill>
                  <a:srgbClr val="FFFFFF">
                    <a:alpha val="55000"/>
                  </a:srgbClr>
                </a:solidFill>
                <a:latin typeface="Helvetica Neue" pitchFamily="34" charset="0"/>
                <a:ea typeface="Helvetica Neue" pitchFamily="34" charset="-122"/>
                <a:cs typeface="Helvetica Neue" pitchFamily="34" charset="-120"/>
              </a:rPr>
              <a:t>Los publica </a:t>
            </a:r>
            <a:r>
              <a:rPr lang="en-US" sz="2250" dirty="0">
                <a:solidFill>
                  <a:srgbClr val="FFFFFF">
                    <a:alpha val="76000"/>
                  </a:srgbClr>
                </a:solidFill>
                <a:latin typeface="Helvetica Neue" pitchFamily="34" charset="0"/>
                <a:ea typeface="Helvetica Neue" pitchFamily="34" charset="-122"/>
                <a:cs typeface="Helvetica Neue" pitchFamily="34" charset="-120"/>
              </a:rPr>
              <a:t>Osinergmin </a:t>
            </a:r>
            <a:r>
              <a:rPr lang="en-US" sz="2250" dirty="0">
                <a:solidFill>
                  <a:srgbClr val="FFFFFF">
                    <a:alpha val="55000"/>
                  </a:srgbClr>
                </a:solidFill>
                <a:latin typeface="Helvetica Neue" pitchFamily="34" charset="0"/>
                <a:ea typeface="Helvetica Neue" pitchFamily="34" charset="-122"/>
                <a:cs typeface="Helvetica Neue" pitchFamily="34" charset="-120"/>
              </a:rPr>
              <a:t>, el organismo que regula la energía en el Perú. No compramos datos, no encuestamos a nadie y no inventamos ninguna cifra.</a:t>
            </a:r>
            <a:endParaRPr lang="en-US" sz="2250" dirty="0"/>
          </a:p>
        </p:txBody>
      </p:sp>
      <p:sp>
        <p:nvSpPr>
          <p:cNvPr id="11" name="Shape 8"/>
          <p:cNvSpPr/>
          <p:nvPr/>
        </p:nvSpPr>
        <p:spPr>
          <a:xfrm>
            <a:off x="1040292" y="4154714"/>
            <a:ext cx="3877285" cy="3599473"/>
          </a:xfrm>
          <a:prstGeom prst="roundRect">
            <a:avLst>
              <a:gd name="adj" fmla="val 6351"/>
            </a:avLst>
          </a:prstGeom>
          <a:solidFill>
            <a:srgbClr val="FFFFFF">
              <a:alpha val="5000"/>
            </a:srgbClr>
          </a:solidFill>
          <a:ln/>
          <a:effectLst>
            <a:outerShdw blurRad="742950" dist="285750" dir="5400000" algn="bl" rotWithShape="0">
              <a:srgbClr val="000000">
                <a:alpha val="52746"/>
              </a:srgbClr>
            </a:outerShdw>
          </a:effectLst>
        </p:spPr>
        <p:txBody>
          <a:bodyPr/>
          <a:lstStyle/>
          <a:p>
            <a:endParaRPr lang="es-001"/>
          </a:p>
        </p:txBody>
      </p:sp>
      <p:sp>
        <p:nvSpPr>
          <p:cNvPr id="12" name="Shape 9"/>
          <p:cNvSpPr/>
          <p:nvPr/>
        </p:nvSpPr>
        <p:spPr>
          <a:xfrm>
            <a:off x="1040292" y="7744662"/>
            <a:ext cx="3877285" cy="9525"/>
          </a:xfrm>
          <a:prstGeom prst="rect">
            <a:avLst/>
          </a:prstGeom>
          <a:solidFill>
            <a:srgbClr val="BFDDF5">
              <a:alpha val="16000"/>
            </a:srgbClr>
          </a:solidFill>
          <a:ln/>
        </p:spPr>
        <p:txBody>
          <a:bodyPr/>
          <a:lstStyle/>
          <a:p>
            <a:endParaRPr lang="es-001"/>
          </a:p>
        </p:txBody>
      </p:sp>
      <p:sp>
        <p:nvSpPr>
          <p:cNvPr id="13" name="Shape 10"/>
          <p:cNvSpPr/>
          <p:nvPr/>
        </p:nvSpPr>
        <p:spPr>
          <a:xfrm>
            <a:off x="1040292" y="4154714"/>
            <a:ext cx="3877285" cy="9525"/>
          </a:xfrm>
          <a:prstGeom prst="rect">
            <a:avLst/>
          </a:prstGeom>
          <a:solidFill>
            <a:srgbClr val="BFDDF5">
              <a:alpha val="16000"/>
            </a:srgbClr>
          </a:solidFill>
          <a:ln/>
        </p:spPr>
        <p:txBody>
          <a:bodyPr/>
          <a:lstStyle/>
          <a:p>
            <a:endParaRPr lang="es-001"/>
          </a:p>
        </p:txBody>
      </p:sp>
      <p:sp>
        <p:nvSpPr>
          <p:cNvPr id="14" name="Shape 11"/>
          <p:cNvSpPr/>
          <p:nvPr/>
        </p:nvSpPr>
        <p:spPr>
          <a:xfrm>
            <a:off x="1040292" y="4154714"/>
            <a:ext cx="9525" cy="3599473"/>
          </a:xfrm>
          <a:prstGeom prst="rect">
            <a:avLst/>
          </a:prstGeom>
          <a:solidFill>
            <a:srgbClr val="BFDDF5">
              <a:alpha val="16000"/>
            </a:srgbClr>
          </a:solidFill>
          <a:ln/>
        </p:spPr>
        <p:txBody>
          <a:bodyPr/>
          <a:lstStyle/>
          <a:p>
            <a:endParaRPr lang="es-001"/>
          </a:p>
        </p:txBody>
      </p:sp>
      <p:sp>
        <p:nvSpPr>
          <p:cNvPr id="15" name="Shape 12"/>
          <p:cNvSpPr/>
          <p:nvPr/>
        </p:nvSpPr>
        <p:spPr>
          <a:xfrm>
            <a:off x="4908052" y="4154714"/>
            <a:ext cx="9525" cy="3599473"/>
          </a:xfrm>
          <a:prstGeom prst="rect">
            <a:avLst/>
          </a:prstGeom>
          <a:solidFill>
            <a:srgbClr val="BFDDF5">
              <a:alpha val="16000"/>
            </a:srgbClr>
          </a:solidFill>
          <a:ln/>
        </p:spPr>
        <p:txBody>
          <a:bodyPr/>
          <a:lstStyle/>
          <a:p>
            <a:endParaRPr lang="es-001"/>
          </a:p>
        </p:txBody>
      </p:sp>
      <p:sp>
        <p:nvSpPr>
          <p:cNvPr id="16" name="Text 13"/>
          <p:cNvSpPr/>
          <p:nvPr/>
        </p:nvSpPr>
        <p:spPr>
          <a:xfrm>
            <a:off x="1384771" y="4523607"/>
            <a:ext cx="3507192" cy="312773"/>
          </a:xfrm>
          <a:prstGeom prst="rect">
            <a:avLst/>
          </a:prstGeom>
          <a:noFill/>
          <a:ln/>
        </p:spPr>
        <p:txBody>
          <a:bodyPr wrap="square" lIns="25400" tIns="25400" rIns="25400" bIns="25400" rtlCol="0" anchor="t">
            <a:normAutofit/>
          </a:bodyPr>
          <a:lstStyle/>
          <a:p>
            <a:pPr marL="0" indent="0" algn="l">
              <a:buNone/>
            </a:pPr>
            <a:r>
              <a:rPr lang="en-US" sz="1800" kern="0" spc="0" dirty="0">
                <a:solidFill>
                  <a:srgbClr val="88C1ED">
                    <a:alpha val="91000"/>
                  </a:srgbClr>
                </a:solidFill>
                <a:latin typeface="Helvetica Neue" pitchFamily="34" charset="0"/>
                <a:ea typeface="Helvetica Neue" pitchFamily="34" charset="-122"/>
                <a:cs typeface="Helvetica Neue" pitchFamily="34" charset="-120"/>
              </a:rPr>
              <a:t>CUÁNTOS GRIFOS</a:t>
            </a:r>
            <a:endParaRPr lang="en-US" sz="1800" dirty="0"/>
          </a:p>
        </p:txBody>
      </p:sp>
      <p:sp>
        <p:nvSpPr>
          <p:cNvPr id="17" name="Text 14"/>
          <p:cNvSpPr/>
          <p:nvPr/>
        </p:nvSpPr>
        <p:spPr>
          <a:xfrm>
            <a:off x="1381680" y="5006863"/>
            <a:ext cx="3513982" cy="760052"/>
          </a:xfrm>
          <a:prstGeom prst="rect">
            <a:avLst/>
          </a:prstGeom>
          <a:noFill/>
          <a:ln/>
        </p:spPr>
        <p:txBody>
          <a:bodyPr wrap="square" lIns="25400" tIns="25400" rIns="25400" bIns="25400" rtlCol="0" anchor="t">
            <a:normAutofit/>
          </a:bodyPr>
          <a:lstStyle/>
          <a:p>
            <a:pPr marL="0" indent="0" algn="l">
              <a:lnSpc>
                <a:spcPct val="83516"/>
              </a:lnSpc>
              <a:buNone/>
            </a:pPr>
            <a:r>
              <a:rPr lang="en-US" sz="5700" kern="0" spc="0" dirty="0">
                <a:solidFill>
                  <a:srgbClr val="FFFFFF">
                    <a:alpha val="91000"/>
                  </a:srgbClr>
                </a:solidFill>
                <a:latin typeface="Helvetica Neue" pitchFamily="34" charset="0"/>
                <a:ea typeface="Helvetica Neue" pitchFamily="34" charset="-122"/>
                <a:cs typeface="Helvetica Neue" pitchFamily="34" charset="-120"/>
              </a:rPr>
              <a:t>8,825</a:t>
            </a:r>
            <a:endParaRPr lang="en-US" sz="5700" dirty="0"/>
          </a:p>
        </p:txBody>
      </p:sp>
      <p:sp>
        <p:nvSpPr>
          <p:cNvPr id="18" name="Text 15"/>
          <p:cNvSpPr/>
          <p:nvPr/>
        </p:nvSpPr>
        <p:spPr>
          <a:xfrm>
            <a:off x="1379021" y="5900121"/>
            <a:ext cx="3295834" cy="667267"/>
          </a:xfrm>
          <a:prstGeom prst="rect">
            <a:avLst/>
          </a:prstGeom>
          <a:noFill/>
          <a:ln/>
        </p:spPr>
        <p:txBody>
          <a:bodyPr wrap="square" lIns="25400" tIns="25400" rIns="25400" bIns="25400" rtlCol="0" anchor="t">
            <a:normAutofit/>
          </a:bodyPr>
          <a:lstStyle/>
          <a:p>
            <a:pPr marL="0" indent="0" algn="l">
              <a:lnSpc>
                <a:spcPct val="115862"/>
              </a:lnSpc>
              <a:buNone/>
            </a:pPr>
            <a:r>
              <a:rPr lang="en-US" sz="1800" dirty="0">
                <a:solidFill>
                  <a:srgbClr val="FFFFFF">
                    <a:alpha val="64000"/>
                  </a:srgbClr>
                </a:solidFill>
                <a:latin typeface="Helvetica Neue" pitchFamily="34" charset="0"/>
                <a:ea typeface="Helvetica Neue" pitchFamily="34" charset="-122"/>
                <a:cs typeface="Helvetica Neue" pitchFamily="34" charset="-120"/>
              </a:rPr>
              <a:t>estaciones de servicio en todo el país</a:t>
            </a:r>
            <a:endParaRPr lang="en-US" sz="1800" dirty="0"/>
          </a:p>
        </p:txBody>
      </p:sp>
      <p:sp>
        <p:nvSpPr>
          <p:cNvPr id="19" name="Shape 16"/>
          <p:cNvSpPr/>
          <p:nvPr/>
        </p:nvSpPr>
        <p:spPr>
          <a:xfrm>
            <a:off x="5145280" y="4193118"/>
            <a:ext cx="3887371" cy="3597811"/>
          </a:xfrm>
          <a:prstGeom prst="roundRect">
            <a:avLst>
              <a:gd name="adj" fmla="val 6354"/>
            </a:avLst>
          </a:prstGeom>
          <a:solidFill>
            <a:srgbClr val="FFFFFF">
              <a:alpha val="5000"/>
            </a:srgbClr>
          </a:solidFill>
          <a:ln/>
          <a:effectLst>
            <a:outerShdw blurRad="742950" dist="285750" dir="5400000" algn="bl" rotWithShape="0">
              <a:srgbClr val="000000">
                <a:alpha val="49364"/>
              </a:srgbClr>
            </a:outerShdw>
          </a:effectLst>
        </p:spPr>
        <p:txBody>
          <a:bodyPr/>
          <a:lstStyle/>
          <a:p>
            <a:endParaRPr lang="es-001"/>
          </a:p>
        </p:txBody>
      </p:sp>
      <p:sp>
        <p:nvSpPr>
          <p:cNvPr id="20" name="Shape 17"/>
          <p:cNvSpPr/>
          <p:nvPr/>
        </p:nvSpPr>
        <p:spPr>
          <a:xfrm>
            <a:off x="5145280" y="7781404"/>
            <a:ext cx="3887371" cy="9525"/>
          </a:xfrm>
          <a:prstGeom prst="rect">
            <a:avLst/>
          </a:prstGeom>
          <a:solidFill>
            <a:srgbClr val="BFDDF5">
              <a:alpha val="15000"/>
            </a:srgbClr>
          </a:solidFill>
          <a:ln/>
        </p:spPr>
        <p:txBody>
          <a:bodyPr/>
          <a:lstStyle/>
          <a:p>
            <a:endParaRPr lang="es-001"/>
          </a:p>
        </p:txBody>
      </p:sp>
      <p:sp>
        <p:nvSpPr>
          <p:cNvPr id="21" name="Shape 18"/>
          <p:cNvSpPr/>
          <p:nvPr/>
        </p:nvSpPr>
        <p:spPr>
          <a:xfrm>
            <a:off x="5145280" y="4193118"/>
            <a:ext cx="3887371" cy="9525"/>
          </a:xfrm>
          <a:prstGeom prst="rect">
            <a:avLst/>
          </a:prstGeom>
          <a:solidFill>
            <a:srgbClr val="BFDDF5">
              <a:alpha val="15000"/>
            </a:srgbClr>
          </a:solidFill>
          <a:ln/>
        </p:spPr>
        <p:txBody>
          <a:bodyPr/>
          <a:lstStyle/>
          <a:p>
            <a:endParaRPr lang="es-001"/>
          </a:p>
        </p:txBody>
      </p:sp>
      <p:sp>
        <p:nvSpPr>
          <p:cNvPr id="22" name="Shape 19"/>
          <p:cNvSpPr/>
          <p:nvPr/>
        </p:nvSpPr>
        <p:spPr>
          <a:xfrm>
            <a:off x="5145280" y="4193118"/>
            <a:ext cx="9525" cy="3597811"/>
          </a:xfrm>
          <a:prstGeom prst="rect">
            <a:avLst/>
          </a:prstGeom>
          <a:solidFill>
            <a:srgbClr val="BFDDF5">
              <a:alpha val="15000"/>
            </a:srgbClr>
          </a:solidFill>
          <a:ln/>
        </p:spPr>
        <p:txBody>
          <a:bodyPr/>
          <a:lstStyle/>
          <a:p>
            <a:endParaRPr lang="es-001"/>
          </a:p>
        </p:txBody>
      </p:sp>
      <p:sp>
        <p:nvSpPr>
          <p:cNvPr id="23" name="Shape 20"/>
          <p:cNvSpPr/>
          <p:nvPr/>
        </p:nvSpPr>
        <p:spPr>
          <a:xfrm>
            <a:off x="9023127" y="4193118"/>
            <a:ext cx="9525" cy="3597811"/>
          </a:xfrm>
          <a:prstGeom prst="rect">
            <a:avLst/>
          </a:prstGeom>
          <a:solidFill>
            <a:srgbClr val="BFDDF5">
              <a:alpha val="15000"/>
            </a:srgbClr>
          </a:solidFill>
          <a:ln/>
        </p:spPr>
        <p:txBody>
          <a:bodyPr/>
          <a:lstStyle/>
          <a:p>
            <a:endParaRPr lang="es-001"/>
          </a:p>
        </p:txBody>
      </p:sp>
      <p:sp>
        <p:nvSpPr>
          <p:cNvPr id="24" name="Text 21"/>
          <p:cNvSpPr/>
          <p:nvPr/>
        </p:nvSpPr>
        <p:spPr>
          <a:xfrm>
            <a:off x="5496964" y="4560254"/>
            <a:ext cx="3502456" cy="311699"/>
          </a:xfrm>
          <a:prstGeom prst="rect">
            <a:avLst/>
          </a:prstGeom>
          <a:noFill/>
          <a:ln/>
        </p:spPr>
        <p:txBody>
          <a:bodyPr wrap="square" lIns="25400" tIns="25400" rIns="25400" bIns="25400" rtlCol="0" anchor="t">
            <a:normAutofit/>
          </a:bodyPr>
          <a:lstStyle/>
          <a:p>
            <a:pPr marL="0" indent="0" algn="l">
              <a:buNone/>
            </a:pPr>
            <a:r>
              <a:rPr lang="en-US" sz="1800" kern="0" spc="0" dirty="0">
                <a:solidFill>
                  <a:srgbClr val="88C1ED">
                    <a:alpha val="85000"/>
                  </a:srgbClr>
                </a:solidFill>
                <a:latin typeface="Helvetica Neue" pitchFamily="34" charset="0"/>
                <a:ea typeface="Helvetica Neue" pitchFamily="34" charset="-122"/>
                <a:cs typeface="Helvetica Neue" pitchFamily="34" charset="-120"/>
              </a:rPr>
              <a:t>CUÁNTOS PRECIOS</a:t>
            </a:r>
            <a:endParaRPr lang="en-US" sz="1800" dirty="0"/>
          </a:p>
        </p:txBody>
      </p:sp>
      <p:sp>
        <p:nvSpPr>
          <p:cNvPr id="25" name="Text 22"/>
          <p:cNvSpPr/>
          <p:nvPr/>
        </p:nvSpPr>
        <p:spPr>
          <a:xfrm>
            <a:off x="5491893" y="5041753"/>
            <a:ext cx="3513597" cy="758586"/>
          </a:xfrm>
          <a:prstGeom prst="rect">
            <a:avLst/>
          </a:prstGeom>
          <a:noFill/>
          <a:ln/>
        </p:spPr>
        <p:txBody>
          <a:bodyPr wrap="square" lIns="25400" tIns="25400" rIns="25400" bIns="25400" rtlCol="0" anchor="t">
            <a:normAutofit/>
          </a:bodyPr>
          <a:lstStyle/>
          <a:p>
            <a:pPr marL="0" indent="0" algn="l">
              <a:lnSpc>
                <a:spcPct val="83516"/>
              </a:lnSpc>
              <a:buNone/>
            </a:pPr>
            <a:r>
              <a:rPr lang="en-US" sz="5700" kern="0" spc="0" dirty="0">
                <a:solidFill>
                  <a:srgbClr val="FFFFFF">
                    <a:alpha val="85000"/>
                  </a:srgbClr>
                </a:solidFill>
                <a:latin typeface="Helvetica Neue" pitchFamily="34" charset="0"/>
                <a:ea typeface="Helvetica Neue" pitchFamily="34" charset="-122"/>
                <a:cs typeface="Helvetica Neue" pitchFamily="34" charset="-120"/>
              </a:rPr>
              <a:t>497 mil</a:t>
            </a:r>
            <a:endParaRPr lang="en-US" sz="5700" dirty="0"/>
          </a:p>
        </p:txBody>
      </p:sp>
      <p:sp>
        <p:nvSpPr>
          <p:cNvPr id="26" name="Text 23"/>
          <p:cNvSpPr/>
          <p:nvPr/>
        </p:nvSpPr>
        <p:spPr>
          <a:xfrm>
            <a:off x="5487521" y="5933401"/>
            <a:ext cx="3298998" cy="667410"/>
          </a:xfrm>
          <a:prstGeom prst="rect">
            <a:avLst/>
          </a:prstGeom>
          <a:noFill/>
          <a:ln/>
        </p:spPr>
        <p:txBody>
          <a:bodyPr wrap="square" lIns="25400" tIns="25400" rIns="25400" bIns="25400" rtlCol="0" anchor="t">
            <a:normAutofit/>
          </a:bodyPr>
          <a:lstStyle/>
          <a:p>
            <a:pPr marL="0" indent="0" algn="l">
              <a:lnSpc>
                <a:spcPct val="115862"/>
              </a:lnSpc>
              <a:buNone/>
            </a:pPr>
            <a:r>
              <a:rPr lang="en-US" sz="1800" dirty="0">
                <a:solidFill>
                  <a:srgbClr val="FFFFFF">
                    <a:alpha val="60000"/>
                  </a:srgbClr>
                </a:solidFill>
                <a:latin typeface="Helvetica Neue" pitchFamily="34" charset="0"/>
                <a:ea typeface="Helvetica Neue" pitchFamily="34" charset="-122"/>
                <a:cs typeface="Helvetica Neue" pitchFamily="34" charset="-120"/>
              </a:rPr>
              <a:t>precios diarios ya revisados y limpios</a:t>
            </a:r>
            <a:endParaRPr lang="en-US" sz="1800" dirty="0"/>
          </a:p>
        </p:txBody>
      </p:sp>
      <p:sp>
        <p:nvSpPr>
          <p:cNvPr id="27" name="Shape 24"/>
          <p:cNvSpPr/>
          <p:nvPr/>
        </p:nvSpPr>
        <p:spPr>
          <a:xfrm>
            <a:off x="9246437" y="4258009"/>
            <a:ext cx="3905110" cy="3593214"/>
          </a:xfrm>
          <a:prstGeom prst="roundRect">
            <a:avLst>
              <a:gd name="adj" fmla="val 6362"/>
            </a:avLst>
          </a:prstGeom>
          <a:solidFill>
            <a:srgbClr val="FFFFFF">
              <a:alpha val="4000"/>
            </a:srgbClr>
          </a:solidFill>
          <a:ln/>
          <a:effectLst>
            <a:outerShdw blurRad="742950" dist="285750" dir="5400000" algn="bl" rotWithShape="0">
              <a:srgbClr val="000000">
                <a:alpha val="43710"/>
              </a:srgbClr>
            </a:outerShdw>
          </a:effectLst>
        </p:spPr>
        <p:txBody>
          <a:bodyPr/>
          <a:lstStyle/>
          <a:p>
            <a:endParaRPr lang="es-001"/>
          </a:p>
        </p:txBody>
      </p:sp>
      <p:sp>
        <p:nvSpPr>
          <p:cNvPr id="28" name="Shape 25"/>
          <p:cNvSpPr/>
          <p:nvPr/>
        </p:nvSpPr>
        <p:spPr>
          <a:xfrm>
            <a:off x="9246437" y="7841698"/>
            <a:ext cx="3905110" cy="9525"/>
          </a:xfrm>
          <a:prstGeom prst="rect">
            <a:avLst/>
          </a:prstGeom>
          <a:solidFill>
            <a:srgbClr val="BFDDF5">
              <a:alpha val="14000"/>
            </a:srgbClr>
          </a:solidFill>
          <a:ln/>
        </p:spPr>
        <p:txBody>
          <a:bodyPr/>
          <a:lstStyle/>
          <a:p>
            <a:endParaRPr lang="es-001"/>
          </a:p>
        </p:txBody>
      </p:sp>
      <p:sp>
        <p:nvSpPr>
          <p:cNvPr id="29" name="Shape 26"/>
          <p:cNvSpPr/>
          <p:nvPr/>
        </p:nvSpPr>
        <p:spPr>
          <a:xfrm>
            <a:off x="9246437" y="4258009"/>
            <a:ext cx="3905110" cy="9525"/>
          </a:xfrm>
          <a:prstGeom prst="rect">
            <a:avLst/>
          </a:prstGeom>
          <a:solidFill>
            <a:srgbClr val="BFDDF5">
              <a:alpha val="14000"/>
            </a:srgbClr>
          </a:solidFill>
          <a:ln/>
        </p:spPr>
        <p:txBody>
          <a:bodyPr/>
          <a:lstStyle/>
          <a:p>
            <a:endParaRPr lang="es-001"/>
          </a:p>
        </p:txBody>
      </p:sp>
      <p:sp>
        <p:nvSpPr>
          <p:cNvPr id="30" name="Shape 27"/>
          <p:cNvSpPr/>
          <p:nvPr/>
        </p:nvSpPr>
        <p:spPr>
          <a:xfrm>
            <a:off x="9246437" y="4258009"/>
            <a:ext cx="9525" cy="3593214"/>
          </a:xfrm>
          <a:prstGeom prst="rect">
            <a:avLst/>
          </a:prstGeom>
          <a:solidFill>
            <a:srgbClr val="BFDDF5">
              <a:alpha val="14000"/>
            </a:srgbClr>
          </a:solidFill>
          <a:ln/>
        </p:spPr>
        <p:txBody>
          <a:bodyPr/>
          <a:lstStyle/>
          <a:p>
            <a:endParaRPr lang="es-001"/>
          </a:p>
        </p:txBody>
      </p:sp>
      <p:sp>
        <p:nvSpPr>
          <p:cNvPr id="31" name="Shape 28"/>
          <p:cNvSpPr/>
          <p:nvPr/>
        </p:nvSpPr>
        <p:spPr>
          <a:xfrm>
            <a:off x="13142022" y="4258009"/>
            <a:ext cx="9525" cy="3593214"/>
          </a:xfrm>
          <a:prstGeom prst="rect">
            <a:avLst/>
          </a:prstGeom>
          <a:solidFill>
            <a:srgbClr val="BFDDF5">
              <a:alpha val="14000"/>
            </a:srgbClr>
          </a:solidFill>
          <a:ln/>
        </p:spPr>
        <p:txBody>
          <a:bodyPr/>
          <a:lstStyle/>
          <a:p>
            <a:endParaRPr lang="es-001"/>
          </a:p>
        </p:txBody>
      </p:sp>
      <p:sp>
        <p:nvSpPr>
          <p:cNvPr id="32" name="Text 29"/>
          <p:cNvSpPr/>
          <p:nvPr/>
        </p:nvSpPr>
        <p:spPr>
          <a:xfrm>
            <a:off x="9610273" y="4622039"/>
            <a:ext cx="3495270" cy="309771"/>
          </a:xfrm>
          <a:prstGeom prst="rect">
            <a:avLst/>
          </a:prstGeom>
          <a:noFill/>
          <a:ln/>
        </p:spPr>
        <p:txBody>
          <a:bodyPr wrap="square" lIns="25400" tIns="25400" rIns="25400" bIns="25400" rtlCol="0" anchor="t">
            <a:normAutofit/>
          </a:bodyPr>
          <a:lstStyle/>
          <a:p>
            <a:pPr marL="0" indent="0" algn="l">
              <a:buNone/>
            </a:pPr>
            <a:r>
              <a:rPr lang="en-US" sz="1800" kern="0" spc="0" dirty="0">
                <a:solidFill>
                  <a:srgbClr val="88C1ED">
                    <a:alpha val="75000"/>
                  </a:srgbClr>
                </a:solidFill>
                <a:latin typeface="Helvetica Neue" pitchFamily="34" charset="0"/>
                <a:ea typeface="Helvetica Neue" pitchFamily="34" charset="-122"/>
                <a:cs typeface="Helvetica Neue" pitchFamily="34" charset="-120"/>
              </a:rPr>
              <a:t>CUÁNTO HISTORIAL</a:t>
            </a:r>
            <a:endParaRPr lang="en-US" sz="1800" dirty="0"/>
          </a:p>
        </p:txBody>
      </p:sp>
      <p:sp>
        <p:nvSpPr>
          <p:cNvPr id="33" name="Text 30"/>
          <p:cNvSpPr/>
          <p:nvPr/>
        </p:nvSpPr>
        <p:spPr>
          <a:xfrm>
            <a:off x="9601906" y="5100368"/>
            <a:ext cx="3513651" cy="755762"/>
          </a:xfrm>
          <a:prstGeom prst="rect">
            <a:avLst/>
          </a:prstGeom>
          <a:noFill/>
          <a:ln/>
        </p:spPr>
        <p:txBody>
          <a:bodyPr wrap="square" lIns="25400" tIns="25400" rIns="25400" bIns="25400" rtlCol="0" anchor="t">
            <a:normAutofit/>
          </a:bodyPr>
          <a:lstStyle/>
          <a:p>
            <a:pPr marL="0" indent="0" algn="l">
              <a:lnSpc>
                <a:spcPct val="83516"/>
              </a:lnSpc>
              <a:buNone/>
            </a:pPr>
            <a:r>
              <a:rPr lang="en-US" sz="5700" kern="0" spc="0" dirty="0">
                <a:solidFill>
                  <a:srgbClr val="FFFFFF">
                    <a:alpha val="75000"/>
                  </a:srgbClr>
                </a:solidFill>
                <a:latin typeface="Helvetica Neue" pitchFamily="34" charset="0"/>
                <a:ea typeface="Helvetica Neue" pitchFamily="34" charset="-122"/>
                <a:cs typeface="Helvetica Neue" pitchFamily="34" charset="-120"/>
              </a:rPr>
              <a:t>6 años</a:t>
            </a:r>
            <a:endParaRPr lang="en-US" sz="5700" dirty="0"/>
          </a:p>
        </p:txBody>
      </p:sp>
      <p:sp>
        <p:nvSpPr>
          <p:cNvPr id="34" name="Text 31"/>
          <p:cNvSpPr/>
          <p:nvPr/>
        </p:nvSpPr>
        <p:spPr>
          <a:xfrm>
            <a:off x="9594663" y="5988861"/>
            <a:ext cx="3304952" cy="667316"/>
          </a:xfrm>
          <a:prstGeom prst="rect">
            <a:avLst/>
          </a:prstGeom>
          <a:noFill/>
          <a:ln/>
        </p:spPr>
        <p:txBody>
          <a:bodyPr wrap="square" lIns="25400" tIns="25400" rIns="25400" bIns="25400" rtlCol="0" anchor="t">
            <a:normAutofit/>
          </a:bodyPr>
          <a:lstStyle/>
          <a:p>
            <a:pPr marL="0" indent="0" algn="l">
              <a:lnSpc>
                <a:spcPct val="115862"/>
              </a:lnSpc>
              <a:buNone/>
            </a:pPr>
            <a:r>
              <a:rPr lang="en-US" sz="1800" dirty="0">
                <a:solidFill>
                  <a:srgbClr val="FFFFFF">
                    <a:alpha val="53000"/>
                  </a:srgbClr>
                </a:solidFill>
                <a:latin typeface="Helvetica Neue" pitchFamily="34" charset="0"/>
                <a:ea typeface="Helvetica Neue" pitchFamily="34" charset="-122"/>
                <a:cs typeface="Helvetica Neue" pitchFamily="34" charset="-120"/>
              </a:rPr>
              <a:t>de precios mes a mes, de 2020 a hoy</a:t>
            </a:r>
            <a:endParaRPr lang="en-US" sz="1800" dirty="0"/>
          </a:p>
        </p:txBody>
      </p:sp>
      <p:sp>
        <p:nvSpPr>
          <p:cNvPr id="35" name="Shape 32"/>
          <p:cNvSpPr/>
          <p:nvPr/>
        </p:nvSpPr>
        <p:spPr>
          <a:xfrm>
            <a:off x="13339454" y="4374210"/>
            <a:ext cx="3939110" cy="3579499"/>
          </a:xfrm>
          <a:prstGeom prst="roundRect">
            <a:avLst>
              <a:gd name="adj" fmla="val 6386"/>
            </a:avLst>
          </a:prstGeom>
          <a:gradFill rotWithShape="1">
            <a:gsLst>
              <a:gs pos="0">
                <a:srgbClr val="5ED092">
                  <a:alpha val="6000"/>
                </a:srgbClr>
              </a:gs>
              <a:gs pos="100000">
                <a:srgbClr val="FFFFFF">
                  <a:alpha val="2000"/>
                </a:srgbClr>
              </a:gs>
            </a:gsLst>
            <a:lin ang="5400000" scaled="0"/>
          </a:gradFill>
          <a:ln/>
          <a:effectLst>
            <a:outerShdw blurRad="742950" dist="285750" dir="5400000" algn="bl" rotWithShape="0">
              <a:srgbClr val="000000">
                <a:alpha val="33730"/>
              </a:srgbClr>
            </a:outerShdw>
          </a:effectLst>
        </p:spPr>
        <p:txBody>
          <a:bodyPr/>
          <a:lstStyle/>
          <a:p>
            <a:endParaRPr lang="es-001"/>
          </a:p>
        </p:txBody>
      </p:sp>
      <p:sp>
        <p:nvSpPr>
          <p:cNvPr id="36" name="Shape 33"/>
          <p:cNvSpPr/>
          <p:nvPr/>
        </p:nvSpPr>
        <p:spPr>
          <a:xfrm>
            <a:off x="13339454" y="7944184"/>
            <a:ext cx="3939110" cy="9525"/>
          </a:xfrm>
          <a:prstGeom prst="rect">
            <a:avLst/>
          </a:prstGeom>
          <a:solidFill>
            <a:srgbClr val="5ED092">
              <a:alpha val="15000"/>
            </a:srgbClr>
          </a:solidFill>
          <a:ln/>
        </p:spPr>
        <p:txBody>
          <a:bodyPr/>
          <a:lstStyle/>
          <a:p>
            <a:endParaRPr lang="es-001"/>
          </a:p>
        </p:txBody>
      </p:sp>
      <p:sp>
        <p:nvSpPr>
          <p:cNvPr id="37" name="Shape 34"/>
          <p:cNvSpPr/>
          <p:nvPr/>
        </p:nvSpPr>
        <p:spPr>
          <a:xfrm>
            <a:off x="13339454" y="4374210"/>
            <a:ext cx="3939110" cy="9525"/>
          </a:xfrm>
          <a:prstGeom prst="rect">
            <a:avLst/>
          </a:prstGeom>
          <a:solidFill>
            <a:srgbClr val="5ED092">
              <a:alpha val="15000"/>
            </a:srgbClr>
          </a:solidFill>
          <a:ln/>
        </p:spPr>
        <p:txBody>
          <a:bodyPr/>
          <a:lstStyle/>
          <a:p>
            <a:endParaRPr lang="es-001"/>
          </a:p>
        </p:txBody>
      </p:sp>
      <p:sp>
        <p:nvSpPr>
          <p:cNvPr id="38" name="Shape 35"/>
          <p:cNvSpPr/>
          <p:nvPr/>
        </p:nvSpPr>
        <p:spPr>
          <a:xfrm>
            <a:off x="13339454" y="4374210"/>
            <a:ext cx="9525" cy="3579499"/>
          </a:xfrm>
          <a:prstGeom prst="rect">
            <a:avLst/>
          </a:prstGeom>
          <a:solidFill>
            <a:srgbClr val="5ED092">
              <a:alpha val="15000"/>
            </a:srgbClr>
          </a:solidFill>
          <a:ln/>
        </p:spPr>
        <p:txBody>
          <a:bodyPr/>
          <a:lstStyle/>
          <a:p>
            <a:endParaRPr lang="es-001"/>
          </a:p>
        </p:txBody>
      </p:sp>
      <p:sp>
        <p:nvSpPr>
          <p:cNvPr id="39" name="Shape 36"/>
          <p:cNvSpPr/>
          <p:nvPr/>
        </p:nvSpPr>
        <p:spPr>
          <a:xfrm>
            <a:off x="17269039" y="4374210"/>
            <a:ext cx="9525" cy="3579499"/>
          </a:xfrm>
          <a:prstGeom prst="rect">
            <a:avLst/>
          </a:prstGeom>
          <a:solidFill>
            <a:srgbClr val="5ED092">
              <a:alpha val="15000"/>
            </a:srgbClr>
          </a:solidFill>
          <a:ln/>
        </p:spPr>
        <p:txBody>
          <a:bodyPr/>
          <a:lstStyle/>
          <a:p>
            <a:endParaRPr lang="es-001"/>
          </a:p>
        </p:txBody>
      </p:sp>
      <p:sp>
        <p:nvSpPr>
          <p:cNvPr id="40" name="Text 37"/>
          <p:cNvSpPr/>
          <p:nvPr/>
        </p:nvSpPr>
        <p:spPr>
          <a:xfrm>
            <a:off x="13725076" y="4732262"/>
            <a:ext cx="3484802" cy="305977"/>
          </a:xfrm>
          <a:prstGeom prst="rect">
            <a:avLst/>
          </a:prstGeom>
          <a:noFill/>
          <a:ln/>
        </p:spPr>
        <p:txBody>
          <a:bodyPr wrap="square" lIns="25400" tIns="25400" rIns="25400" bIns="25400" rtlCol="0" anchor="t">
            <a:normAutofit/>
          </a:bodyPr>
          <a:lstStyle/>
          <a:p>
            <a:pPr marL="0" indent="0" algn="l">
              <a:buNone/>
            </a:pPr>
            <a:r>
              <a:rPr lang="en-US" sz="1800" kern="0" spc="0" dirty="0">
                <a:solidFill>
                  <a:srgbClr val="5ED092">
                    <a:alpha val="58000"/>
                  </a:srgbClr>
                </a:solidFill>
                <a:latin typeface="Helvetica Neue" pitchFamily="34" charset="0"/>
                <a:ea typeface="Helvetica Neue" pitchFamily="34" charset="-122"/>
                <a:cs typeface="Helvetica Neue" pitchFamily="34" charset="-120"/>
              </a:rPr>
              <a:t>CUÁNTO COSTÓ</a:t>
            </a:r>
            <a:endParaRPr lang="en-US" sz="1800" dirty="0"/>
          </a:p>
        </p:txBody>
      </p:sp>
      <p:sp>
        <p:nvSpPr>
          <p:cNvPr id="41" name="Text 38"/>
          <p:cNvSpPr/>
          <p:nvPr/>
        </p:nvSpPr>
        <p:spPr>
          <a:xfrm>
            <a:off x="13710931" y="5204292"/>
            <a:ext cx="3515875" cy="749646"/>
          </a:xfrm>
          <a:prstGeom prst="rect">
            <a:avLst/>
          </a:prstGeom>
          <a:noFill/>
          <a:ln/>
        </p:spPr>
        <p:txBody>
          <a:bodyPr wrap="square" lIns="25400" tIns="25400" rIns="25400" bIns="25400" rtlCol="0" anchor="t">
            <a:normAutofit/>
          </a:bodyPr>
          <a:lstStyle/>
          <a:p>
            <a:pPr marL="0" indent="0" algn="l">
              <a:lnSpc>
                <a:spcPct val="83516"/>
              </a:lnSpc>
              <a:buNone/>
            </a:pPr>
            <a:r>
              <a:rPr lang="en-US" sz="5700" kern="0" spc="0" dirty="0">
                <a:solidFill>
                  <a:srgbClr val="FFFFFF">
                    <a:alpha val="58000"/>
                  </a:srgbClr>
                </a:solidFill>
                <a:latin typeface="Helvetica Neue" pitchFamily="34" charset="0"/>
                <a:ea typeface="Helvetica Neue" pitchFamily="34" charset="-122"/>
                <a:cs typeface="Helvetica Neue" pitchFamily="34" charset="-120"/>
              </a:rPr>
              <a:t>S/ 0</a:t>
            </a:r>
            <a:endParaRPr lang="en-US" sz="5700" dirty="0"/>
          </a:p>
        </p:txBody>
      </p:sp>
      <p:sp>
        <p:nvSpPr>
          <p:cNvPr id="42" name="Text 39"/>
          <p:cNvSpPr/>
          <p:nvPr/>
        </p:nvSpPr>
        <p:spPr>
          <a:xfrm>
            <a:off x="13698605" y="6085805"/>
            <a:ext cx="3317492" cy="666115"/>
          </a:xfrm>
          <a:prstGeom prst="rect">
            <a:avLst/>
          </a:prstGeom>
          <a:noFill/>
          <a:ln/>
        </p:spPr>
        <p:txBody>
          <a:bodyPr wrap="square" lIns="25400" tIns="25400" rIns="25400" bIns="25400" rtlCol="0" anchor="t">
            <a:normAutofit/>
          </a:bodyPr>
          <a:lstStyle/>
          <a:p>
            <a:pPr marL="0" indent="0" algn="l">
              <a:lnSpc>
                <a:spcPct val="115862"/>
              </a:lnSpc>
              <a:buNone/>
            </a:pPr>
            <a:r>
              <a:rPr lang="en-US" sz="1800" dirty="0">
                <a:solidFill>
                  <a:srgbClr val="FFFFFF">
                    <a:alpha val="42000"/>
                  </a:srgbClr>
                </a:solidFill>
                <a:latin typeface="Helvetica Neue" pitchFamily="34" charset="0"/>
                <a:ea typeface="Helvetica Neue" pitchFamily="34" charset="-122"/>
                <a:cs typeface="Helvetica Neue" pitchFamily="34" charset="-120"/>
              </a:rPr>
              <a:t>todo es información pública y gratuita</a:t>
            </a:r>
            <a:endParaRPr lang="en-US" sz="1800" dirty="0"/>
          </a:p>
        </p:txBody>
      </p:sp>
      <p:sp>
        <p:nvSpPr>
          <p:cNvPr id="43" name="Shape 40"/>
          <p:cNvSpPr/>
          <p:nvPr/>
        </p:nvSpPr>
        <p:spPr>
          <a:xfrm>
            <a:off x="1047750" y="9267825"/>
            <a:ext cx="16192500" cy="9525"/>
          </a:xfrm>
          <a:prstGeom prst="rect">
            <a:avLst/>
          </a:prstGeom>
          <a:solidFill>
            <a:srgbClr val="BFDDF5">
              <a:alpha val="12000"/>
            </a:srgbClr>
          </a:solidFill>
          <a:ln/>
        </p:spPr>
        <p:txBody>
          <a:bodyPr/>
          <a:lstStyle/>
          <a:p>
            <a:endParaRPr lang="es-001"/>
          </a:p>
        </p:txBody>
      </p:sp>
      <p:pic>
        <p:nvPicPr>
          <p:cNvPr id="44" name="Image 1" descr="preencoded.png"/>
          <p:cNvPicPr>
            <a:picLocks noChangeAspect="1"/>
          </p:cNvPicPr>
          <p:nvPr/>
        </p:nvPicPr>
        <p:blipFill>
          <a:blip r:embed="rId4">
            <a:alphaModFix amt="85000"/>
          </a:blip>
          <a:stretch>
            <a:fillRect/>
          </a:stretch>
        </p:blipFill>
        <p:spPr>
          <a:xfrm>
            <a:off x="1047750" y="9486900"/>
            <a:ext cx="639961" cy="304800"/>
          </a:xfrm>
          <a:prstGeom prst="rect">
            <a:avLst/>
          </a:prstGeom>
        </p:spPr>
      </p:pic>
      <p:sp>
        <p:nvSpPr>
          <p:cNvPr id="45" name="Shape 41"/>
          <p:cNvSpPr/>
          <p:nvPr/>
        </p:nvSpPr>
        <p:spPr>
          <a:xfrm>
            <a:off x="1859161" y="9515475"/>
            <a:ext cx="9525" cy="247650"/>
          </a:xfrm>
          <a:prstGeom prst="rect">
            <a:avLst/>
          </a:prstGeom>
          <a:solidFill>
            <a:srgbClr val="BFDDF5">
              <a:alpha val="22000"/>
            </a:srgbClr>
          </a:solidFill>
          <a:ln/>
        </p:spPr>
        <p:txBody>
          <a:bodyPr/>
          <a:lstStyle/>
          <a:p>
            <a:endParaRPr lang="es-001"/>
          </a:p>
        </p:txBody>
      </p:sp>
      <p:pic>
        <p:nvPicPr>
          <p:cNvPr id="46" name="Image 2" descr="preencoded.png"/>
          <p:cNvPicPr>
            <a:picLocks noChangeAspect="1"/>
          </p:cNvPicPr>
          <p:nvPr/>
        </p:nvPicPr>
        <p:blipFill>
          <a:blip r:embed="rId5">
            <a:alphaModFix amt="85000"/>
          </a:blip>
          <a:stretch>
            <a:fillRect/>
          </a:stretch>
        </p:blipFill>
        <p:spPr>
          <a:xfrm>
            <a:off x="2040136" y="9534525"/>
            <a:ext cx="279350" cy="209550"/>
          </a:xfrm>
          <a:prstGeom prst="rect">
            <a:avLst/>
          </a:prstGeom>
        </p:spPr>
      </p:pic>
      <p:sp>
        <p:nvSpPr>
          <p:cNvPr id="47" name="Text 42"/>
          <p:cNvSpPr/>
          <p:nvPr/>
        </p:nvSpPr>
        <p:spPr>
          <a:xfrm>
            <a:off x="2490936" y="9501188"/>
            <a:ext cx="1122164" cy="314325"/>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50000"/>
                  </a:srgbClr>
                </a:solidFill>
                <a:latin typeface="Helvetica Neue" pitchFamily="34" charset="0"/>
                <a:ea typeface="Helvetica Neue" pitchFamily="34" charset="-122"/>
                <a:cs typeface="Helvetica Neue" pitchFamily="34" charset="-120"/>
              </a:rPr>
              <a:t>Lunetra IA</a:t>
            </a:r>
            <a:endParaRPr lang="en-US" sz="1800" dirty="0"/>
          </a:p>
        </p:txBody>
      </p:sp>
      <p:sp>
        <p:nvSpPr>
          <p:cNvPr id="48" name="Text 43"/>
          <p:cNvSpPr/>
          <p:nvPr/>
        </p:nvSpPr>
        <p:spPr>
          <a:xfrm>
            <a:off x="16528554" y="9501188"/>
            <a:ext cx="787896" cy="314325"/>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45000"/>
                  </a:srgbClr>
                </a:solidFill>
                <a:latin typeface="Helvetica Neue" pitchFamily="34" charset="0"/>
                <a:ea typeface="Helvetica Neue" pitchFamily="34" charset="-122"/>
                <a:cs typeface="Helvetica Neue" pitchFamily="34" charset="-120"/>
              </a:rPr>
              <a:t>07 / 13</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D2439">
                  <a:alpha val="100000"/>
                </a:srgbClr>
              </a:gs>
              <a:gs pos="56000">
                <a:srgbClr val="06101C">
                  <a:alpha val="100000"/>
                </a:srgbClr>
              </a:gs>
              <a:gs pos="100000">
                <a:srgbClr val="000000">
                  <a:alpha val="100000"/>
                </a:srgbClr>
              </a:gs>
            </a:gsLst>
            <a:path path="circle">
              <a:fillToRect l="50000" t="54000" r="50000" b="46000"/>
            </a:path>
          </a:gradFill>
          <a:ln/>
        </p:spPr>
        <p:txBody>
          <a:bodyPr/>
          <a:lstStyle/>
          <a:p>
            <a:endParaRPr lang="es-001"/>
          </a:p>
        </p:txBody>
      </p:sp>
      <p:sp>
        <p:nvSpPr>
          <p:cNvPr id="3" name="Shape 1"/>
          <p:cNvSpPr/>
          <p:nvPr/>
        </p:nvSpPr>
        <p:spPr>
          <a:xfrm>
            <a:off x="-2768447" y="-2326308"/>
            <a:ext cx="25167248" cy="14156577"/>
          </a:xfrm>
          <a:prstGeom prst="rect">
            <a:avLst/>
          </a:prstGeom>
          <a:gradFill rotWithShape="1">
            <a:gsLst>
              <a:gs pos="0">
                <a:srgbClr val="88C1ED">
                  <a:alpha val="34000"/>
                </a:srgbClr>
              </a:gs>
              <a:gs pos="34000">
                <a:srgbClr val="4686B7">
                  <a:alpha val="16000"/>
                </a:srgbClr>
              </a:gs>
              <a:gs pos="70000">
                <a:srgbClr val="4686B7">
                  <a:alpha val="0"/>
                </a:srgbClr>
              </a:gs>
            </a:gsLst>
            <a:path path="circle">
              <a:fillToRect l="50000" t="58000" r="50000" b="42000"/>
            </a:path>
          </a:gradFill>
          <a:ln/>
        </p:spPr>
        <p:txBody>
          <a:bodyPr/>
          <a:lstStyle/>
          <a:p>
            <a:endParaRPr lang="es-001"/>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8288000" cy="10287000"/>
          </a:xfrm>
          <a:prstGeom prst="rect">
            <a:avLst/>
          </a:prstGeom>
        </p:spPr>
      </p:pic>
      <p:sp>
        <p:nvSpPr>
          <p:cNvPr id="5" name="Shape 2"/>
          <p:cNvSpPr/>
          <p:nvPr/>
        </p:nvSpPr>
        <p:spPr>
          <a:xfrm>
            <a:off x="1047750" y="647700"/>
            <a:ext cx="285750" cy="9525"/>
          </a:xfrm>
          <a:prstGeom prst="rect">
            <a:avLst/>
          </a:prstGeom>
          <a:solidFill>
            <a:srgbClr val="BFDDF5">
              <a:alpha val="50000"/>
            </a:srgbClr>
          </a:solidFill>
          <a:ln/>
        </p:spPr>
        <p:txBody>
          <a:bodyPr/>
          <a:lstStyle/>
          <a:p>
            <a:endParaRPr lang="es-001"/>
          </a:p>
        </p:txBody>
      </p:sp>
      <p:sp>
        <p:nvSpPr>
          <p:cNvPr id="6" name="Text 3"/>
          <p:cNvSpPr/>
          <p:nvPr/>
        </p:nvSpPr>
        <p:spPr>
          <a:xfrm>
            <a:off x="1466850" y="514350"/>
            <a:ext cx="2890718" cy="304800"/>
          </a:xfrm>
          <a:prstGeom prst="rect">
            <a:avLst/>
          </a:prstGeom>
          <a:noFill/>
          <a:ln/>
        </p:spPr>
        <p:txBody>
          <a:bodyPr wrap="square" lIns="0" tIns="0" rIns="0" bIns="0" rtlCol="0" anchor="t">
            <a:normAutofit/>
          </a:bodyPr>
          <a:lstStyle/>
          <a:p>
            <a:pPr marL="0" indent="0" algn="l">
              <a:buNone/>
            </a:pPr>
            <a:r>
              <a:rPr lang="en-US" sz="1800" kern="0" spc="0" dirty="0">
                <a:solidFill>
                  <a:srgbClr val="FFFFFF">
                    <a:alpha val="50000"/>
                  </a:srgbClr>
                </a:solidFill>
                <a:latin typeface="Helvetica Neue" pitchFamily="34" charset="0"/>
                <a:ea typeface="Helvetica Neue" pitchFamily="34" charset="-122"/>
                <a:cs typeface="Helvetica Neue" pitchFamily="34" charset="-120"/>
              </a:rPr>
              <a:t>NUESTRA SOLUCIÓN</a:t>
            </a:r>
            <a:endParaRPr lang="en-US" sz="1800" dirty="0"/>
          </a:p>
        </p:txBody>
      </p:sp>
      <p:sp>
        <p:nvSpPr>
          <p:cNvPr id="7" name="Text 4"/>
          <p:cNvSpPr/>
          <p:nvPr/>
        </p:nvSpPr>
        <p:spPr>
          <a:xfrm>
            <a:off x="1047750" y="1129604"/>
            <a:ext cx="13620750" cy="914400"/>
          </a:xfrm>
          <a:prstGeom prst="rect">
            <a:avLst/>
          </a:prstGeom>
          <a:noFill/>
          <a:ln/>
        </p:spPr>
        <p:txBody>
          <a:bodyPr wrap="square" lIns="25400" tIns="25400" rIns="25400" bIns="25400" rtlCol="0" anchor="t">
            <a:normAutofit/>
          </a:bodyPr>
          <a:lstStyle/>
          <a:p>
            <a:pPr marL="0" indent="0" algn="l">
              <a:lnSpc>
                <a:spcPct val="91485"/>
              </a:lnSpc>
              <a:buNone/>
            </a:pPr>
            <a:r>
              <a:rPr lang="en-US" sz="6300" kern="0" spc="0" dirty="0">
                <a:solidFill>
                  <a:srgbClr val="FFFFFF">
                    <a:alpha val="99000"/>
                  </a:srgbClr>
                </a:solidFill>
                <a:latin typeface="Helvetica Neue" pitchFamily="34" charset="0"/>
                <a:ea typeface="Helvetica Neue" pitchFamily="34" charset="-122"/>
                <a:cs typeface="Helvetica Neue" pitchFamily="34" charset="-120"/>
              </a:rPr>
              <a:t>Una sola pregunta, </a:t>
            </a:r>
            <a:r>
              <a:rPr lang="en-US" sz="6300" kern="0" spc="0" dirty="0">
                <a:solidFill>
                  <a:srgbClr val="FFFFFF">
                    <a:alpha val="51000"/>
                  </a:srgbClr>
                </a:solidFill>
                <a:latin typeface="Helvetica Neue" pitchFamily="34" charset="0"/>
                <a:ea typeface="Helvetica Neue" pitchFamily="34" charset="-122"/>
                <a:cs typeface="Helvetica Neue" pitchFamily="34" charset="-120"/>
              </a:rPr>
              <a:t>respondida bien</a:t>
            </a:r>
            <a:endParaRPr lang="en-US" sz="6300" dirty="0"/>
          </a:p>
        </p:txBody>
      </p:sp>
      <p:sp>
        <p:nvSpPr>
          <p:cNvPr id="8" name="Shape 5"/>
          <p:cNvSpPr/>
          <p:nvPr/>
        </p:nvSpPr>
        <p:spPr>
          <a:xfrm>
            <a:off x="3786188" y="3143250"/>
            <a:ext cx="4071491" cy="1533525"/>
          </a:xfrm>
          <a:prstGeom prst="roundRect">
            <a:avLst>
              <a:gd name="adj" fmla="val 50000"/>
            </a:avLst>
          </a:prstGeom>
          <a:gradFill rotWithShape="1">
            <a:gsLst>
              <a:gs pos="0">
                <a:srgbClr val="5ED092">
                  <a:alpha val="15000"/>
                </a:srgbClr>
              </a:gs>
              <a:gs pos="100000">
                <a:srgbClr val="FFFFFF">
                  <a:alpha val="3000"/>
                </a:srgbClr>
              </a:gs>
            </a:gsLst>
            <a:lin ang="5400000" scaled="0"/>
          </a:gradFill>
          <a:ln w="9525">
            <a:solidFill>
              <a:srgbClr val="5ED092">
                <a:alpha val="33000"/>
              </a:srgbClr>
            </a:solidFill>
            <a:prstDash val="solid"/>
          </a:ln>
          <a:effectLst>
            <a:outerShdw blurRad="762000" dist="50800" dir="16200000" algn="bl" rotWithShape="0">
              <a:srgbClr val="5ED092">
                <a:alpha val="24534"/>
              </a:srgbClr>
            </a:outerShdw>
          </a:effectLst>
        </p:spPr>
        <p:txBody>
          <a:bodyPr/>
          <a:lstStyle/>
          <a:p>
            <a:endParaRPr lang="es-001"/>
          </a:p>
        </p:txBody>
      </p:sp>
      <p:sp>
        <p:nvSpPr>
          <p:cNvPr id="9" name="Text 6"/>
          <p:cNvSpPr/>
          <p:nvPr/>
        </p:nvSpPr>
        <p:spPr>
          <a:xfrm>
            <a:off x="4310063" y="3476625"/>
            <a:ext cx="3145886" cy="904875"/>
          </a:xfrm>
          <a:prstGeom prst="rect">
            <a:avLst/>
          </a:prstGeom>
          <a:noFill/>
          <a:ln/>
        </p:spPr>
        <p:txBody>
          <a:bodyPr wrap="none" lIns="25400" tIns="25400" rIns="25400" bIns="25400" rtlCol="0" anchor="t">
            <a:normAutofit/>
          </a:bodyPr>
          <a:lstStyle/>
          <a:p>
            <a:pPr marL="0" indent="0" algn="l">
              <a:buNone/>
            </a:pPr>
            <a:r>
              <a:rPr lang="en-US" sz="5700" kern="0" spc="0" dirty="0">
                <a:solidFill>
                  <a:srgbClr val="FFFFFF">
                    <a:alpha val="82000"/>
                  </a:srgbClr>
                </a:solidFill>
                <a:latin typeface="Helvetica Neue" pitchFamily="34" charset="0"/>
                <a:ea typeface="Helvetica Neue" pitchFamily="34" charset="-122"/>
                <a:cs typeface="Helvetica Neue" pitchFamily="34" charset="-120"/>
              </a:rPr>
              <a:t>Carga hoy</a:t>
            </a:r>
            <a:endParaRPr lang="en-US" sz="5700" dirty="0"/>
          </a:p>
        </p:txBody>
      </p:sp>
      <p:sp>
        <p:nvSpPr>
          <p:cNvPr id="10" name="Text 7"/>
          <p:cNvSpPr/>
          <p:nvPr/>
        </p:nvSpPr>
        <p:spPr>
          <a:xfrm>
            <a:off x="8238679" y="3657600"/>
            <a:ext cx="309265" cy="542925"/>
          </a:xfrm>
          <a:prstGeom prst="rect">
            <a:avLst/>
          </a:prstGeom>
          <a:noFill/>
          <a:ln/>
        </p:spPr>
        <p:txBody>
          <a:bodyPr wrap="square" lIns="25400" tIns="25400" rIns="25400" bIns="25400" rtlCol="0" anchor="t">
            <a:normAutofit/>
          </a:bodyPr>
          <a:lstStyle/>
          <a:p>
            <a:pPr marL="0" indent="0" algn="l">
              <a:buNone/>
            </a:pPr>
            <a:r>
              <a:rPr lang="en-US" sz="3300" dirty="0">
                <a:solidFill>
                  <a:srgbClr val="FFFFFF">
                    <a:alpha val="33000"/>
                  </a:srgbClr>
                </a:solidFill>
                <a:latin typeface="Helvetica Neue" pitchFamily="34" charset="0"/>
                <a:ea typeface="Helvetica Neue" pitchFamily="34" charset="-122"/>
                <a:cs typeface="Helvetica Neue" pitchFamily="34" charset="-120"/>
              </a:rPr>
              <a:t>o</a:t>
            </a:r>
            <a:endParaRPr lang="en-US" sz="3300" dirty="0"/>
          </a:p>
        </p:txBody>
      </p:sp>
      <p:sp>
        <p:nvSpPr>
          <p:cNvPr id="11" name="Shape 8"/>
          <p:cNvSpPr/>
          <p:nvPr/>
        </p:nvSpPr>
        <p:spPr>
          <a:xfrm>
            <a:off x="8852743" y="3143250"/>
            <a:ext cx="5651897" cy="1533525"/>
          </a:xfrm>
          <a:prstGeom prst="roundRect">
            <a:avLst>
              <a:gd name="adj" fmla="val 50000"/>
            </a:avLst>
          </a:prstGeom>
          <a:gradFill rotWithShape="1">
            <a:gsLst>
              <a:gs pos="0">
                <a:srgbClr val="88C1ED">
                  <a:alpha val="11000"/>
                </a:srgbClr>
              </a:gs>
              <a:gs pos="100000">
                <a:srgbClr val="FFFFFF">
                  <a:alpha val="3000"/>
                </a:srgbClr>
              </a:gs>
            </a:gsLst>
            <a:lin ang="5400000" scaled="0"/>
          </a:gradFill>
          <a:ln w="9525">
            <a:solidFill>
              <a:srgbClr val="BFDDF5">
                <a:alpha val="28000"/>
              </a:srgbClr>
            </a:solidFill>
            <a:prstDash val="solid"/>
          </a:ln>
          <a:effectLst>
            <a:outerShdw blurRad="762000" dist="50800" dir="16200000" algn="bl" rotWithShape="0">
              <a:srgbClr val="88C1ED">
                <a:alpha val="21263"/>
              </a:srgbClr>
            </a:outerShdw>
          </a:effectLst>
        </p:spPr>
        <p:txBody>
          <a:bodyPr/>
          <a:lstStyle/>
          <a:p>
            <a:endParaRPr lang="es-001"/>
          </a:p>
        </p:txBody>
      </p:sp>
      <p:sp>
        <p:nvSpPr>
          <p:cNvPr id="12" name="Text 9"/>
          <p:cNvSpPr/>
          <p:nvPr/>
        </p:nvSpPr>
        <p:spPr>
          <a:xfrm>
            <a:off x="9376618" y="3476625"/>
            <a:ext cx="4773704" cy="904875"/>
          </a:xfrm>
          <a:prstGeom prst="rect">
            <a:avLst/>
          </a:prstGeom>
          <a:noFill/>
          <a:ln/>
        </p:spPr>
        <p:txBody>
          <a:bodyPr wrap="none" lIns="25400" tIns="25400" rIns="25400" bIns="25400" rtlCol="0" anchor="t">
            <a:normAutofit/>
          </a:bodyPr>
          <a:lstStyle/>
          <a:p>
            <a:pPr marL="0" indent="0" algn="l">
              <a:buNone/>
            </a:pPr>
            <a:r>
              <a:rPr lang="en-US" sz="5700" kern="0" spc="0" dirty="0">
                <a:solidFill>
                  <a:srgbClr val="FFFFFF">
                    <a:alpha val="82000"/>
                  </a:srgbClr>
                </a:solidFill>
                <a:latin typeface="Helvetica Neue" pitchFamily="34" charset="0"/>
                <a:ea typeface="Helvetica Neue" pitchFamily="34" charset="-122"/>
                <a:cs typeface="Helvetica Neue" pitchFamily="34" charset="-120"/>
              </a:rPr>
              <a:t>Puedes esperar</a:t>
            </a:r>
            <a:endParaRPr lang="en-US" sz="5700" dirty="0"/>
          </a:p>
        </p:txBody>
      </p:sp>
      <p:sp>
        <p:nvSpPr>
          <p:cNvPr id="13" name="Text 10"/>
          <p:cNvSpPr/>
          <p:nvPr/>
        </p:nvSpPr>
        <p:spPr>
          <a:xfrm>
            <a:off x="3355657" y="4762500"/>
            <a:ext cx="11576685" cy="857250"/>
          </a:xfrm>
          <a:prstGeom prst="rect">
            <a:avLst/>
          </a:prstGeom>
          <a:noFill/>
          <a:ln/>
        </p:spPr>
        <p:txBody>
          <a:bodyPr wrap="square" lIns="25400" tIns="25400" rIns="25400" bIns="25400" rtlCol="0" anchor="t">
            <a:normAutofit/>
          </a:bodyPr>
          <a:lstStyle/>
          <a:p>
            <a:pPr marL="0" indent="0" algn="ctr">
              <a:lnSpc>
                <a:spcPct val="120833"/>
              </a:lnSpc>
              <a:buNone/>
            </a:pPr>
            <a:r>
              <a:rPr lang="en-US" sz="2250" dirty="0">
                <a:solidFill>
                  <a:srgbClr val="FFFFFF">
                    <a:alpha val="29000"/>
                  </a:srgbClr>
                </a:solidFill>
                <a:latin typeface="Helvetica Neue" pitchFamily="34" charset="0"/>
                <a:ea typeface="Helvetica Neue" pitchFamily="34" charset="-122"/>
                <a:cs typeface="Helvetica Neue" pitchFamily="34" charset="-120"/>
              </a:rPr>
              <a:t>Eso es todo lo que el conductor necesita escuchar. Detrás hay seis años de datos; adelante, una frase.</a:t>
            </a:r>
            <a:endParaRPr lang="en-US" sz="2250" dirty="0"/>
          </a:p>
        </p:txBody>
      </p:sp>
      <p:sp>
        <p:nvSpPr>
          <p:cNvPr id="14" name="Shape 11"/>
          <p:cNvSpPr/>
          <p:nvPr/>
        </p:nvSpPr>
        <p:spPr>
          <a:xfrm>
            <a:off x="1007451" y="6452163"/>
            <a:ext cx="5312996" cy="2402367"/>
          </a:xfrm>
          <a:prstGeom prst="roundRect">
            <a:avLst>
              <a:gd name="adj" fmla="val 9516"/>
            </a:avLst>
          </a:prstGeom>
          <a:solidFill>
            <a:srgbClr val="FFFFFF">
              <a:alpha val="3000"/>
            </a:srgbClr>
          </a:solidFill>
          <a:ln/>
          <a:effectLst>
            <a:outerShdw blurRad="742950" dist="285750" dir="5400000" algn="bl" rotWithShape="0">
              <a:srgbClr val="000000">
                <a:alpha val="31719"/>
              </a:srgbClr>
            </a:outerShdw>
          </a:effectLst>
        </p:spPr>
        <p:txBody>
          <a:bodyPr/>
          <a:lstStyle/>
          <a:p>
            <a:endParaRPr lang="es-001"/>
          </a:p>
        </p:txBody>
      </p:sp>
      <p:sp>
        <p:nvSpPr>
          <p:cNvPr id="15" name="Shape 12"/>
          <p:cNvSpPr/>
          <p:nvPr/>
        </p:nvSpPr>
        <p:spPr>
          <a:xfrm>
            <a:off x="1007451" y="8845005"/>
            <a:ext cx="5312996" cy="9525"/>
          </a:xfrm>
          <a:prstGeom prst="rect">
            <a:avLst/>
          </a:prstGeom>
          <a:solidFill>
            <a:srgbClr val="BFDDF5">
              <a:alpha val="10000"/>
            </a:srgbClr>
          </a:solidFill>
          <a:ln/>
        </p:spPr>
        <p:txBody>
          <a:bodyPr/>
          <a:lstStyle/>
          <a:p>
            <a:endParaRPr lang="es-001"/>
          </a:p>
        </p:txBody>
      </p:sp>
      <p:sp>
        <p:nvSpPr>
          <p:cNvPr id="16" name="Shape 13"/>
          <p:cNvSpPr/>
          <p:nvPr/>
        </p:nvSpPr>
        <p:spPr>
          <a:xfrm>
            <a:off x="1007451" y="6452163"/>
            <a:ext cx="5312996" cy="9525"/>
          </a:xfrm>
          <a:prstGeom prst="rect">
            <a:avLst/>
          </a:prstGeom>
          <a:solidFill>
            <a:srgbClr val="BFDDF5">
              <a:alpha val="10000"/>
            </a:srgbClr>
          </a:solidFill>
          <a:ln/>
        </p:spPr>
        <p:txBody>
          <a:bodyPr/>
          <a:lstStyle/>
          <a:p>
            <a:endParaRPr lang="es-001"/>
          </a:p>
        </p:txBody>
      </p:sp>
      <p:sp>
        <p:nvSpPr>
          <p:cNvPr id="17" name="Shape 14"/>
          <p:cNvSpPr/>
          <p:nvPr/>
        </p:nvSpPr>
        <p:spPr>
          <a:xfrm>
            <a:off x="1007451" y="6452163"/>
            <a:ext cx="9525" cy="2402367"/>
          </a:xfrm>
          <a:prstGeom prst="rect">
            <a:avLst/>
          </a:prstGeom>
          <a:solidFill>
            <a:srgbClr val="BFDDF5">
              <a:alpha val="10000"/>
            </a:srgbClr>
          </a:solidFill>
          <a:ln/>
        </p:spPr>
        <p:txBody>
          <a:bodyPr/>
          <a:lstStyle/>
          <a:p>
            <a:endParaRPr lang="es-001"/>
          </a:p>
        </p:txBody>
      </p:sp>
      <p:sp>
        <p:nvSpPr>
          <p:cNvPr id="18" name="Shape 15"/>
          <p:cNvSpPr/>
          <p:nvPr/>
        </p:nvSpPr>
        <p:spPr>
          <a:xfrm>
            <a:off x="6310922" y="6452163"/>
            <a:ext cx="9525" cy="2402367"/>
          </a:xfrm>
          <a:prstGeom prst="rect">
            <a:avLst/>
          </a:prstGeom>
          <a:solidFill>
            <a:srgbClr val="BFDDF5">
              <a:alpha val="10000"/>
            </a:srgbClr>
          </a:solidFill>
          <a:ln/>
        </p:spPr>
        <p:txBody>
          <a:bodyPr/>
          <a:lstStyle/>
          <a:p>
            <a:endParaRPr lang="es-001"/>
          </a:p>
        </p:txBody>
      </p:sp>
      <p:sp>
        <p:nvSpPr>
          <p:cNvPr id="19" name="Text 16"/>
          <p:cNvSpPr/>
          <p:nvPr/>
        </p:nvSpPr>
        <p:spPr>
          <a:xfrm>
            <a:off x="1388693" y="6794685"/>
            <a:ext cx="335435" cy="308301"/>
          </a:xfrm>
          <a:prstGeom prst="rect">
            <a:avLst/>
          </a:prstGeom>
          <a:noFill/>
          <a:ln/>
        </p:spPr>
        <p:txBody>
          <a:bodyPr wrap="square" lIns="25400" tIns="25400" rIns="25400" bIns="25400" rtlCol="0" anchor="t">
            <a:normAutofit/>
          </a:bodyPr>
          <a:lstStyle/>
          <a:p>
            <a:pPr marL="0" indent="0" algn="l">
              <a:buNone/>
            </a:pPr>
            <a:r>
              <a:rPr lang="en-US" sz="1800" dirty="0">
                <a:solidFill>
                  <a:srgbClr val="88C1ED">
                    <a:alpha val="55000"/>
                  </a:srgbClr>
                </a:solidFill>
                <a:latin typeface="Helvetica Neue" pitchFamily="34" charset="0"/>
                <a:ea typeface="Helvetica Neue" pitchFamily="34" charset="-122"/>
                <a:cs typeface="Helvetica Neue" pitchFamily="34" charset="-120"/>
              </a:rPr>
              <a:t>01</a:t>
            </a:r>
            <a:endParaRPr lang="en-US" sz="1800" dirty="0"/>
          </a:p>
        </p:txBody>
      </p:sp>
      <p:sp>
        <p:nvSpPr>
          <p:cNvPr id="20" name="Shape 17"/>
          <p:cNvSpPr/>
          <p:nvPr/>
        </p:nvSpPr>
        <p:spPr>
          <a:xfrm>
            <a:off x="1777693" y="6924935"/>
            <a:ext cx="4158330" cy="9525"/>
          </a:xfrm>
          <a:prstGeom prst="rect">
            <a:avLst/>
          </a:prstGeom>
          <a:solidFill>
            <a:srgbClr val="BFDDF5">
              <a:alpha val="11000"/>
            </a:srgbClr>
          </a:solidFill>
          <a:ln/>
        </p:spPr>
        <p:txBody>
          <a:bodyPr/>
          <a:lstStyle/>
          <a:p>
            <a:endParaRPr lang="es-001"/>
          </a:p>
        </p:txBody>
      </p:sp>
      <p:sp>
        <p:nvSpPr>
          <p:cNvPr id="21" name="Text 18"/>
          <p:cNvSpPr/>
          <p:nvPr/>
        </p:nvSpPr>
        <p:spPr>
          <a:xfrm>
            <a:off x="1373648" y="7270894"/>
            <a:ext cx="5038622" cy="462269"/>
          </a:xfrm>
          <a:prstGeom prst="rect">
            <a:avLst/>
          </a:prstGeom>
          <a:noFill/>
          <a:ln/>
        </p:spPr>
        <p:txBody>
          <a:bodyPr wrap="square" lIns="25400" tIns="25400" rIns="25400" bIns="25400" rtlCol="0" anchor="t">
            <a:normAutofit/>
          </a:bodyPr>
          <a:lstStyle/>
          <a:p>
            <a:pPr marL="0" indent="0" algn="l">
              <a:lnSpc>
                <a:spcPct val="101333"/>
              </a:lnSpc>
              <a:buNone/>
            </a:pPr>
            <a:r>
              <a:rPr lang="en-US" sz="2850" kern="0" spc="0" dirty="0">
                <a:solidFill>
                  <a:srgbClr val="FFFFFF">
                    <a:alpha val="55000"/>
                  </a:srgbClr>
                </a:solidFill>
                <a:latin typeface="Helvetica Neue" pitchFamily="34" charset="0"/>
                <a:ea typeface="Helvetica Neue" pitchFamily="34" charset="-122"/>
                <a:cs typeface="Helvetica Neue" pitchFamily="34" charset="-120"/>
              </a:rPr>
              <a:t>Lee los precios</a:t>
            </a:r>
            <a:endParaRPr lang="en-US" sz="2850" dirty="0"/>
          </a:p>
        </p:txBody>
      </p:sp>
      <p:sp>
        <p:nvSpPr>
          <p:cNvPr id="22" name="Text 19"/>
          <p:cNvSpPr/>
          <p:nvPr/>
        </p:nvSpPr>
        <p:spPr>
          <a:xfrm>
            <a:off x="1354500" y="7846788"/>
            <a:ext cx="4757453" cy="688328"/>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FFFFFF">
                    <a:alpha val="38000"/>
                  </a:srgbClr>
                </a:solidFill>
                <a:latin typeface="Helvetica Neue" pitchFamily="34" charset="0"/>
                <a:ea typeface="Helvetica Neue" pitchFamily="34" charset="-122"/>
                <a:cs typeface="Helvetica Neue" pitchFamily="34" charset="-120"/>
              </a:rPr>
              <a:t>Todos los días revisa lo que cobran los grifos del país.</a:t>
            </a:r>
            <a:endParaRPr lang="en-US" sz="1800" dirty="0"/>
          </a:p>
        </p:txBody>
      </p:sp>
      <p:sp>
        <p:nvSpPr>
          <p:cNvPr id="23" name="Shape 20"/>
          <p:cNvSpPr/>
          <p:nvPr/>
        </p:nvSpPr>
        <p:spPr>
          <a:xfrm>
            <a:off x="6448917" y="6656655"/>
            <a:ext cx="5390112" cy="2368257"/>
          </a:xfrm>
          <a:prstGeom prst="roundRect">
            <a:avLst>
              <a:gd name="adj" fmla="val 9653"/>
            </a:avLst>
          </a:prstGeom>
          <a:solidFill>
            <a:srgbClr val="FFFFFF">
              <a:alpha val="1000"/>
            </a:srgbClr>
          </a:solidFill>
          <a:ln/>
          <a:effectLst>
            <a:outerShdw blurRad="742950" dist="285750" dir="5400000" algn="bl" rotWithShape="0">
              <a:srgbClr val="000000">
                <a:alpha val="12689"/>
              </a:srgbClr>
            </a:outerShdw>
          </a:effectLst>
        </p:spPr>
        <p:txBody>
          <a:bodyPr/>
          <a:lstStyle/>
          <a:p>
            <a:endParaRPr lang="es-001"/>
          </a:p>
        </p:txBody>
      </p:sp>
      <p:sp>
        <p:nvSpPr>
          <p:cNvPr id="24" name="Shape 21"/>
          <p:cNvSpPr/>
          <p:nvPr/>
        </p:nvSpPr>
        <p:spPr>
          <a:xfrm>
            <a:off x="6448917" y="9015387"/>
            <a:ext cx="5390112" cy="9525"/>
          </a:xfrm>
          <a:prstGeom prst="rect">
            <a:avLst/>
          </a:prstGeom>
          <a:solidFill>
            <a:srgbClr val="BFDDF5">
              <a:alpha val="4000"/>
            </a:srgbClr>
          </a:solidFill>
          <a:ln/>
        </p:spPr>
        <p:txBody>
          <a:bodyPr/>
          <a:lstStyle/>
          <a:p>
            <a:endParaRPr lang="es-001"/>
          </a:p>
        </p:txBody>
      </p:sp>
      <p:sp>
        <p:nvSpPr>
          <p:cNvPr id="25" name="Shape 22"/>
          <p:cNvSpPr/>
          <p:nvPr/>
        </p:nvSpPr>
        <p:spPr>
          <a:xfrm>
            <a:off x="6448917" y="6656655"/>
            <a:ext cx="5390112" cy="9525"/>
          </a:xfrm>
          <a:prstGeom prst="rect">
            <a:avLst/>
          </a:prstGeom>
          <a:solidFill>
            <a:srgbClr val="BFDDF5">
              <a:alpha val="4000"/>
            </a:srgbClr>
          </a:solidFill>
          <a:ln/>
        </p:spPr>
        <p:txBody>
          <a:bodyPr/>
          <a:lstStyle/>
          <a:p>
            <a:endParaRPr lang="es-001"/>
          </a:p>
        </p:txBody>
      </p:sp>
      <p:sp>
        <p:nvSpPr>
          <p:cNvPr id="26" name="Shape 23"/>
          <p:cNvSpPr/>
          <p:nvPr/>
        </p:nvSpPr>
        <p:spPr>
          <a:xfrm>
            <a:off x="6448917" y="6656655"/>
            <a:ext cx="9525" cy="2368257"/>
          </a:xfrm>
          <a:prstGeom prst="rect">
            <a:avLst/>
          </a:prstGeom>
          <a:solidFill>
            <a:srgbClr val="BFDDF5">
              <a:alpha val="4000"/>
            </a:srgbClr>
          </a:solidFill>
          <a:ln/>
        </p:spPr>
        <p:txBody>
          <a:bodyPr/>
          <a:lstStyle/>
          <a:p>
            <a:endParaRPr lang="es-001"/>
          </a:p>
        </p:txBody>
      </p:sp>
      <p:sp>
        <p:nvSpPr>
          <p:cNvPr id="27" name="Shape 24"/>
          <p:cNvSpPr/>
          <p:nvPr/>
        </p:nvSpPr>
        <p:spPr>
          <a:xfrm>
            <a:off x="11829504" y="6656655"/>
            <a:ext cx="9525" cy="2368257"/>
          </a:xfrm>
          <a:prstGeom prst="rect">
            <a:avLst/>
          </a:prstGeom>
          <a:solidFill>
            <a:srgbClr val="BFDDF5">
              <a:alpha val="4000"/>
            </a:srgbClr>
          </a:solidFill>
          <a:ln/>
        </p:spPr>
        <p:txBody>
          <a:bodyPr/>
          <a:lstStyle/>
          <a:p>
            <a:endParaRPr lang="es-001"/>
          </a:p>
        </p:txBody>
      </p:sp>
      <p:sp>
        <p:nvSpPr>
          <p:cNvPr id="28" name="Text 25"/>
          <p:cNvSpPr/>
          <p:nvPr/>
        </p:nvSpPr>
        <p:spPr>
          <a:xfrm>
            <a:off x="6866537" y="6989127"/>
            <a:ext cx="339744" cy="301574"/>
          </a:xfrm>
          <a:prstGeom prst="rect">
            <a:avLst/>
          </a:prstGeom>
          <a:noFill/>
          <a:ln/>
        </p:spPr>
        <p:txBody>
          <a:bodyPr wrap="square" lIns="25400" tIns="25400" rIns="25400" bIns="25400" rtlCol="0" anchor="t">
            <a:normAutofit/>
          </a:bodyPr>
          <a:lstStyle/>
          <a:p>
            <a:pPr marL="0" indent="0" algn="l">
              <a:buNone/>
            </a:pPr>
            <a:r>
              <a:rPr lang="en-US" sz="1800" dirty="0">
                <a:solidFill>
                  <a:srgbClr val="88C1ED">
                    <a:alpha val="22000"/>
                  </a:srgbClr>
                </a:solidFill>
                <a:latin typeface="Helvetica Neue" pitchFamily="34" charset="0"/>
                <a:ea typeface="Helvetica Neue" pitchFamily="34" charset="-122"/>
                <a:cs typeface="Helvetica Neue" pitchFamily="34" charset="-120"/>
              </a:rPr>
              <a:t>02</a:t>
            </a:r>
            <a:endParaRPr lang="en-US" sz="1800" dirty="0"/>
          </a:p>
        </p:txBody>
      </p:sp>
      <p:sp>
        <p:nvSpPr>
          <p:cNvPr id="29" name="Shape 26"/>
          <p:cNvSpPr/>
          <p:nvPr/>
        </p:nvSpPr>
        <p:spPr>
          <a:xfrm>
            <a:off x="7257745" y="7116002"/>
            <a:ext cx="4158216" cy="9525"/>
          </a:xfrm>
          <a:prstGeom prst="rect">
            <a:avLst/>
          </a:prstGeom>
          <a:solidFill>
            <a:srgbClr val="BFDDF5">
              <a:alpha val="4000"/>
            </a:srgbClr>
          </a:solidFill>
          <a:ln/>
        </p:spPr>
        <p:txBody>
          <a:bodyPr/>
          <a:lstStyle/>
          <a:p>
            <a:endParaRPr lang="es-001"/>
          </a:p>
        </p:txBody>
      </p:sp>
      <p:sp>
        <p:nvSpPr>
          <p:cNvPr id="30" name="Text 27"/>
          <p:cNvSpPr/>
          <p:nvPr/>
        </p:nvSpPr>
        <p:spPr>
          <a:xfrm>
            <a:off x="6840639" y="7454196"/>
            <a:ext cx="5067260" cy="455146"/>
          </a:xfrm>
          <a:prstGeom prst="rect">
            <a:avLst/>
          </a:prstGeom>
          <a:noFill/>
          <a:ln/>
        </p:spPr>
        <p:txBody>
          <a:bodyPr wrap="square" lIns="25400" tIns="25400" rIns="25400" bIns="25400" rtlCol="0" anchor="t">
            <a:normAutofit/>
          </a:bodyPr>
          <a:lstStyle/>
          <a:p>
            <a:pPr marL="0" indent="0" algn="l">
              <a:lnSpc>
                <a:spcPct val="101333"/>
              </a:lnSpc>
              <a:buNone/>
            </a:pPr>
            <a:r>
              <a:rPr lang="en-US" sz="2850" kern="0" spc="0" dirty="0">
                <a:solidFill>
                  <a:srgbClr val="FFFFFF">
                    <a:alpha val="22000"/>
                  </a:srgbClr>
                </a:solidFill>
                <a:latin typeface="Helvetica Neue" pitchFamily="34" charset="0"/>
                <a:ea typeface="Helvetica Neue" pitchFamily="34" charset="-122"/>
                <a:cs typeface="Helvetica Neue" pitchFamily="34" charset="-120"/>
              </a:rPr>
              <a:t>Aprende el patrón</a:t>
            </a:r>
            <a:endParaRPr lang="en-US" sz="2850" dirty="0"/>
          </a:p>
        </p:txBody>
      </p:sp>
      <p:sp>
        <p:nvSpPr>
          <p:cNvPr id="31" name="Text 28"/>
          <p:cNvSpPr/>
          <p:nvPr/>
        </p:nvSpPr>
        <p:spPr>
          <a:xfrm>
            <a:off x="6807325" y="8021065"/>
            <a:ext cx="4813472" cy="684065"/>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FFFFFF">
                    <a:alpha val="15000"/>
                  </a:srgbClr>
                </a:solidFill>
                <a:latin typeface="Helvetica Neue" pitchFamily="34" charset="0"/>
                <a:ea typeface="Helvetica Neue" pitchFamily="34" charset="-122"/>
                <a:cs typeface="Helvetica Neue" pitchFamily="34" charset="-120"/>
              </a:rPr>
              <a:t>Compara con seis años de historia para ver hacia dónde va.</a:t>
            </a:r>
            <a:endParaRPr lang="en-US" sz="1800" dirty="0"/>
          </a:p>
        </p:txBody>
      </p:sp>
      <p:sp>
        <p:nvSpPr>
          <p:cNvPr id="32" name="Shape 29"/>
          <p:cNvSpPr/>
          <p:nvPr/>
        </p:nvSpPr>
        <p:spPr>
          <a:xfrm>
            <a:off x="1047750" y="9267825"/>
            <a:ext cx="16192500" cy="9525"/>
          </a:xfrm>
          <a:prstGeom prst="rect">
            <a:avLst/>
          </a:prstGeom>
          <a:solidFill>
            <a:srgbClr val="BFDDF5">
              <a:alpha val="12000"/>
            </a:srgbClr>
          </a:solidFill>
          <a:ln/>
        </p:spPr>
        <p:txBody>
          <a:bodyPr/>
          <a:lstStyle/>
          <a:p>
            <a:endParaRPr lang="es-001"/>
          </a:p>
        </p:txBody>
      </p:sp>
      <p:pic>
        <p:nvPicPr>
          <p:cNvPr id="33" name="Image 1" descr="preencoded.png"/>
          <p:cNvPicPr>
            <a:picLocks noChangeAspect="1"/>
          </p:cNvPicPr>
          <p:nvPr/>
        </p:nvPicPr>
        <p:blipFill>
          <a:blip r:embed="rId4">
            <a:alphaModFix amt="85000"/>
          </a:blip>
          <a:stretch>
            <a:fillRect/>
          </a:stretch>
        </p:blipFill>
        <p:spPr>
          <a:xfrm>
            <a:off x="1047750" y="9486900"/>
            <a:ext cx="639961" cy="304800"/>
          </a:xfrm>
          <a:prstGeom prst="rect">
            <a:avLst/>
          </a:prstGeom>
        </p:spPr>
      </p:pic>
      <p:sp>
        <p:nvSpPr>
          <p:cNvPr id="34" name="Shape 30"/>
          <p:cNvSpPr/>
          <p:nvPr/>
        </p:nvSpPr>
        <p:spPr>
          <a:xfrm>
            <a:off x="1859161" y="9515475"/>
            <a:ext cx="9525" cy="247650"/>
          </a:xfrm>
          <a:prstGeom prst="rect">
            <a:avLst/>
          </a:prstGeom>
          <a:solidFill>
            <a:srgbClr val="BFDDF5">
              <a:alpha val="22000"/>
            </a:srgbClr>
          </a:solidFill>
          <a:ln/>
        </p:spPr>
        <p:txBody>
          <a:bodyPr/>
          <a:lstStyle/>
          <a:p>
            <a:endParaRPr lang="es-001"/>
          </a:p>
        </p:txBody>
      </p:sp>
      <p:pic>
        <p:nvPicPr>
          <p:cNvPr id="35" name="Image 2" descr="preencoded.png"/>
          <p:cNvPicPr>
            <a:picLocks noChangeAspect="1"/>
          </p:cNvPicPr>
          <p:nvPr/>
        </p:nvPicPr>
        <p:blipFill>
          <a:blip r:embed="rId5">
            <a:alphaModFix amt="85000"/>
          </a:blip>
          <a:stretch>
            <a:fillRect/>
          </a:stretch>
        </p:blipFill>
        <p:spPr>
          <a:xfrm>
            <a:off x="2040136" y="9534525"/>
            <a:ext cx="279350" cy="209550"/>
          </a:xfrm>
          <a:prstGeom prst="rect">
            <a:avLst/>
          </a:prstGeom>
        </p:spPr>
      </p:pic>
      <p:sp>
        <p:nvSpPr>
          <p:cNvPr id="36" name="Text 31"/>
          <p:cNvSpPr/>
          <p:nvPr/>
        </p:nvSpPr>
        <p:spPr>
          <a:xfrm>
            <a:off x="2490936" y="9501188"/>
            <a:ext cx="1122164" cy="314325"/>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50000"/>
                  </a:srgbClr>
                </a:solidFill>
                <a:latin typeface="Helvetica Neue" pitchFamily="34" charset="0"/>
                <a:ea typeface="Helvetica Neue" pitchFamily="34" charset="-122"/>
                <a:cs typeface="Helvetica Neue" pitchFamily="34" charset="-120"/>
              </a:rPr>
              <a:t>Lunetra IA</a:t>
            </a:r>
            <a:endParaRPr lang="en-US" sz="1800" dirty="0"/>
          </a:p>
        </p:txBody>
      </p:sp>
      <p:sp>
        <p:nvSpPr>
          <p:cNvPr id="37" name="Text 32"/>
          <p:cNvSpPr/>
          <p:nvPr/>
        </p:nvSpPr>
        <p:spPr>
          <a:xfrm>
            <a:off x="16528554" y="9501188"/>
            <a:ext cx="787896" cy="314325"/>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45000"/>
                  </a:srgbClr>
                </a:solidFill>
                <a:latin typeface="Helvetica Neue" pitchFamily="34" charset="0"/>
                <a:ea typeface="Helvetica Neue" pitchFamily="34" charset="-122"/>
                <a:cs typeface="Helvetica Neue" pitchFamily="34" charset="-120"/>
              </a:rPr>
              <a:t>08 / 13</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C2138">
                  <a:alpha val="100000"/>
                </a:srgbClr>
              </a:gs>
              <a:gs pos="52000">
                <a:srgbClr val="06101C">
                  <a:alpha val="100000"/>
                </a:srgbClr>
              </a:gs>
              <a:gs pos="100000">
                <a:srgbClr val="000000">
                  <a:alpha val="100000"/>
                </a:srgbClr>
              </a:gs>
            </a:gsLst>
            <a:path path="circle">
              <a:fillToRect l="50000" t="6000" r="50000" b="94000"/>
            </a:path>
          </a:gradFill>
          <a:ln/>
        </p:spPr>
        <p:txBody>
          <a:bodyPr/>
          <a:lstStyle/>
          <a:p>
            <a:endParaRPr lang="es-001"/>
          </a:p>
        </p:txBody>
      </p:sp>
      <p:sp>
        <p:nvSpPr>
          <p:cNvPr id="3" name="Shape 1"/>
          <p:cNvSpPr/>
          <p:nvPr/>
        </p:nvSpPr>
        <p:spPr>
          <a:xfrm>
            <a:off x="-2787035" y="-2351978"/>
            <a:ext cx="25230979" cy="14192426"/>
          </a:xfrm>
          <a:prstGeom prst="rect">
            <a:avLst/>
          </a:prstGeom>
          <a:gradFill rotWithShape="1">
            <a:gsLst>
              <a:gs pos="0">
                <a:srgbClr val="88C1ED">
                  <a:alpha val="34000"/>
                </a:srgbClr>
              </a:gs>
              <a:gs pos="36000">
                <a:srgbClr val="4686B7">
                  <a:alpha val="18000"/>
                </a:srgbClr>
              </a:gs>
              <a:gs pos="74000">
                <a:srgbClr val="4686B7">
                  <a:alpha val="0"/>
                </a:srgbClr>
              </a:gs>
            </a:gsLst>
            <a:path path="circle">
              <a:fillToRect l="54000" t="100000" r="46000"/>
            </a:path>
          </a:gradFill>
          <a:ln/>
        </p:spPr>
        <p:txBody>
          <a:bodyPr/>
          <a:lstStyle/>
          <a:p>
            <a:endParaRPr lang="es-001"/>
          </a:p>
        </p:txBody>
      </p:sp>
      <p:sp>
        <p:nvSpPr>
          <p:cNvPr id="4" name="Shape 2"/>
          <p:cNvSpPr/>
          <p:nvPr/>
        </p:nvSpPr>
        <p:spPr>
          <a:xfrm>
            <a:off x="0" y="7429500"/>
            <a:ext cx="18288000" cy="2857500"/>
          </a:xfrm>
          <a:prstGeom prst="rect">
            <a:avLst/>
          </a:prstGeom>
          <a:gradFill rotWithShape="1">
            <a:gsLst>
              <a:gs pos="0">
                <a:srgbClr val="88C1ED">
                  <a:alpha val="0"/>
                </a:srgbClr>
              </a:gs>
              <a:gs pos="58000">
                <a:srgbClr val="88C1ED">
                  <a:alpha val="10000"/>
                </a:srgbClr>
              </a:gs>
              <a:gs pos="100000">
                <a:srgbClr val="BFDDF5">
                  <a:alpha val="20000"/>
                </a:srgbClr>
              </a:gs>
            </a:gsLst>
            <a:lin ang="5400000" scaled="0"/>
          </a:gradFill>
          <a:ln/>
        </p:spPr>
        <p:txBody>
          <a:bodyPr/>
          <a:lstStyle/>
          <a:p>
            <a:endParaRPr lang="es-001"/>
          </a:p>
        </p:txBody>
      </p:sp>
      <p:sp>
        <p:nvSpPr>
          <p:cNvPr id="5" name="Shape 3"/>
          <p:cNvSpPr/>
          <p:nvPr/>
        </p:nvSpPr>
        <p:spPr>
          <a:xfrm>
            <a:off x="1047750" y="647700"/>
            <a:ext cx="285750" cy="9525"/>
          </a:xfrm>
          <a:prstGeom prst="rect">
            <a:avLst/>
          </a:prstGeom>
          <a:solidFill>
            <a:srgbClr val="BFDDF5">
              <a:alpha val="50000"/>
            </a:srgbClr>
          </a:solidFill>
          <a:ln/>
        </p:spPr>
        <p:txBody>
          <a:bodyPr/>
          <a:lstStyle/>
          <a:p>
            <a:endParaRPr lang="es-001"/>
          </a:p>
        </p:txBody>
      </p:sp>
      <p:sp>
        <p:nvSpPr>
          <p:cNvPr id="6" name="Text 4"/>
          <p:cNvSpPr/>
          <p:nvPr/>
        </p:nvSpPr>
        <p:spPr>
          <a:xfrm>
            <a:off x="1466850" y="514350"/>
            <a:ext cx="2439924" cy="304800"/>
          </a:xfrm>
          <a:prstGeom prst="rect">
            <a:avLst/>
          </a:prstGeom>
          <a:noFill/>
          <a:ln/>
        </p:spPr>
        <p:txBody>
          <a:bodyPr wrap="square" lIns="0" tIns="0" rIns="0" bIns="0" rtlCol="0" anchor="t">
            <a:normAutofit/>
          </a:bodyPr>
          <a:lstStyle/>
          <a:p>
            <a:pPr marL="0" indent="0" algn="l">
              <a:buNone/>
            </a:pPr>
            <a:r>
              <a:rPr lang="en-US" sz="1800" kern="0" spc="0" dirty="0">
                <a:solidFill>
                  <a:srgbClr val="FFFFFF">
                    <a:alpha val="50000"/>
                  </a:srgbClr>
                </a:solidFill>
                <a:latin typeface="Helvetica Neue" pitchFamily="34" charset="0"/>
                <a:ea typeface="Helvetica Neue" pitchFamily="34" charset="-122"/>
                <a:cs typeface="Helvetica Neue" pitchFamily="34" charset="-120"/>
              </a:rPr>
              <a:t>CÓMO FUNCIONA</a:t>
            </a:r>
            <a:endParaRPr lang="en-US" sz="1800" dirty="0"/>
          </a:p>
        </p:txBody>
      </p:sp>
      <p:sp>
        <p:nvSpPr>
          <p:cNvPr id="7" name="Text 5"/>
          <p:cNvSpPr/>
          <p:nvPr/>
        </p:nvSpPr>
        <p:spPr>
          <a:xfrm>
            <a:off x="1047750" y="1127598"/>
            <a:ext cx="12573000" cy="914400"/>
          </a:xfrm>
          <a:prstGeom prst="rect">
            <a:avLst/>
          </a:prstGeom>
          <a:noFill/>
          <a:ln/>
        </p:spPr>
        <p:txBody>
          <a:bodyPr wrap="square" lIns="25400" tIns="25400" rIns="25400" bIns="25400" rtlCol="0" anchor="t">
            <a:normAutofit/>
          </a:bodyPr>
          <a:lstStyle/>
          <a:p>
            <a:pPr marL="0" indent="0" algn="l">
              <a:lnSpc>
                <a:spcPct val="91485"/>
              </a:lnSpc>
              <a:buNone/>
            </a:pPr>
            <a:r>
              <a:rPr lang="en-US" sz="6300" kern="0" spc="0" dirty="0">
                <a:gradFill rotWithShape="1">
                  <a:gsLst>
                    <a:gs pos="0">
                      <a:srgbClr val="6F7C8A">
                        <a:alpha val="99000"/>
                      </a:srgbClr>
                    </a:gs>
                    <a:gs pos="16000">
                      <a:srgbClr val="8E9AA8">
                        <a:alpha val="99000"/>
                      </a:srgbClr>
                    </a:gs>
                    <a:gs pos="44000">
                      <a:srgbClr val="FFFFFF">
                        <a:alpha val="99000"/>
                      </a:srgbClr>
                    </a:gs>
                    <a:gs pos="66000">
                      <a:srgbClr val="BFDDF5">
                        <a:alpha val="99000"/>
                      </a:srgbClr>
                    </a:gs>
                    <a:gs pos="100000">
                      <a:srgbClr val="88C1ED">
                        <a:alpha val="99000"/>
                      </a:srgbClr>
                    </a:gs>
                  </a:gsLst>
                  <a:lin ang="600000" scaled="0"/>
                </a:gradFill>
                <a:latin typeface="Helvetica Neue" pitchFamily="34" charset="0"/>
                <a:ea typeface="Helvetica Neue" pitchFamily="34" charset="-122"/>
                <a:cs typeface="Helvetica Neue" pitchFamily="34" charset="-120"/>
              </a:rPr>
              <a:t>Cuatro pasos, sin tecnicismos</a:t>
            </a:r>
            <a:endParaRPr lang="en-US" sz="6300"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50" y="6838950"/>
            <a:ext cx="16192500" cy="1143000"/>
          </a:xfrm>
          <a:prstGeom prst="rect">
            <a:avLst/>
          </a:prstGeom>
        </p:spPr>
      </p:pic>
      <p:sp>
        <p:nvSpPr>
          <p:cNvPr id="9" name="Shape 6"/>
          <p:cNvSpPr/>
          <p:nvPr/>
        </p:nvSpPr>
        <p:spPr>
          <a:xfrm>
            <a:off x="1047750" y="3253839"/>
            <a:ext cx="3862387" cy="4210050"/>
          </a:xfrm>
          <a:prstGeom prst="roundRect">
            <a:avLst>
              <a:gd name="adj" fmla="val 6412"/>
            </a:avLst>
          </a:prstGeom>
          <a:gradFill rotWithShape="1">
            <a:gsLst>
              <a:gs pos="0">
                <a:srgbClr val="0E2034">
                  <a:alpha val="90000"/>
                </a:srgbClr>
              </a:gs>
              <a:gs pos="100000">
                <a:srgbClr val="06101C">
                  <a:alpha val="90000"/>
                </a:srgbClr>
              </a:gs>
            </a:gsLst>
            <a:lin ang="5400000" scaled="0"/>
          </a:gradFill>
          <a:ln w="9525">
            <a:solidFill>
              <a:srgbClr val="BFDDF5">
                <a:alpha val="17000"/>
              </a:srgbClr>
            </a:solidFill>
            <a:prstDash val="solid"/>
          </a:ln>
          <a:effectLst>
            <a:outerShdw blurRad="666750" dist="247650" dir="5400000" algn="bl" rotWithShape="0">
              <a:srgbClr val="000000">
                <a:alpha val="57584"/>
              </a:srgbClr>
            </a:outerShdw>
          </a:effectLst>
        </p:spPr>
        <p:txBody>
          <a:bodyPr/>
          <a:lstStyle/>
          <a:p>
            <a:endParaRPr lang="es-001"/>
          </a:p>
        </p:txBody>
      </p:sp>
      <p:sp>
        <p:nvSpPr>
          <p:cNvPr id="10" name="Text 7"/>
          <p:cNvSpPr/>
          <p:nvPr/>
        </p:nvSpPr>
        <p:spPr>
          <a:xfrm>
            <a:off x="1400175" y="3644364"/>
            <a:ext cx="3473291" cy="914400"/>
          </a:xfrm>
          <a:prstGeom prst="rect">
            <a:avLst/>
          </a:prstGeom>
          <a:noFill/>
          <a:ln/>
        </p:spPr>
        <p:txBody>
          <a:bodyPr wrap="square" lIns="25400" tIns="25400" rIns="25400" bIns="25400" rtlCol="0" anchor="t">
            <a:normAutofit/>
          </a:bodyPr>
          <a:lstStyle/>
          <a:p>
            <a:pPr marL="0" indent="0" algn="l">
              <a:lnSpc>
                <a:spcPct val="82143"/>
              </a:lnSpc>
              <a:buNone/>
            </a:pPr>
            <a:r>
              <a:rPr lang="en-US" sz="6900" kern="0" spc="0" dirty="0">
                <a:solidFill>
                  <a:srgbClr val="88C1ED">
                    <a:alpha val="48000"/>
                  </a:srgbClr>
                </a:solidFill>
                <a:latin typeface="Helvetica Neue" pitchFamily="34" charset="0"/>
                <a:ea typeface="Helvetica Neue" pitchFamily="34" charset="-122"/>
                <a:cs typeface="Helvetica Neue" pitchFamily="34" charset="-120"/>
              </a:rPr>
              <a:t>1</a:t>
            </a:r>
            <a:endParaRPr lang="en-US" sz="6900" dirty="0"/>
          </a:p>
        </p:txBody>
      </p:sp>
      <p:sp>
        <p:nvSpPr>
          <p:cNvPr id="11" name="Text 8"/>
          <p:cNvSpPr/>
          <p:nvPr/>
        </p:nvSpPr>
        <p:spPr>
          <a:xfrm>
            <a:off x="1400175" y="4749264"/>
            <a:ext cx="3473291" cy="466725"/>
          </a:xfrm>
          <a:prstGeom prst="rect">
            <a:avLst/>
          </a:prstGeom>
          <a:noFill/>
          <a:ln/>
        </p:spPr>
        <p:txBody>
          <a:bodyPr wrap="square" lIns="25400" tIns="25400" rIns="25400" bIns="25400" rtlCol="0" anchor="t">
            <a:normAutofit/>
          </a:bodyPr>
          <a:lstStyle/>
          <a:p>
            <a:pPr marL="0" indent="0" algn="l">
              <a:lnSpc>
                <a:spcPct val="101333"/>
              </a:lnSpc>
              <a:buNone/>
            </a:pPr>
            <a:r>
              <a:rPr lang="en-US" sz="2850" kern="0" spc="0" dirty="0">
                <a:solidFill>
                  <a:srgbClr val="FFFFFF">
                    <a:alpha val="96000"/>
                  </a:srgbClr>
                </a:solidFill>
                <a:latin typeface="Helvetica Neue" pitchFamily="34" charset="0"/>
                <a:ea typeface="Helvetica Neue" pitchFamily="34" charset="-122"/>
                <a:cs typeface="Helvetica Neue" pitchFamily="34" charset="-120"/>
              </a:rPr>
              <a:t>Tú eliges</a:t>
            </a:r>
            <a:endParaRPr lang="en-US" sz="2850" dirty="0"/>
          </a:p>
        </p:txBody>
      </p:sp>
      <p:sp>
        <p:nvSpPr>
          <p:cNvPr id="12" name="Text 9"/>
          <p:cNvSpPr/>
          <p:nvPr/>
        </p:nvSpPr>
        <p:spPr>
          <a:xfrm>
            <a:off x="1400175" y="5349339"/>
            <a:ext cx="3252264" cy="1066800"/>
          </a:xfrm>
          <a:prstGeom prst="rect">
            <a:avLst/>
          </a:prstGeom>
          <a:noFill/>
          <a:ln/>
        </p:spPr>
        <p:txBody>
          <a:bodyPr wrap="square" lIns="25400" tIns="25400" rIns="25400" bIns="25400" rtlCol="0" anchor="t">
            <a:normAutofit/>
          </a:bodyPr>
          <a:lstStyle/>
          <a:p>
            <a:pPr marL="0" indent="0" algn="l">
              <a:lnSpc>
                <a:spcPct val="120833"/>
              </a:lnSpc>
              <a:buNone/>
            </a:pPr>
            <a:r>
              <a:rPr lang="en-US" sz="1875" dirty="0">
                <a:solidFill>
                  <a:srgbClr val="FFFFFF">
                    <a:alpha val="69000"/>
                  </a:srgbClr>
                </a:solidFill>
                <a:latin typeface="Helvetica Neue" pitchFamily="34" charset="0"/>
                <a:ea typeface="Helvetica Neue" pitchFamily="34" charset="-122"/>
                <a:cs typeface="Helvetica Neue" pitchFamily="34" charset="-120"/>
              </a:rPr>
              <a:t>Tu ciudad y el combustible que usas. Dos toques, nada más.</a:t>
            </a:r>
            <a:endParaRPr lang="en-US" sz="1875" dirty="0"/>
          </a:p>
        </p:txBody>
      </p:sp>
      <p:sp>
        <p:nvSpPr>
          <p:cNvPr id="13" name="Shape 10"/>
          <p:cNvSpPr/>
          <p:nvPr/>
        </p:nvSpPr>
        <p:spPr>
          <a:xfrm>
            <a:off x="5157788" y="3270796"/>
            <a:ext cx="3862387" cy="4210050"/>
          </a:xfrm>
          <a:prstGeom prst="roundRect">
            <a:avLst>
              <a:gd name="adj" fmla="val 6412"/>
            </a:avLst>
          </a:prstGeom>
          <a:gradFill rotWithShape="1">
            <a:gsLst>
              <a:gs pos="0">
                <a:srgbClr val="0E2034">
                  <a:alpha val="86000"/>
                </a:srgbClr>
              </a:gs>
              <a:gs pos="100000">
                <a:srgbClr val="06101C">
                  <a:alpha val="86000"/>
                </a:srgbClr>
              </a:gs>
            </a:gsLst>
            <a:lin ang="5400000" scaled="0"/>
          </a:gradFill>
          <a:ln w="9525">
            <a:solidFill>
              <a:srgbClr val="BFDDF5">
                <a:alpha val="16000"/>
              </a:srgbClr>
            </a:solidFill>
            <a:prstDash val="solid"/>
          </a:ln>
          <a:effectLst>
            <a:outerShdw blurRad="666750" dist="247650" dir="5400000" algn="bl" rotWithShape="0">
              <a:srgbClr val="000000">
                <a:alpha val="54914"/>
              </a:srgbClr>
            </a:outerShdw>
          </a:effectLst>
        </p:spPr>
        <p:txBody>
          <a:bodyPr/>
          <a:lstStyle/>
          <a:p>
            <a:endParaRPr lang="es-001"/>
          </a:p>
        </p:txBody>
      </p:sp>
      <p:sp>
        <p:nvSpPr>
          <p:cNvPr id="14" name="Text 11"/>
          <p:cNvSpPr/>
          <p:nvPr/>
        </p:nvSpPr>
        <p:spPr>
          <a:xfrm>
            <a:off x="5510213" y="3661321"/>
            <a:ext cx="3473291" cy="914400"/>
          </a:xfrm>
          <a:prstGeom prst="rect">
            <a:avLst/>
          </a:prstGeom>
          <a:noFill/>
          <a:ln/>
        </p:spPr>
        <p:txBody>
          <a:bodyPr wrap="square" lIns="25400" tIns="25400" rIns="25400" bIns="25400" rtlCol="0" anchor="t">
            <a:normAutofit/>
          </a:bodyPr>
          <a:lstStyle/>
          <a:p>
            <a:pPr marL="0" indent="0" algn="l">
              <a:lnSpc>
                <a:spcPct val="82143"/>
              </a:lnSpc>
              <a:buNone/>
            </a:pPr>
            <a:r>
              <a:rPr lang="en-US" sz="6900" kern="0" spc="0" dirty="0">
                <a:solidFill>
                  <a:srgbClr val="88C1ED">
                    <a:alpha val="46000"/>
                  </a:srgbClr>
                </a:solidFill>
                <a:latin typeface="Helvetica Neue" pitchFamily="34" charset="0"/>
                <a:ea typeface="Helvetica Neue" pitchFamily="34" charset="-122"/>
                <a:cs typeface="Helvetica Neue" pitchFamily="34" charset="-120"/>
              </a:rPr>
              <a:t>2</a:t>
            </a:r>
            <a:endParaRPr lang="en-US" sz="6900" dirty="0"/>
          </a:p>
        </p:txBody>
      </p:sp>
      <p:sp>
        <p:nvSpPr>
          <p:cNvPr id="15" name="Text 12"/>
          <p:cNvSpPr/>
          <p:nvPr/>
        </p:nvSpPr>
        <p:spPr>
          <a:xfrm>
            <a:off x="5510213" y="4766221"/>
            <a:ext cx="3473291" cy="466725"/>
          </a:xfrm>
          <a:prstGeom prst="rect">
            <a:avLst/>
          </a:prstGeom>
          <a:noFill/>
          <a:ln/>
        </p:spPr>
        <p:txBody>
          <a:bodyPr wrap="square" lIns="25400" tIns="25400" rIns="25400" bIns="25400" rtlCol="0" anchor="t">
            <a:normAutofit/>
          </a:bodyPr>
          <a:lstStyle/>
          <a:p>
            <a:pPr marL="0" indent="0" algn="l">
              <a:lnSpc>
                <a:spcPct val="101333"/>
              </a:lnSpc>
              <a:buNone/>
            </a:pPr>
            <a:r>
              <a:rPr lang="en-US" sz="2850" kern="0" spc="0" dirty="0">
                <a:solidFill>
                  <a:srgbClr val="FFFFFF">
                    <a:alpha val="92000"/>
                  </a:srgbClr>
                </a:solidFill>
                <a:latin typeface="Helvetica Neue" pitchFamily="34" charset="0"/>
                <a:ea typeface="Helvetica Neue" pitchFamily="34" charset="-122"/>
                <a:cs typeface="Helvetica Neue" pitchFamily="34" charset="-120"/>
              </a:rPr>
              <a:t>Lunetra revisa</a:t>
            </a:r>
            <a:endParaRPr lang="en-US" sz="2850" dirty="0"/>
          </a:p>
        </p:txBody>
      </p:sp>
      <p:sp>
        <p:nvSpPr>
          <p:cNvPr id="16" name="Text 13"/>
          <p:cNvSpPr/>
          <p:nvPr/>
        </p:nvSpPr>
        <p:spPr>
          <a:xfrm>
            <a:off x="5510213" y="5366296"/>
            <a:ext cx="3252264" cy="1066800"/>
          </a:xfrm>
          <a:prstGeom prst="rect">
            <a:avLst/>
          </a:prstGeom>
          <a:noFill/>
          <a:ln/>
        </p:spPr>
        <p:txBody>
          <a:bodyPr wrap="square" lIns="25400" tIns="25400" rIns="25400" bIns="25400" rtlCol="0" anchor="t">
            <a:normAutofit/>
          </a:bodyPr>
          <a:lstStyle/>
          <a:p>
            <a:pPr marL="0" indent="0" algn="l">
              <a:lnSpc>
                <a:spcPct val="120833"/>
              </a:lnSpc>
              <a:buNone/>
            </a:pPr>
            <a:r>
              <a:rPr lang="en-US" sz="1875" dirty="0">
                <a:solidFill>
                  <a:srgbClr val="FFFFFF">
                    <a:alpha val="66000"/>
                  </a:srgbClr>
                </a:solidFill>
                <a:latin typeface="Helvetica Neue" pitchFamily="34" charset="0"/>
                <a:ea typeface="Helvetica Neue" pitchFamily="34" charset="-122"/>
                <a:cs typeface="Helvetica Neue" pitchFamily="34" charset="-120"/>
              </a:rPr>
              <a:t>Seis años de precios de tu zona, en menos de un segundo.</a:t>
            </a:r>
            <a:endParaRPr lang="en-US" sz="1875" dirty="0"/>
          </a:p>
        </p:txBody>
      </p:sp>
      <p:sp>
        <p:nvSpPr>
          <p:cNvPr id="17" name="Shape 14"/>
          <p:cNvSpPr/>
          <p:nvPr/>
        </p:nvSpPr>
        <p:spPr>
          <a:xfrm>
            <a:off x="9267825" y="3303978"/>
            <a:ext cx="3862387" cy="4210050"/>
          </a:xfrm>
          <a:prstGeom prst="roundRect">
            <a:avLst>
              <a:gd name="adj" fmla="val 6412"/>
            </a:avLst>
          </a:prstGeom>
          <a:gradFill rotWithShape="1">
            <a:gsLst>
              <a:gs pos="0">
                <a:srgbClr val="0E2034">
                  <a:alpha val="78000"/>
                </a:srgbClr>
              </a:gs>
              <a:gs pos="100000">
                <a:srgbClr val="06101C">
                  <a:alpha val="78000"/>
                </a:srgbClr>
              </a:gs>
            </a:gsLst>
            <a:lin ang="5400000" scaled="0"/>
          </a:gradFill>
          <a:ln w="9525">
            <a:solidFill>
              <a:srgbClr val="BFDDF5">
                <a:alpha val="15000"/>
              </a:srgbClr>
            </a:solidFill>
            <a:prstDash val="solid"/>
          </a:ln>
          <a:effectLst>
            <a:outerShdw blurRad="666750" dist="247650" dir="5400000" algn="bl" rotWithShape="0">
              <a:srgbClr val="000000">
                <a:alpha val="49688"/>
              </a:srgbClr>
            </a:outerShdw>
          </a:effectLst>
        </p:spPr>
        <p:txBody>
          <a:bodyPr/>
          <a:lstStyle/>
          <a:p>
            <a:endParaRPr lang="es-001"/>
          </a:p>
        </p:txBody>
      </p:sp>
      <p:sp>
        <p:nvSpPr>
          <p:cNvPr id="18" name="Text 15"/>
          <p:cNvSpPr/>
          <p:nvPr/>
        </p:nvSpPr>
        <p:spPr>
          <a:xfrm>
            <a:off x="9620250" y="3694503"/>
            <a:ext cx="3473291" cy="914400"/>
          </a:xfrm>
          <a:prstGeom prst="rect">
            <a:avLst/>
          </a:prstGeom>
          <a:noFill/>
          <a:ln/>
        </p:spPr>
        <p:txBody>
          <a:bodyPr wrap="square" lIns="25400" tIns="25400" rIns="25400" bIns="25400" rtlCol="0" anchor="t">
            <a:normAutofit/>
          </a:bodyPr>
          <a:lstStyle/>
          <a:p>
            <a:pPr marL="0" indent="0" algn="l">
              <a:lnSpc>
                <a:spcPct val="82143"/>
              </a:lnSpc>
              <a:buNone/>
            </a:pPr>
            <a:r>
              <a:rPr lang="en-US" sz="6900" kern="0" spc="0" dirty="0">
                <a:solidFill>
                  <a:srgbClr val="88C1ED">
                    <a:alpha val="41000"/>
                  </a:srgbClr>
                </a:solidFill>
                <a:latin typeface="Helvetica Neue" pitchFamily="34" charset="0"/>
                <a:ea typeface="Helvetica Neue" pitchFamily="34" charset="-122"/>
                <a:cs typeface="Helvetica Neue" pitchFamily="34" charset="-120"/>
              </a:rPr>
              <a:t>3</a:t>
            </a:r>
            <a:endParaRPr lang="en-US" sz="6900" dirty="0"/>
          </a:p>
        </p:txBody>
      </p:sp>
      <p:sp>
        <p:nvSpPr>
          <p:cNvPr id="19" name="Text 16"/>
          <p:cNvSpPr/>
          <p:nvPr/>
        </p:nvSpPr>
        <p:spPr>
          <a:xfrm>
            <a:off x="9620250" y="4799404"/>
            <a:ext cx="3473291" cy="466725"/>
          </a:xfrm>
          <a:prstGeom prst="rect">
            <a:avLst/>
          </a:prstGeom>
          <a:noFill/>
          <a:ln/>
        </p:spPr>
        <p:txBody>
          <a:bodyPr wrap="square" lIns="25400" tIns="25400" rIns="25400" bIns="25400" rtlCol="0" anchor="t">
            <a:normAutofit/>
          </a:bodyPr>
          <a:lstStyle/>
          <a:p>
            <a:pPr marL="0" indent="0" algn="l">
              <a:lnSpc>
                <a:spcPct val="101333"/>
              </a:lnSpc>
              <a:buNone/>
            </a:pPr>
            <a:r>
              <a:rPr lang="en-US" sz="2850" kern="0" spc="0" dirty="0">
                <a:solidFill>
                  <a:srgbClr val="FFFFFF">
                    <a:alpha val="83000"/>
                  </a:srgbClr>
                </a:solidFill>
                <a:latin typeface="Helvetica Neue" pitchFamily="34" charset="0"/>
                <a:ea typeface="Helvetica Neue" pitchFamily="34" charset="-122"/>
                <a:cs typeface="Helvetica Neue" pitchFamily="34" charset="-120"/>
              </a:rPr>
              <a:t>Calcula</a:t>
            </a:r>
            <a:endParaRPr lang="en-US" sz="2850" dirty="0"/>
          </a:p>
        </p:txBody>
      </p:sp>
      <p:sp>
        <p:nvSpPr>
          <p:cNvPr id="20" name="Text 17"/>
          <p:cNvSpPr/>
          <p:nvPr/>
        </p:nvSpPr>
        <p:spPr>
          <a:xfrm>
            <a:off x="9620250" y="5399479"/>
            <a:ext cx="3252264" cy="1066800"/>
          </a:xfrm>
          <a:prstGeom prst="rect">
            <a:avLst/>
          </a:prstGeom>
          <a:noFill/>
          <a:ln/>
        </p:spPr>
        <p:txBody>
          <a:bodyPr wrap="square" lIns="25400" tIns="25400" rIns="25400" bIns="25400" rtlCol="0" anchor="t">
            <a:normAutofit/>
          </a:bodyPr>
          <a:lstStyle/>
          <a:p>
            <a:pPr marL="0" indent="0" algn="l">
              <a:lnSpc>
                <a:spcPct val="120833"/>
              </a:lnSpc>
              <a:buNone/>
            </a:pPr>
            <a:r>
              <a:rPr lang="en-US" sz="1875" dirty="0">
                <a:solidFill>
                  <a:srgbClr val="FFFFFF">
                    <a:alpha val="60000"/>
                  </a:srgbClr>
                </a:solidFill>
                <a:latin typeface="Helvetica Neue" pitchFamily="34" charset="0"/>
                <a:ea typeface="Helvetica Neue" pitchFamily="34" charset="-122"/>
                <a:cs typeface="Helvetica Neue" pitchFamily="34" charset="-120"/>
              </a:rPr>
              <a:t>Si es más probable que el precio suba o que baje el próximo mes.</a:t>
            </a:r>
            <a:endParaRPr lang="en-US" sz="1875" dirty="0"/>
          </a:p>
        </p:txBody>
      </p:sp>
      <p:sp>
        <p:nvSpPr>
          <p:cNvPr id="21" name="Shape 18"/>
          <p:cNvSpPr/>
          <p:nvPr/>
        </p:nvSpPr>
        <p:spPr>
          <a:xfrm>
            <a:off x="13377863" y="3238500"/>
            <a:ext cx="3862387" cy="4210050"/>
          </a:xfrm>
          <a:prstGeom prst="roundRect">
            <a:avLst>
              <a:gd name="adj" fmla="val 6412"/>
            </a:avLst>
          </a:prstGeom>
          <a:gradFill rotWithShape="1">
            <a:gsLst>
              <a:gs pos="0">
                <a:srgbClr val="88C1ED">
                  <a:alpha val="10000"/>
                </a:srgbClr>
              </a:gs>
              <a:gs pos="100000">
                <a:srgbClr val="0A1A2C">
                  <a:alpha val="45000"/>
                </a:srgbClr>
              </a:gs>
            </a:gsLst>
            <a:lin ang="5400000" scaled="0"/>
          </a:gradFill>
          <a:ln w="9525">
            <a:solidFill>
              <a:srgbClr val="BFDDF5">
                <a:alpha val="16000"/>
              </a:srgbClr>
            </a:solidFill>
            <a:prstDash val="solid"/>
          </a:ln>
          <a:effectLst>
            <a:outerShdw blurRad="857250" dist="50800" dir="16200000" algn="bl" rotWithShape="0">
              <a:srgbClr val="88C1ED">
                <a:alpha val="16442"/>
              </a:srgbClr>
            </a:outerShdw>
          </a:effectLst>
        </p:spPr>
        <p:txBody>
          <a:bodyPr/>
          <a:lstStyle/>
          <a:p>
            <a:endParaRPr lang="es-001"/>
          </a:p>
        </p:txBody>
      </p:sp>
      <p:sp>
        <p:nvSpPr>
          <p:cNvPr id="22" name="Text 19"/>
          <p:cNvSpPr/>
          <p:nvPr/>
        </p:nvSpPr>
        <p:spPr>
          <a:xfrm>
            <a:off x="13730288" y="3629025"/>
            <a:ext cx="3473291" cy="914400"/>
          </a:xfrm>
          <a:prstGeom prst="rect">
            <a:avLst/>
          </a:prstGeom>
          <a:noFill/>
          <a:ln/>
        </p:spPr>
        <p:txBody>
          <a:bodyPr wrap="square" lIns="25400" tIns="25400" rIns="25400" bIns="25400" rtlCol="0" anchor="t">
            <a:normAutofit/>
          </a:bodyPr>
          <a:lstStyle/>
          <a:p>
            <a:pPr marL="0" indent="0" algn="l">
              <a:lnSpc>
                <a:spcPct val="82143"/>
              </a:lnSpc>
              <a:buNone/>
            </a:pPr>
            <a:r>
              <a:rPr lang="en-US" sz="6900" kern="0" spc="0" dirty="0">
                <a:solidFill>
                  <a:srgbClr val="BFDDF5">
                    <a:alpha val="48000"/>
                  </a:srgbClr>
                </a:solidFill>
                <a:latin typeface="Helvetica Neue" pitchFamily="34" charset="0"/>
                <a:ea typeface="Helvetica Neue" pitchFamily="34" charset="-122"/>
                <a:cs typeface="Helvetica Neue" pitchFamily="34" charset="-120"/>
              </a:rPr>
              <a:t>4</a:t>
            </a:r>
            <a:endParaRPr lang="en-US" sz="6900" dirty="0"/>
          </a:p>
        </p:txBody>
      </p:sp>
      <p:sp>
        <p:nvSpPr>
          <p:cNvPr id="23" name="Text 20"/>
          <p:cNvSpPr/>
          <p:nvPr/>
        </p:nvSpPr>
        <p:spPr>
          <a:xfrm>
            <a:off x="13730288" y="4733925"/>
            <a:ext cx="3473291" cy="466725"/>
          </a:xfrm>
          <a:prstGeom prst="rect">
            <a:avLst/>
          </a:prstGeom>
          <a:noFill/>
          <a:ln/>
        </p:spPr>
        <p:txBody>
          <a:bodyPr wrap="square" lIns="25400" tIns="25400" rIns="25400" bIns="25400" rtlCol="0" anchor="t">
            <a:normAutofit/>
          </a:bodyPr>
          <a:lstStyle/>
          <a:p>
            <a:pPr marL="0" indent="0" algn="l">
              <a:lnSpc>
                <a:spcPct val="101333"/>
              </a:lnSpc>
              <a:buNone/>
            </a:pPr>
            <a:r>
              <a:rPr lang="en-US" sz="2850" kern="0" spc="0" dirty="0">
                <a:solidFill>
                  <a:srgbClr val="FFFFFF">
                    <a:alpha val="48000"/>
                  </a:srgbClr>
                </a:solidFill>
                <a:latin typeface="Helvetica Neue" pitchFamily="34" charset="0"/>
                <a:ea typeface="Helvetica Neue" pitchFamily="34" charset="-122"/>
                <a:cs typeface="Helvetica Neue" pitchFamily="34" charset="-120"/>
              </a:rPr>
              <a:t>Te responde</a:t>
            </a:r>
            <a:endParaRPr lang="en-US" sz="2850" dirty="0"/>
          </a:p>
        </p:txBody>
      </p:sp>
      <p:sp>
        <p:nvSpPr>
          <p:cNvPr id="24" name="Text 21"/>
          <p:cNvSpPr/>
          <p:nvPr/>
        </p:nvSpPr>
        <p:spPr>
          <a:xfrm>
            <a:off x="13730288" y="5334000"/>
            <a:ext cx="3252264" cy="1066800"/>
          </a:xfrm>
          <a:prstGeom prst="rect">
            <a:avLst/>
          </a:prstGeom>
          <a:noFill/>
          <a:ln/>
        </p:spPr>
        <p:txBody>
          <a:bodyPr wrap="square" lIns="25400" tIns="25400" rIns="25400" bIns="25400" rtlCol="0" anchor="t">
            <a:normAutofit/>
          </a:bodyPr>
          <a:lstStyle/>
          <a:p>
            <a:pPr marL="0" indent="0" algn="l">
              <a:lnSpc>
                <a:spcPct val="120833"/>
              </a:lnSpc>
              <a:buNone/>
            </a:pPr>
            <a:r>
              <a:rPr lang="en-US" sz="1875" dirty="0">
                <a:solidFill>
                  <a:srgbClr val="FFFFFF">
                    <a:alpha val="39000"/>
                  </a:srgbClr>
                </a:solidFill>
                <a:latin typeface="Helvetica Neue" pitchFamily="34" charset="0"/>
                <a:ea typeface="Helvetica Neue" pitchFamily="34" charset="-122"/>
                <a:cs typeface="Helvetica Neue" pitchFamily="34" charset="-120"/>
              </a:rPr>
              <a:t>«Carga hoy» o «puedes esperar», más el rango de precio justo.</a:t>
            </a:r>
            <a:endParaRPr lang="en-US" sz="1875" dirty="0"/>
          </a:p>
        </p:txBody>
      </p:sp>
      <p:sp>
        <p:nvSpPr>
          <p:cNvPr id="25" name="Shape 22"/>
          <p:cNvSpPr/>
          <p:nvPr/>
        </p:nvSpPr>
        <p:spPr>
          <a:xfrm>
            <a:off x="1047750" y="9267825"/>
            <a:ext cx="16192500" cy="9525"/>
          </a:xfrm>
          <a:prstGeom prst="rect">
            <a:avLst/>
          </a:prstGeom>
          <a:solidFill>
            <a:srgbClr val="BFDDF5">
              <a:alpha val="12000"/>
            </a:srgbClr>
          </a:solidFill>
          <a:ln/>
        </p:spPr>
        <p:txBody>
          <a:bodyPr/>
          <a:lstStyle/>
          <a:p>
            <a:endParaRPr lang="es-001"/>
          </a:p>
        </p:txBody>
      </p:sp>
      <p:pic>
        <p:nvPicPr>
          <p:cNvPr id="26" name="Image 1" descr="preencoded.png"/>
          <p:cNvPicPr>
            <a:picLocks noChangeAspect="1"/>
          </p:cNvPicPr>
          <p:nvPr/>
        </p:nvPicPr>
        <p:blipFill>
          <a:blip r:embed="rId4">
            <a:alphaModFix amt="85000"/>
          </a:blip>
          <a:stretch>
            <a:fillRect/>
          </a:stretch>
        </p:blipFill>
        <p:spPr>
          <a:xfrm>
            <a:off x="1047750" y="9486900"/>
            <a:ext cx="639961" cy="304800"/>
          </a:xfrm>
          <a:prstGeom prst="rect">
            <a:avLst/>
          </a:prstGeom>
        </p:spPr>
      </p:pic>
      <p:sp>
        <p:nvSpPr>
          <p:cNvPr id="27" name="Shape 23"/>
          <p:cNvSpPr/>
          <p:nvPr/>
        </p:nvSpPr>
        <p:spPr>
          <a:xfrm>
            <a:off x="1859161" y="9515475"/>
            <a:ext cx="9525" cy="247650"/>
          </a:xfrm>
          <a:prstGeom prst="rect">
            <a:avLst/>
          </a:prstGeom>
          <a:solidFill>
            <a:srgbClr val="BFDDF5">
              <a:alpha val="22000"/>
            </a:srgbClr>
          </a:solidFill>
          <a:ln/>
        </p:spPr>
        <p:txBody>
          <a:bodyPr/>
          <a:lstStyle/>
          <a:p>
            <a:endParaRPr lang="es-001"/>
          </a:p>
        </p:txBody>
      </p:sp>
      <p:pic>
        <p:nvPicPr>
          <p:cNvPr id="28" name="Image 2" descr="preencoded.png"/>
          <p:cNvPicPr>
            <a:picLocks noChangeAspect="1"/>
          </p:cNvPicPr>
          <p:nvPr/>
        </p:nvPicPr>
        <p:blipFill>
          <a:blip r:embed="rId5">
            <a:alphaModFix amt="85000"/>
          </a:blip>
          <a:stretch>
            <a:fillRect/>
          </a:stretch>
        </p:blipFill>
        <p:spPr>
          <a:xfrm>
            <a:off x="2040136" y="9534525"/>
            <a:ext cx="279350" cy="209550"/>
          </a:xfrm>
          <a:prstGeom prst="rect">
            <a:avLst/>
          </a:prstGeom>
        </p:spPr>
      </p:pic>
      <p:sp>
        <p:nvSpPr>
          <p:cNvPr id="29" name="Text 24"/>
          <p:cNvSpPr/>
          <p:nvPr/>
        </p:nvSpPr>
        <p:spPr>
          <a:xfrm>
            <a:off x="2490936" y="9501188"/>
            <a:ext cx="1122164" cy="314325"/>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50000"/>
                  </a:srgbClr>
                </a:solidFill>
                <a:latin typeface="Helvetica Neue" pitchFamily="34" charset="0"/>
                <a:ea typeface="Helvetica Neue" pitchFamily="34" charset="-122"/>
                <a:cs typeface="Helvetica Neue" pitchFamily="34" charset="-120"/>
              </a:rPr>
              <a:t>Lunetra IA</a:t>
            </a:r>
            <a:endParaRPr lang="en-US" sz="1800" dirty="0"/>
          </a:p>
        </p:txBody>
      </p:sp>
      <p:sp>
        <p:nvSpPr>
          <p:cNvPr id="30" name="Text 25"/>
          <p:cNvSpPr/>
          <p:nvPr/>
        </p:nvSpPr>
        <p:spPr>
          <a:xfrm>
            <a:off x="16528554" y="9501188"/>
            <a:ext cx="787896" cy="314325"/>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45000"/>
                  </a:srgbClr>
                </a:solidFill>
                <a:latin typeface="Helvetica Neue" pitchFamily="34" charset="0"/>
                <a:ea typeface="Helvetica Neue" pitchFamily="34" charset="-122"/>
                <a:cs typeface="Helvetica Neue" pitchFamily="34" charset="-120"/>
              </a:rPr>
              <a:t>09 / 13</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D2439">
                  <a:alpha val="100000"/>
                </a:srgbClr>
              </a:gs>
              <a:gs pos="54000">
                <a:srgbClr val="06101C">
                  <a:alpha val="100000"/>
                </a:srgbClr>
              </a:gs>
              <a:gs pos="100000">
                <a:srgbClr val="000000">
                  <a:alpha val="100000"/>
                </a:srgbClr>
              </a:gs>
            </a:gsLst>
            <a:path path="circle">
              <a:fillToRect l="26000" t="62000" r="74000" b="38000"/>
            </a:path>
          </a:gradFill>
          <a:ln/>
        </p:spPr>
        <p:txBody>
          <a:bodyPr/>
          <a:lstStyle/>
          <a:p>
            <a:endParaRPr lang="es-001"/>
          </a:p>
        </p:txBody>
      </p:sp>
      <p:sp>
        <p:nvSpPr>
          <p:cNvPr id="3" name="Shape 1"/>
          <p:cNvSpPr/>
          <p:nvPr/>
        </p:nvSpPr>
        <p:spPr>
          <a:xfrm>
            <a:off x="-2787717" y="-2352919"/>
            <a:ext cx="25233318" cy="14193741"/>
          </a:xfrm>
          <a:prstGeom prst="rect">
            <a:avLst/>
          </a:prstGeom>
          <a:gradFill rotWithShape="1">
            <a:gsLst>
              <a:gs pos="0">
                <a:srgbClr val="88C1ED">
                  <a:alpha val="38000"/>
                </a:srgbClr>
              </a:gs>
              <a:gs pos="36000">
                <a:srgbClr val="4686B7">
                  <a:alpha val="20000"/>
                </a:srgbClr>
              </a:gs>
              <a:gs pos="74000">
                <a:srgbClr val="4686B7">
                  <a:alpha val="0"/>
                </a:srgbClr>
              </a:gs>
            </a:gsLst>
            <a:path path="circle">
              <a:fillToRect l="22000" t="96000" r="78000" b="4000"/>
            </a:path>
          </a:gradFill>
          <a:ln/>
        </p:spPr>
        <p:txBody>
          <a:bodyPr/>
          <a:lstStyle/>
          <a:p>
            <a:endParaRPr lang="es-001"/>
          </a:p>
        </p:txBody>
      </p:sp>
      <p:sp>
        <p:nvSpPr>
          <p:cNvPr id="4" name="Shape 2"/>
          <p:cNvSpPr/>
          <p:nvPr/>
        </p:nvSpPr>
        <p:spPr>
          <a:xfrm>
            <a:off x="-4048125" y="2828925"/>
            <a:ext cx="12287250" cy="8286750"/>
          </a:xfrm>
          <a:prstGeom prst="rect">
            <a:avLst/>
          </a:prstGeom>
          <a:gradFill rotWithShape="1">
            <a:gsLst>
              <a:gs pos="0">
                <a:srgbClr val="EAF4FC">
                  <a:alpha val="70000"/>
                </a:srgbClr>
              </a:gs>
              <a:gs pos="22000">
                <a:srgbClr val="88C1ED">
                  <a:alpha val="46000"/>
                </a:srgbClr>
              </a:gs>
              <a:gs pos="45000">
                <a:srgbClr val="4686B7">
                  <a:alpha val="28000"/>
                </a:srgbClr>
              </a:gs>
              <a:gs pos="68000">
                <a:srgbClr val="123A5C">
                  <a:alpha val="14000"/>
                </a:srgbClr>
              </a:gs>
              <a:gs pos="86000">
                <a:srgbClr val="123A5C">
                  <a:alpha val="0"/>
                </a:srgbClr>
              </a:gs>
            </a:gsLst>
            <a:path path="circle">
              <a:fillToRect l="50000" t="100000" r="50000"/>
            </a:path>
          </a:gradFill>
          <a:ln/>
        </p:spPr>
        <p:txBody>
          <a:bodyPr/>
          <a:lstStyle/>
          <a:p>
            <a:endParaRPr lang="es-001"/>
          </a:p>
        </p:txBody>
      </p:sp>
      <p:sp>
        <p:nvSpPr>
          <p:cNvPr id="9" name="Shape 6"/>
          <p:cNvSpPr/>
          <p:nvPr/>
        </p:nvSpPr>
        <p:spPr>
          <a:xfrm>
            <a:off x="1047750" y="647700"/>
            <a:ext cx="285750" cy="9525"/>
          </a:xfrm>
          <a:prstGeom prst="rect">
            <a:avLst/>
          </a:prstGeom>
          <a:solidFill>
            <a:srgbClr val="BFDDF5">
              <a:alpha val="50000"/>
            </a:srgbClr>
          </a:solidFill>
          <a:ln/>
        </p:spPr>
        <p:txBody>
          <a:bodyPr/>
          <a:lstStyle/>
          <a:p>
            <a:endParaRPr lang="es-001"/>
          </a:p>
        </p:txBody>
      </p:sp>
      <p:sp>
        <p:nvSpPr>
          <p:cNvPr id="10" name="Text 7"/>
          <p:cNvSpPr/>
          <p:nvPr/>
        </p:nvSpPr>
        <p:spPr>
          <a:xfrm>
            <a:off x="1466850" y="514350"/>
            <a:ext cx="3310540" cy="304800"/>
          </a:xfrm>
          <a:prstGeom prst="rect">
            <a:avLst/>
          </a:prstGeom>
          <a:noFill/>
          <a:ln/>
        </p:spPr>
        <p:txBody>
          <a:bodyPr wrap="square" lIns="0" tIns="0" rIns="0" bIns="0" rtlCol="0" anchor="t">
            <a:normAutofit/>
          </a:bodyPr>
          <a:lstStyle/>
          <a:p>
            <a:pPr marL="0" indent="0" algn="l">
              <a:buNone/>
            </a:pPr>
            <a:r>
              <a:rPr lang="en-US" sz="1800" kern="0" spc="0" dirty="0">
                <a:solidFill>
                  <a:srgbClr val="FFFFFF">
                    <a:alpha val="50000"/>
                  </a:srgbClr>
                </a:solidFill>
                <a:latin typeface="Helvetica Neue" pitchFamily="34" charset="0"/>
                <a:ea typeface="Helvetica Neue" pitchFamily="34" charset="-122"/>
                <a:cs typeface="Helvetica Neue" pitchFamily="34" charset="-120"/>
              </a:rPr>
              <a:t>LA APP EN EL CELULAR</a:t>
            </a:r>
            <a:endParaRPr lang="en-US" sz="1800" dirty="0"/>
          </a:p>
        </p:txBody>
      </p:sp>
      <p:sp>
        <p:nvSpPr>
          <p:cNvPr id="11" name="Shape 8"/>
          <p:cNvSpPr/>
          <p:nvPr/>
        </p:nvSpPr>
        <p:spPr>
          <a:xfrm>
            <a:off x="1047750" y="9267825"/>
            <a:ext cx="16192500" cy="9525"/>
          </a:xfrm>
          <a:prstGeom prst="rect">
            <a:avLst/>
          </a:prstGeom>
          <a:solidFill>
            <a:srgbClr val="BFDDF5">
              <a:alpha val="12000"/>
            </a:srgbClr>
          </a:solidFill>
          <a:ln/>
        </p:spPr>
        <p:txBody>
          <a:bodyPr/>
          <a:lstStyle/>
          <a:p>
            <a:endParaRPr lang="es-001"/>
          </a:p>
        </p:txBody>
      </p:sp>
      <p:pic>
        <p:nvPicPr>
          <p:cNvPr id="12" name="Image 1" descr="preencoded.png"/>
          <p:cNvPicPr>
            <a:picLocks noChangeAspect="1"/>
          </p:cNvPicPr>
          <p:nvPr/>
        </p:nvPicPr>
        <p:blipFill>
          <a:blip r:embed="rId4">
            <a:alphaModFix amt="85000"/>
          </a:blip>
          <a:stretch>
            <a:fillRect/>
          </a:stretch>
        </p:blipFill>
        <p:spPr>
          <a:xfrm>
            <a:off x="1047750" y="9486900"/>
            <a:ext cx="639961" cy="304800"/>
          </a:xfrm>
          <a:prstGeom prst="rect">
            <a:avLst/>
          </a:prstGeom>
        </p:spPr>
      </p:pic>
      <p:sp>
        <p:nvSpPr>
          <p:cNvPr id="13" name="Shape 9"/>
          <p:cNvSpPr/>
          <p:nvPr/>
        </p:nvSpPr>
        <p:spPr>
          <a:xfrm>
            <a:off x="1859161" y="9515475"/>
            <a:ext cx="9525" cy="247650"/>
          </a:xfrm>
          <a:prstGeom prst="rect">
            <a:avLst/>
          </a:prstGeom>
          <a:solidFill>
            <a:srgbClr val="BFDDF5">
              <a:alpha val="22000"/>
            </a:srgbClr>
          </a:solidFill>
          <a:ln/>
        </p:spPr>
        <p:txBody>
          <a:bodyPr/>
          <a:lstStyle/>
          <a:p>
            <a:endParaRPr lang="es-001"/>
          </a:p>
        </p:txBody>
      </p:sp>
      <p:pic>
        <p:nvPicPr>
          <p:cNvPr id="14" name="Image 2" descr="preencoded.png"/>
          <p:cNvPicPr>
            <a:picLocks noChangeAspect="1"/>
          </p:cNvPicPr>
          <p:nvPr/>
        </p:nvPicPr>
        <p:blipFill>
          <a:blip r:embed="rId5">
            <a:alphaModFix amt="85000"/>
          </a:blip>
          <a:stretch>
            <a:fillRect/>
          </a:stretch>
        </p:blipFill>
        <p:spPr>
          <a:xfrm>
            <a:off x="2040136" y="9534525"/>
            <a:ext cx="279350" cy="209550"/>
          </a:xfrm>
          <a:prstGeom prst="rect">
            <a:avLst/>
          </a:prstGeom>
        </p:spPr>
      </p:pic>
      <p:sp>
        <p:nvSpPr>
          <p:cNvPr id="15" name="Text 10"/>
          <p:cNvSpPr/>
          <p:nvPr/>
        </p:nvSpPr>
        <p:spPr>
          <a:xfrm>
            <a:off x="2490936" y="9501188"/>
            <a:ext cx="1122164" cy="314325"/>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50000"/>
                  </a:srgbClr>
                </a:solidFill>
                <a:latin typeface="Helvetica Neue" pitchFamily="34" charset="0"/>
                <a:ea typeface="Helvetica Neue" pitchFamily="34" charset="-122"/>
                <a:cs typeface="Helvetica Neue" pitchFamily="34" charset="-120"/>
              </a:rPr>
              <a:t>Lunetra IA</a:t>
            </a:r>
            <a:endParaRPr lang="en-US" sz="1800" dirty="0"/>
          </a:p>
        </p:txBody>
      </p:sp>
      <p:sp>
        <p:nvSpPr>
          <p:cNvPr id="16" name="Text 11"/>
          <p:cNvSpPr/>
          <p:nvPr/>
        </p:nvSpPr>
        <p:spPr>
          <a:xfrm>
            <a:off x="16528554" y="9501188"/>
            <a:ext cx="787896" cy="314325"/>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45000"/>
                  </a:srgbClr>
                </a:solidFill>
                <a:latin typeface="Helvetica Neue" pitchFamily="34" charset="0"/>
                <a:ea typeface="Helvetica Neue" pitchFamily="34" charset="-122"/>
                <a:cs typeface="Helvetica Neue" pitchFamily="34" charset="-120"/>
              </a:rPr>
              <a:t>10 / 13</a:t>
            </a:r>
            <a:endParaRPr lang="en-US" sz="1800" dirty="0"/>
          </a:p>
        </p:txBody>
      </p:sp>
      <p:sp>
        <p:nvSpPr>
          <p:cNvPr id="17" name="Text 7"/>
          <p:cNvSpPr/>
          <p:nvPr/>
        </p:nvSpPr>
        <p:spPr>
          <a:xfrm>
            <a:off x="1051560" y="1207008"/>
            <a:ext cx="13716000" cy="1463040"/>
          </a:xfrm>
          <a:prstGeom prst="rect">
            <a:avLst/>
          </a:prstGeom>
          <a:noFill/>
          <a:ln/>
        </p:spPr>
        <p:txBody>
          <a:bodyPr wrap="square" lIns="25400" tIns="25400" rIns="25400" bIns="25400" rtlCol="0" anchor="t">
            <a:normAutofit/>
          </a:bodyPr>
          <a:lstStyle/>
          <a:p>
            <a:pPr marL="0" indent="0" algn="l">
              <a:lnSpc>
                <a:spcPct val="90467"/>
              </a:lnSpc>
              <a:buNone/>
            </a:pPr>
            <a:r>
              <a:rPr lang="en-US" sz="5200" kern="0" spc="0" dirty="0">
                <a:gradFill rotWithShape="1">
                  <a:gsLst>
                    <a:gs pos="0">
                      <a:srgbClr val="6F7C8A">
                        <a:alpha val="99000"/>
                      </a:srgbClr>
                    </a:gs>
                    <a:gs pos="16000">
                      <a:srgbClr val="8E9AA8">
                        <a:alpha val="99000"/>
                      </a:srgbClr>
                    </a:gs>
                    <a:gs pos="44000">
                      <a:srgbClr val="FFFFFF">
                        <a:alpha val="99000"/>
                      </a:srgbClr>
                    </a:gs>
                    <a:gs pos="66000">
                      <a:srgbClr val="BFDDF5">
                        <a:alpha val="99000"/>
                      </a:srgbClr>
                    </a:gs>
                    <a:gs pos="100000">
                      <a:srgbClr val="88C1ED">
                        <a:alpha val="99000"/>
                      </a:srgbClr>
                    </a:gs>
                  </a:gsLst>
                  <a:lin ang="600000" scaled="0"/>
                </a:gradFill>
                <a:latin typeface="Helvetica Neue" pitchFamily="34" charset="0"/>
                <a:ea typeface="Helvetica Neue" pitchFamily="34" charset="-122"/>
                <a:cs typeface="Helvetica Neue" pitchFamily="34" charset="-120"/>
              </a:rPr>
              <a:t>Así se vería tu respuesta</a:t>
            </a:r>
            <a:endParaRPr lang="en-US" sz="5200" dirty="0"/>
          </a:p>
        </p:txBody>
      </p:sp>
      <p:sp>
        <p:nvSpPr>
          <p:cNvPr id="18" name="Text 8"/>
          <p:cNvSpPr/>
          <p:nvPr/>
        </p:nvSpPr>
        <p:spPr>
          <a:xfrm>
            <a:off x="1051560" y="2788920"/>
            <a:ext cx="14173200" cy="822960"/>
          </a:xfrm>
          <a:prstGeom prst="rect">
            <a:avLst/>
          </a:prstGeom>
          <a:noFill/>
          <a:ln/>
        </p:spPr>
        <p:txBody>
          <a:bodyPr wrap="square" lIns="25400" tIns="25400" rIns="25400" bIns="25400" rtlCol="0" anchor="t">
            <a:normAutofit/>
          </a:bodyPr>
          <a:lstStyle/>
          <a:p>
            <a:pPr marL="0" indent="0" algn="l">
              <a:lnSpc>
                <a:spcPct val="120833"/>
              </a:lnSpc>
              <a:buNone/>
            </a:pPr>
            <a:r>
              <a:rPr lang="en-US" sz="2250" dirty="0">
                <a:solidFill>
                  <a:srgbClr val="FFFFFF">
                    <a:alpha val="69000"/>
                  </a:srgbClr>
                </a:solidFill>
                <a:latin typeface="Helvetica Neue" pitchFamily="34" charset="0"/>
                <a:ea typeface="Helvetica Neue" pitchFamily="34" charset="-122"/>
                <a:cs typeface="Helvetica Neue" pitchFamily="34" charset="-120"/>
              </a:rPr>
              <a:t>Maqueta de la pantalla: la app todavía no está construida, pero el mensaje ya usa datos reales de Osinergmin.</a:t>
            </a:r>
            <a:endParaRPr lang="en-US" sz="2250" dirty="0"/>
          </a:p>
        </p:txBody>
      </p:sp>
      <p:sp>
        <p:nvSpPr>
          <p:cNvPr id="19" name="Shape 9"/>
          <p:cNvSpPr/>
          <p:nvPr/>
        </p:nvSpPr>
        <p:spPr>
          <a:xfrm>
            <a:off x="1051560" y="3977640"/>
            <a:ext cx="8001000" cy="4754880"/>
          </a:xfrm>
          <a:prstGeom prst="roundRect">
            <a:avLst>
              <a:gd name="adj" fmla="val 11111"/>
            </a:avLst>
          </a:prstGeom>
          <a:solidFill>
            <a:srgbClr val="FFFFFF">
              <a:alpha val="5000"/>
            </a:srgbClr>
          </a:solidFill>
          <a:ln w="9525">
            <a:solidFill>
              <a:srgbClr val="BFDDF5">
                <a:alpha val="15000"/>
              </a:srgbClr>
            </a:solidFill>
            <a:prstDash val="solid"/>
          </a:ln>
          <a:effectLst>
            <a:outerShdw blurRad="647700" dist="247650" dir="5400000" algn="bl" rotWithShape="0">
              <a:srgbClr val="000000">
                <a:alpha val="46080"/>
              </a:srgbClr>
            </a:outerShdw>
          </a:effectLst>
        </p:spPr>
        <p:txBody>
          <a:bodyPr/>
          <a:lstStyle/>
          <a:p>
            <a:endParaRPr lang="es-001"/>
          </a:p>
        </p:txBody>
      </p:sp>
      <p:sp>
        <p:nvSpPr>
          <p:cNvPr id="20" name="Text 3"/>
          <p:cNvSpPr/>
          <p:nvPr/>
        </p:nvSpPr>
        <p:spPr>
          <a:xfrm>
            <a:off x="1463040" y="4343400"/>
            <a:ext cx="7132320" cy="365760"/>
          </a:xfrm>
          <a:prstGeom prst="rect">
            <a:avLst/>
          </a:prstGeom>
          <a:noFill/>
          <a:ln/>
        </p:spPr>
        <p:txBody>
          <a:bodyPr wrap="square" lIns="0" tIns="0" rIns="0" bIns="0" rtlCol="0" anchor="t">
            <a:normAutofit/>
          </a:bodyPr>
          <a:lstStyle/>
          <a:p>
            <a:pPr marL="0" indent="0" algn="l">
              <a:buNone/>
            </a:pPr>
            <a:r>
              <a:rPr lang="en-US" sz="1800" kern="0" spc="0" dirty="0">
                <a:solidFill>
                  <a:srgbClr val="FFFFFF">
                    <a:alpha val="50000"/>
                  </a:srgbClr>
                </a:solidFill>
                <a:latin typeface="Helvetica Neue" pitchFamily="34" charset="0"/>
                <a:ea typeface="Helvetica Neue" pitchFamily="34" charset="-122"/>
                <a:cs typeface="Helvetica Neue" pitchFamily="34" charset="-120"/>
              </a:rPr>
              <a:t>MODELO DE CLASIFICACIÓN · EJEMPLO ILUSTRATIVO</a:t>
            </a:r>
            <a:endParaRPr lang="en-US" sz="1800" dirty="0"/>
          </a:p>
        </p:txBody>
      </p:sp>
      <p:sp>
        <p:nvSpPr>
          <p:cNvPr id="21" name="Text 7"/>
          <p:cNvSpPr/>
          <p:nvPr/>
        </p:nvSpPr>
        <p:spPr>
          <a:xfrm>
            <a:off x="1435608" y="4818888"/>
            <a:ext cx="7178040" cy="1097280"/>
          </a:xfrm>
          <a:prstGeom prst="rect">
            <a:avLst/>
          </a:prstGeom>
          <a:noFill/>
          <a:ln/>
        </p:spPr>
        <p:txBody>
          <a:bodyPr wrap="square" lIns="25400" tIns="25400" rIns="25400" bIns="25400" rtlCol="0" anchor="t">
            <a:normAutofit/>
          </a:bodyPr>
          <a:lstStyle/>
          <a:p>
            <a:pPr marL="0" indent="0" algn="l">
              <a:lnSpc>
                <a:spcPct val="90467"/>
              </a:lnSpc>
              <a:buNone/>
            </a:pPr>
            <a:r>
              <a:rPr lang="en-US" sz="3800" kern="0" spc="0" dirty="0">
                <a:gradFill rotWithShape="1">
                  <a:gsLst>
                    <a:gs pos="0">
                      <a:srgbClr val="6F7C8A">
                        <a:alpha val="99000"/>
                      </a:srgbClr>
                    </a:gs>
                    <a:gs pos="16000">
                      <a:srgbClr val="8E9AA8">
                        <a:alpha val="99000"/>
                      </a:srgbClr>
                    </a:gs>
                    <a:gs pos="44000">
                      <a:srgbClr val="FFFFFF">
                        <a:alpha val="99000"/>
                      </a:srgbClr>
                    </a:gs>
                    <a:gs pos="66000">
                      <a:srgbClr val="BFDDF5">
                        <a:alpha val="99000"/>
                      </a:srgbClr>
                    </a:gs>
                    <a:gs pos="100000">
                      <a:srgbClr val="88C1ED">
                        <a:alpha val="99000"/>
                      </a:srgbClr>
                    </a:gs>
                  </a:gsLst>
                  <a:lin ang="600000" scaled="0"/>
                </a:gradFill>
                <a:latin typeface="Helvetica Neue" pitchFamily="34" charset="0"/>
                <a:ea typeface="Helvetica Neue" pitchFamily="34" charset="-122"/>
                <a:cs typeface="Helvetica Neue" pitchFamily="34" charset="-120"/>
              </a:rPr>
              <a:t>Conviene cargar hoy</a:t>
            </a:r>
            <a:endParaRPr lang="en-US" sz="3800" dirty="0"/>
          </a:p>
        </p:txBody>
      </p:sp>
      <p:sp>
        <p:nvSpPr>
          <p:cNvPr id="22" name="Text 11"/>
          <p:cNvSpPr/>
          <p:nvPr/>
        </p:nvSpPr>
        <p:spPr>
          <a:xfrm>
            <a:off x="1463040" y="5943600"/>
            <a:ext cx="7178040" cy="1417320"/>
          </a:xfrm>
          <a:prstGeom prst="rect">
            <a:avLst/>
          </a:prstGeom>
          <a:noFill/>
          <a:ln/>
        </p:spPr>
        <p:txBody>
          <a:bodyPr wrap="square" lIns="25400" tIns="25400" rIns="25400" bIns="25400" rtlCol="0" anchor="t">
            <a:normAutofit/>
          </a:bodyPr>
          <a:lstStyle/>
          <a:p>
            <a:pPr marL="0" indent="0" algn="l">
              <a:lnSpc>
                <a:spcPct val="115862"/>
              </a:lnSpc>
              <a:buNone/>
            </a:pPr>
            <a:r>
              <a:rPr lang="en-US" sz="1750" dirty="0">
                <a:solidFill>
                  <a:srgbClr val="FFFFFF">
                    <a:alpha val="74000"/>
                  </a:srgbClr>
                </a:solidFill>
                <a:latin typeface="Helvetica Neue" pitchFamily="34" charset="0"/>
                <a:ea typeface="Helvetica Neue" pitchFamily="34" charset="-122"/>
                <a:cs typeface="Helvetica Neue" pitchFamily="34" charset="-120"/>
              </a:rPr>
              <a:t>El modelo no calcula un precio exacto: clasifica el próximo mes en tres categorías — sube, se mantiene o baja — y da una probabilidad para cada una. Esta frase es un ejemplo de cómo se traduciría esa probabilidad (semanas 7 a 9).</a:t>
            </a:r>
            <a:endParaRPr lang="en-US" sz="1750" dirty="0"/>
          </a:p>
        </p:txBody>
      </p:sp>
      <p:sp>
        <p:nvSpPr>
          <p:cNvPr id="23" name="Text 11"/>
          <p:cNvSpPr/>
          <p:nvPr/>
        </p:nvSpPr>
        <p:spPr>
          <a:xfrm>
            <a:off x="1463040" y="7589520"/>
            <a:ext cx="7178040" cy="1005840"/>
          </a:xfrm>
          <a:prstGeom prst="rect">
            <a:avLst/>
          </a:prstGeom>
          <a:noFill/>
          <a:ln/>
        </p:spPr>
        <p:txBody>
          <a:bodyPr wrap="square" lIns="25400" tIns="25400" rIns="25400" bIns="25400" rtlCol="0" anchor="t">
            <a:normAutofit/>
          </a:bodyPr>
          <a:lstStyle/>
          <a:p>
            <a:pPr marL="0" indent="0" algn="l">
              <a:lnSpc>
                <a:spcPct val="115862"/>
              </a:lnSpc>
              <a:buNone/>
            </a:pPr>
            <a:r>
              <a:rPr lang="en-US" sz="1600" dirty="0">
                <a:solidFill>
                  <a:srgbClr val="FFFFFF">
                    <a:alpha val="58000"/>
                  </a:srgbClr>
                </a:solidFill>
                <a:latin typeface="Helvetica Neue" pitchFamily="34" charset="0"/>
                <a:ea typeface="Helvetica Neue" pitchFamily="34" charset="-122"/>
                <a:cs typeface="Helvetica Neue" pitchFamily="34" charset="-120"/>
              </a:rPr>
              <a:t>El rango de precio sí es real: S/ 13.39 a S/ 15.70 por galón, dato oficial de Osinergmin del 28 de febrero de 2026.</a:t>
            </a:r>
            <a:endParaRPr lang="en-US" sz="1600" dirty="0"/>
          </a:p>
        </p:txBody>
      </p:sp>
      <p:sp>
        <p:nvSpPr>
          <p:cNvPr id="24" name="Shape 9"/>
          <p:cNvSpPr/>
          <p:nvPr/>
        </p:nvSpPr>
        <p:spPr>
          <a:xfrm>
            <a:off x="9372600" y="3977640"/>
            <a:ext cx="7863840" cy="4754880"/>
          </a:xfrm>
          <a:prstGeom prst="roundRect">
            <a:avLst>
              <a:gd name="adj" fmla="val 11111"/>
            </a:avLst>
          </a:prstGeom>
          <a:solidFill>
            <a:srgbClr val="FFFFFF">
              <a:alpha val="5000"/>
            </a:srgbClr>
          </a:solidFill>
          <a:ln w="9525">
            <a:solidFill>
              <a:srgbClr val="BFDDF5">
                <a:alpha val="15000"/>
              </a:srgbClr>
            </a:solidFill>
            <a:prstDash val="solid"/>
          </a:ln>
          <a:effectLst>
            <a:outerShdw blurRad="647700" dist="247650" dir="5400000" algn="bl" rotWithShape="0">
              <a:srgbClr val="000000">
                <a:alpha val="46080"/>
              </a:srgbClr>
            </a:outerShdw>
          </a:effectLst>
        </p:spPr>
        <p:txBody>
          <a:bodyPr/>
          <a:lstStyle/>
          <a:p>
            <a:endParaRPr lang="es-001"/>
          </a:p>
        </p:txBody>
      </p:sp>
      <p:sp>
        <p:nvSpPr>
          <p:cNvPr id="25" name="Text 3"/>
          <p:cNvSpPr/>
          <p:nvPr/>
        </p:nvSpPr>
        <p:spPr>
          <a:xfrm>
            <a:off x="9784080" y="4343400"/>
            <a:ext cx="6949440" cy="365760"/>
          </a:xfrm>
          <a:prstGeom prst="rect">
            <a:avLst/>
          </a:prstGeom>
          <a:noFill/>
          <a:ln/>
        </p:spPr>
        <p:txBody>
          <a:bodyPr wrap="square" lIns="0" tIns="0" rIns="0" bIns="0" rtlCol="0" anchor="t">
            <a:normAutofit/>
          </a:bodyPr>
          <a:lstStyle/>
          <a:p>
            <a:pPr marL="0" indent="0" algn="l">
              <a:buNone/>
            </a:pPr>
            <a:r>
              <a:rPr lang="en-US" sz="1800" kern="0" spc="0" dirty="0">
                <a:solidFill>
                  <a:srgbClr val="FFFFFF">
                    <a:alpha val="50000"/>
                  </a:srgbClr>
                </a:solidFill>
                <a:latin typeface="Helvetica Neue" pitchFamily="34" charset="0"/>
                <a:ea typeface="Helvetica Neue" pitchFamily="34" charset="-122"/>
                <a:cs typeface="Helvetica Neue" pitchFamily="34" charset="-120"/>
              </a:rPr>
              <a:t>POR QUÉ HACE FALTA UN MODELO</a:t>
            </a:r>
            <a:endParaRPr lang="en-US" sz="1800" dirty="0"/>
          </a:p>
        </p:txBody>
      </p:sp>
      <p:sp>
        <p:nvSpPr>
          <p:cNvPr id="26" name="Text 10"/>
          <p:cNvSpPr/>
          <p:nvPr/>
        </p:nvSpPr>
        <p:spPr>
          <a:xfrm>
            <a:off x="9784080" y="4846320"/>
            <a:ext cx="7040880" cy="502920"/>
          </a:xfrm>
          <a:prstGeom prst="rect">
            <a:avLst/>
          </a:prstGeom>
          <a:noFill/>
          <a:ln/>
        </p:spPr>
        <p:txBody>
          <a:bodyPr wrap="square" lIns="25400" tIns="25400" rIns="25400" bIns="25400" rtlCol="0" anchor="t">
            <a:normAutofit/>
          </a:bodyPr>
          <a:lstStyle/>
          <a:p>
            <a:pPr marL="0" indent="0" algn="l">
              <a:lnSpc>
                <a:spcPct val="82540"/>
              </a:lnSpc>
              <a:buNone/>
            </a:pPr>
            <a:r>
              <a:rPr lang="en-US" sz="2200" kern="0" spc="0" dirty="0">
                <a:solidFill>
                  <a:srgbClr val="FFFFFF">
                    <a:alpha val="92000"/>
                  </a:srgbClr>
                </a:solidFill>
                <a:latin typeface="Helvetica Neue" pitchFamily="34" charset="0"/>
                <a:ea typeface="Helvetica Neue" pitchFamily="34" charset="-122"/>
                <a:cs typeface="Helvetica Neue" pitchFamily="34" charset="-120"/>
              </a:rPr>
              <a:t>1 · El precio llega con retraso</a:t>
            </a:r>
            <a:endParaRPr lang="en-US" sz="2200" dirty="0"/>
          </a:p>
        </p:txBody>
      </p:sp>
      <p:sp>
        <p:nvSpPr>
          <p:cNvPr id="27" name="Text 11"/>
          <p:cNvSpPr/>
          <p:nvPr/>
        </p:nvSpPr>
        <p:spPr>
          <a:xfrm>
            <a:off x="9784080" y="5394960"/>
            <a:ext cx="7040880" cy="1234440"/>
          </a:xfrm>
          <a:prstGeom prst="rect">
            <a:avLst/>
          </a:prstGeom>
          <a:noFill/>
          <a:ln/>
        </p:spPr>
        <p:txBody>
          <a:bodyPr wrap="square" lIns="25400" tIns="25400" rIns="25400" bIns="25400" rtlCol="0" anchor="t">
            <a:normAutofit/>
          </a:bodyPr>
          <a:lstStyle/>
          <a:p>
            <a:pPr marL="0" indent="0" algn="l">
              <a:lnSpc>
                <a:spcPct val="115862"/>
              </a:lnSpc>
              <a:buNone/>
            </a:pPr>
            <a:r>
              <a:rPr lang="en-US" sz="1650" dirty="0">
                <a:solidFill>
                  <a:srgbClr val="FFFFFF">
                    <a:alpha val="66000"/>
                  </a:srgbClr>
                </a:solidFill>
                <a:latin typeface="Helvetica Neue" pitchFamily="34" charset="0"/>
                <a:ea typeface="Helvetica Neue" pitchFamily="34" charset="-122"/>
                <a:cs typeface="Helvetica Neue" pitchFamily="34" charset="-120"/>
              </a:rPr>
              <a:t>El precio del petróleo tarda de 2 a 6 semanas en llegar al surtidor, y no siempre al mismo ritmo. Una regla fija («si sube el petróleo, sube el grifo») no capta eso.</a:t>
            </a:r>
            <a:endParaRPr lang="en-US" sz="1650" dirty="0"/>
          </a:p>
        </p:txBody>
      </p:sp>
      <p:sp>
        <p:nvSpPr>
          <p:cNvPr id="28" name="Text 10"/>
          <p:cNvSpPr/>
          <p:nvPr/>
        </p:nvSpPr>
        <p:spPr>
          <a:xfrm>
            <a:off x="9784080" y="6766560"/>
            <a:ext cx="7040880" cy="777240"/>
          </a:xfrm>
          <a:prstGeom prst="rect">
            <a:avLst/>
          </a:prstGeom>
          <a:noFill/>
          <a:ln/>
        </p:spPr>
        <p:txBody>
          <a:bodyPr wrap="square" lIns="25400" tIns="25400" rIns="25400" bIns="25400" rtlCol="0" anchor="t">
            <a:normAutofit/>
          </a:bodyPr>
          <a:lstStyle/>
          <a:p>
            <a:pPr marL="0" indent="0" algn="l">
              <a:lnSpc>
                <a:spcPct val="82540"/>
              </a:lnSpc>
              <a:buNone/>
            </a:pPr>
            <a:r>
              <a:rPr lang="en-US" sz="2200" kern="0" spc="0" dirty="0">
                <a:solidFill>
                  <a:srgbClr val="FFFFFF">
                    <a:alpha val="92000"/>
                  </a:srgbClr>
                </a:solidFill>
                <a:latin typeface="Helvetica Neue" pitchFamily="34" charset="0"/>
                <a:ea typeface="Helvetica Neue" pitchFamily="34" charset="-122"/>
                <a:cs typeface="Helvetica Neue" pitchFamily="34" charset="-120"/>
              </a:rPr>
              <a:t>2 · Los dos errores no cuestan igual</a:t>
            </a:r>
            <a:endParaRPr lang="en-US" sz="2200" dirty="0"/>
          </a:p>
        </p:txBody>
      </p:sp>
      <p:sp>
        <p:nvSpPr>
          <p:cNvPr id="29" name="Text 11"/>
          <p:cNvSpPr/>
          <p:nvPr/>
        </p:nvSpPr>
        <p:spPr>
          <a:xfrm>
            <a:off x="9784080" y="7543800"/>
            <a:ext cx="7040880" cy="1097280"/>
          </a:xfrm>
          <a:prstGeom prst="rect">
            <a:avLst/>
          </a:prstGeom>
          <a:noFill/>
          <a:ln/>
        </p:spPr>
        <p:txBody>
          <a:bodyPr wrap="square" lIns="25400" tIns="25400" rIns="25400" bIns="25400" rtlCol="0" anchor="t">
            <a:normAutofit/>
          </a:bodyPr>
          <a:lstStyle/>
          <a:p>
            <a:pPr marL="0" indent="0" algn="l">
              <a:lnSpc>
                <a:spcPct val="115862"/>
              </a:lnSpc>
              <a:buNone/>
            </a:pPr>
            <a:r>
              <a:rPr lang="en-US" sz="1650" dirty="0">
                <a:solidFill>
                  <a:srgbClr val="FFFFFF">
                    <a:alpha val="66000"/>
                  </a:srgbClr>
                </a:solidFill>
                <a:latin typeface="Helvetica Neue" pitchFamily="34" charset="0"/>
                <a:ea typeface="Helvetica Neue" pitchFamily="34" charset="-122"/>
                <a:cs typeface="Helvetica Neue" pitchFamily="34" charset="-120"/>
              </a:rPr>
              <a:t>No avisar una subida le cuesta más caro al conductor que avisar una que no llega. El modelo aprende a preferir el error barato; una fórmula fija no distingue los dos.</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8182A">
                  <a:alpha val="100000"/>
                </a:srgbClr>
              </a:gs>
              <a:gs pos="48000">
                <a:srgbClr val="05101E">
                  <a:alpha val="100000"/>
                </a:srgbClr>
              </a:gs>
              <a:gs pos="100000">
                <a:srgbClr val="01050A">
                  <a:alpha val="100000"/>
                </a:srgbClr>
              </a:gs>
            </a:gsLst>
            <a:lin ang="4200000" scaled="0"/>
          </a:gradFill>
          <a:ln/>
        </p:spPr>
        <p:txBody>
          <a:bodyPr/>
          <a:lstStyle/>
          <a:p>
            <a:endParaRPr lang="es-001"/>
          </a:p>
        </p:txBody>
      </p:sp>
      <p:sp>
        <p:nvSpPr>
          <p:cNvPr id="3" name="Shape 1"/>
          <p:cNvSpPr/>
          <p:nvPr/>
        </p:nvSpPr>
        <p:spPr>
          <a:xfrm>
            <a:off x="-2823710" y="-1120344"/>
            <a:ext cx="23054521" cy="12968149"/>
          </a:xfrm>
          <a:prstGeom prst="rect">
            <a:avLst/>
          </a:prstGeom>
          <a:gradFill rotWithShape="1">
            <a:gsLst>
              <a:gs pos="0">
                <a:srgbClr val="88C1ED">
                  <a:alpha val="26000"/>
                </a:srgbClr>
              </a:gs>
              <a:gs pos="74000">
                <a:srgbClr val="88C1ED">
                  <a:alpha val="0"/>
                </a:srgbClr>
              </a:gs>
            </a:gsLst>
            <a:path path="circle">
              <a:fillToRect l="84000" t="92000" r="16000" b="8000"/>
            </a:path>
          </a:gradFill>
          <a:ln/>
        </p:spPr>
        <p:txBody>
          <a:bodyPr/>
          <a:lstStyle/>
          <a:p>
            <a:endParaRPr lang="es-001"/>
          </a:p>
        </p:txBody>
      </p:sp>
      <p:sp>
        <p:nvSpPr>
          <p:cNvPr id="4" name="Shape 2"/>
          <p:cNvSpPr/>
          <p:nvPr/>
        </p:nvSpPr>
        <p:spPr>
          <a:xfrm>
            <a:off x="0" y="0"/>
            <a:ext cx="18288000" cy="10287000"/>
          </a:xfrm>
          <a:prstGeom prst="rect">
            <a:avLst/>
          </a:prstGeom>
          <a:gradFill rotWithShape="1">
            <a:gsLst>
              <a:gs pos="38000">
                <a:srgbClr val="BFDDF5">
                  <a:alpha val="0"/>
                </a:srgbClr>
              </a:gs>
              <a:gs pos="49000">
                <a:srgbClr val="BFDDF5">
                  <a:alpha val="8000"/>
                </a:srgbClr>
              </a:gs>
              <a:gs pos="62000">
                <a:srgbClr val="BFDDF5">
                  <a:alpha val="0"/>
                </a:srgbClr>
              </a:gs>
            </a:gsLst>
            <a:lin ang="1680000" scaled="0"/>
          </a:gradFill>
          <a:ln/>
        </p:spPr>
        <p:txBody>
          <a:bodyPr/>
          <a:lstStyle/>
          <a:p>
            <a:endParaRPr lang="es-001"/>
          </a:p>
        </p:txBody>
      </p:sp>
      <p:sp>
        <p:nvSpPr>
          <p:cNvPr id="5" name="Shape 3"/>
          <p:cNvSpPr/>
          <p:nvPr/>
        </p:nvSpPr>
        <p:spPr>
          <a:xfrm>
            <a:off x="1047750" y="647700"/>
            <a:ext cx="285750" cy="9525"/>
          </a:xfrm>
          <a:prstGeom prst="rect">
            <a:avLst/>
          </a:prstGeom>
          <a:solidFill>
            <a:srgbClr val="BFDDF5">
              <a:alpha val="50000"/>
            </a:srgbClr>
          </a:solidFill>
          <a:ln/>
        </p:spPr>
        <p:txBody>
          <a:bodyPr/>
          <a:lstStyle/>
          <a:p>
            <a:endParaRPr lang="es-001"/>
          </a:p>
        </p:txBody>
      </p:sp>
      <p:sp>
        <p:nvSpPr>
          <p:cNvPr id="6" name="Text 4"/>
          <p:cNvSpPr/>
          <p:nvPr/>
        </p:nvSpPr>
        <p:spPr>
          <a:xfrm>
            <a:off x="1466850" y="514350"/>
            <a:ext cx="2450897" cy="304800"/>
          </a:xfrm>
          <a:prstGeom prst="rect">
            <a:avLst/>
          </a:prstGeom>
          <a:noFill/>
          <a:ln/>
        </p:spPr>
        <p:txBody>
          <a:bodyPr wrap="square" lIns="0" tIns="0" rIns="0" bIns="0" rtlCol="0" anchor="t">
            <a:normAutofit/>
          </a:bodyPr>
          <a:lstStyle/>
          <a:p>
            <a:pPr marL="0" indent="0" algn="l">
              <a:buNone/>
            </a:pPr>
            <a:r>
              <a:rPr lang="en-US" sz="1800" kern="0" spc="0" dirty="0">
                <a:solidFill>
                  <a:srgbClr val="FFFFFF">
                    <a:alpha val="50000"/>
                  </a:srgbClr>
                </a:solidFill>
                <a:latin typeface="Helvetica Neue" pitchFamily="34" charset="0"/>
                <a:ea typeface="Helvetica Neue" pitchFamily="34" charset="-122"/>
                <a:cs typeface="Helvetica Neue" pitchFamily="34" charset="-120"/>
              </a:rPr>
              <a:t>LO QUE NO HACE</a:t>
            </a:r>
            <a:endParaRPr lang="en-US" sz="1800" dirty="0"/>
          </a:p>
        </p:txBody>
      </p:sp>
      <p:sp>
        <p:nvSpPr>
          <p:cNvPr id="7" name="Shape 5"/>
          <p:cNvSpPr/>
          <p:nvPr/>
        </p:nvSpPr>
        <p:spPr>
          <a:xfrm>
            <a:off x="1047750" y="9267825"/>
            <a:ext cx="16192500" cy="9525"/>
          </a:xfrm>
          <a:prstGeom prst="rect">
            <a:avLst/>
          </a:prstGeom>
          <a:solidFill>
            <a:srgbClr val="BFDDF5">
              <a:alpha val="12000"/>
            </a:srgbClr>
          </a:solidFill>
          <a:ln/>
        </p:spPr>
        <p:txBody>
          <a:bodyPr/>
          <a:lstStyle/>
          <a:p>
            <a:endParaRPr lang="es-001"/>
          </a:p>
        </p:txBody>
      </p:sp>
      <p:pic>
        <p:nvPicPr>
          <p:cNvPr id="8" name="Image 0" descr="preencoded.png"/>
          <p:cNvPicPr>
            <a:picLocks noChangeAspect="1"/>
          </p:cNvPicPr>
          <p:nvPr/>
        </p:nvPicPr>
        <p:blipFill>
          <a:blip r:embed="rId3">
            <a:alphaModFix amt="85000"/>
          </a:blip>
          <a:stretch>
            <a:fillRect/>
          </a:stretch>
        </p:blipFill>
        <p:spPr>
          <a:xfrm>
            <a:off x="1047750" y="9486900"/>
            <a:ext cx="639961" cy="304800"/>
          </a:xfrm>
          <a:prstGeom prst="rect">
            <a:avLst/>
          </a:prstGeom>
        </p:spPr>
      </p:pic>
      <p:sp>
        <p:nvSpPr>
          <p:cNvPr id="9" name="Shape 6"/>
          <p:cNvSpPr/>
          <p:nvPr/>
        </p:nvSpPr>
        <p:spPr>
          <a:xfrm>
            <a:off x="1859161" y="9515475"/>
            <a:ext cx="9525" cy="247650"/>
          </a:xfrm>
          <a:prstGeom prst="rect">
            <a:avLst/>
          </a:prstGeom>
          <a:solidFill>
            <a:srgbClr val="BFDDF5">
              <a:alpha val="22000"/>
            </a:srgbClr>
          </a:solidFill>
          <a:ln/>
        </p:spPr>
        <p:txBody>
          <a:bodyPr/>
          <a:lstStyle/>
          <a:p>
            <a:endParaRPr lang="es-001"/>
          </a:p>
        </p:txBody>
      </p:sp>
      <p:pic>
        <p:nvPicPr>
          <p:cNvPr id="10" name="Image 1" descr="preencoded.png"/>
          <p:cNvPicPr>
            <a:picLocks noChangeAspect="1"/>
          </p:cNvPicPr>
          <p:nvPr/>
        </p:nvPicPr>
        <p:blipFill>
          <a:blip r:embed="rId4">
            <a:alphaModFix amt="85000"/>
          </a:blip>
          <a:stretch>
            <a:fillRect/>
          </a:stretch>
        </p:blipFill>
        <p:spPr>
          <a:xfrm>
            <a:off x="2040136" y="9534525"/>
            <a:ext cx="279350" cy="209550"/>
          </a:xfrm>
          <a:prstGeom prst="rect">
            <a:avLst/>
          </a:prstGeom>
        </p:spPr>
      </p:pic>
      <p:sp>
        <p:nvSpPr>
          <p:cNvPr id="11" name="Text 7"/>
          <p:cNvSpPr/>
          <p:nvPr/>
        </p:nvSpPr>
        <p:spPr>
          <a:xfrm>
            <a:off x="2490936" y="9501188"/>
            <a:ext cx="1122164" cy="314325"/>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50000"/>
                  </a:srgbClr>
                </a:solidFill>
                <a:latin typeface="Helvetica Neue" pitchFamily="34" charset="0"/>
                <a:ea typeface="Helvetica Neue" pitchFamily="34" charset="-122"/>
                <a:cs typeface="Helvetica Neue" pitchFamily="34" charset="-120"/>
              </a:rPr>
              <a:t>Lunetra IA</a:t>
            </a:r>
            <a:endParaRPr lang="en-US" sz="1800" dirty="0"/>
          </a:p>
        </p:txBody>
      </p:sp>
      <p:sp>
        <p:nvSpPr>
          <p:cNvPr id="12" name="Text 8"/>
          <p:cNvSpPr/>
          <p:nvPr/>
        </p:nvSpPr>
        <p:spPr>
          <a:xfrm>
            <a:off x="16528554" y="9501188"/>
            <a:ext cx="787896" cy="314325"/>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45000"/>
                  </a:srgbClr>
                </a:solidFill>
                <a:latin typeface="Helvetica Neue" pitchFamily="34" charset="0"/>
                <a:ea typeface="Helvetica Neue" pitchFamily="34" charset="-122"/>
                <a:cs typeface="Helvetica Neue" pitchFamily="34" charset="-120"/>
              </a:rPr>
              <a:t>11 / 13</a:t>
            </a:r>
            <a:endParaRPr lang="en-US" sz="1800" dirty="0"/>
          </a:p>
        </p:txBody>
      </p:sp>
      <p:sp>
        <p:nvSpPr>
          <p:cNvPr id="13" name="Text 7"/>
          <p:cNvSpPr/>
          <p:nvPr/>
        </p:nvSpPr>
        <p:spPr>
          <a:xfrm>
            <a:off x="1051560" y="1207008"/>
            <a:ext cx="15544800" cy="1463040"/>
          </a:xfrm>
          <a:prstGeom prst="rect">
            <a:avLst/>
          </a:prstGeom>
          <a:noFill/>
          <a:ln/>
        </p:spPr>
        <p:txBody>
          <a:bodyPr wrap="square" lIns="25400" tIns="25400" rIns="25400" bIns="25400" rtlCol="0" anchor="t">
            <a:normAutofit/>
          </a:bodyPr>
          <a:lstStyle/>
          <a:p>
            <a:pPr marL="0" indent="0" algn="l">
              <a:lnSpc>
                <a:spcPct val="90467"/>
              </a:lnSpc>
              <a:buNone/>
            </a:pPr>
            <a:r>
              <a:rPr lang="en-US" sz="4600" kern="0" spc="0" dirty="0">
                <a:gradFill rotWithShape="1">
                  <a:gsLst>
                    <a:gs pos="0">
                      <a:srgbClr val="6F7C8A">
                        <a:alpha val="99000"/>
                      </a:srgbClr>
                    </a:gs>
                    <a:gs pos="16000">
                      <a:srgbClr val="8E9AA8">
                        <a:alpha val="99000"/>
                      </a:srgbClr>
                    </a:gs>
                    <a:gs pos="44000">
                      <a:srgbClr val="FFFFFF">
                        <a:alpha val="99000"/>
                      </a:srgbClr>
                    </a:gs>
                    <a:gs pos="66000">
                      <a:srgbClr val="BFDDF5">
                        <a:alpha val="99000"/>
                      </a:srgbClr>
                    </a:gs>
                    <a:gs pos="100000">
                      <a:srgbClr val="88C1ED">
                        <a:alpha val="99000"/>
                      </a:srgbClr>
                    </a:gs>
                  </a:gsLst>
                  <a:lin ang="600000" scaled="0"/>
                </a:gradFill>
                <a:latin typeface="Helvetica Neue" pitchFamily="34" charset="0"/>
                <a:ea typeface="Helvetica Neue" pitchFamily="34" charset="-122"/>
                <a:cs typeface="Helvetica Neue" pitchFamily="34" charset="-120"/>
              </a:rPr>
              <a:t>Prometemos poco, y lo cumplimos bien</a:t>
            </a:r>
            <a:endParaRPr lang="en-US" sz="4600" dirty="0"/>
          </a:p>
        </p:txBody>
      </p:sp>
      <p:sp>
        <p:nvSpPr>
          <p:cNvPr id="14" name="Text 8"/>
          <p:cNvSpPr/>
          <p:nvPr/>
        </p:nvSpPr>
        <p:spPr>
          <a:xfrm>
            <a:off x="1051560" y="2880360"/>
            <a:ext cx="13716000" cy="822960"/>
          </a:xfrm>
          <a:prstGeom prst="rect">
            <a:avLst/>
          </a:prstGeom>
          <a:noFill/>
          <a:ln/>
        </p:spPr>
        <p:txBody>
          <a:bodyPr wrap="square" lIns="25400" tIns="25400" rIns="25400" bIns="25400" rtlCol="0" anchor="t">
            <a:normAutofit/>
          </a:bodyPr>
          <a:lstStyle/>
          <a:p>
            <a:pPr marL="0" indent="0" algn="l">
              <a:lnSpc>
                <a:spcPct val="120833"/>
              </a:lnSpc>
              <a:buNone/>
            </a:pPr>
            <a:r>
              <a:rPr lang="en-US" sz="2250" dirty="0">
                <a:solidFill>
                  <a:srgbClr val="FFFFFF">
                    <a:alpha val="69000"/>
                  </a:srgbClr>
                </a:solidFill>
                <a:latin typeface="Helvetica Neue" pitchFamily="34" charset="0"/>
                <a:ea typeface="Helvetica Neue" pitchFamily="34" charset="-122"/>
                <a:cs typeface="Helvetica Neue" pitchFamily="34" charset="-120"/>
              </a:rPr>
              <a:t>Así evitamos la trampa de ofrecer una app que no vamos a poder terminar a tiempo.</a:t>
            </a:r>
            <a:endParaRPr lang="en-US" sz="2250" dirty="0"/>
          </a:p>
        </p:txBody>
      </p:sp>
      <p:sp>
        <p:nvSpPr>
          <p:cNvPr id="15" name="Shape 9"/>
          <p:cNvSpPr/>
          <p:nvPr/>
        </p:nvSpPr>
        <p:spPr>
          <a:xfrm>
            <a:off x="1051560" y="4892040"/>
            <a:ext cx="3794760" cy="2697480"/>
          </a:xfrm>
          <a:prstGeom prst="roundRect">
            <a:avLst>
              <a:gd name="adj" fmla="val 11111"/>
            </a:avLst>
          </a:prstGeom>
          <a:solidFill>
            <a:srgbClr val="FFFFFF">
              <a:alpha val="5000"/>
            </a:srgbClr>
          </a:solidFill>
          <a:ln w="9525">
            <a:solidFill>
              <a:srgbClr val="BFDDF5">
                <a:alpha val="15000"/>
              </a:srgbClr>
            </a:solidFill>
            <a:prstDash val="solid"/>
          </a:ln>
          <a:effectLst>
            <a:outerShdw blurRad="647700" dist="247650" dir="5400000" algn="bl" rotWithShape="0">
              <a:srgbClr val="000000">
                <a:alpha val="46080"/>
              </a:srgbClr>
            </a:outerShdw>
          </a:effectLst>
        </p:spPr>
        <p:txBody>
          <a:bodyPr/>
          <a:lstStyle/>
          <a:p>
            <a:endParaRPr lang="es-001"/>
          </a:p>
        </p:txBody>
      </p:sp>
      <p:sp>
        <p:nvSpPr>
          <p:cNvPr id="16" name="Text 10"/>
          <p:cNvSpPr/>
          <p:nvPr/>
        </p:nvSpPr>
        <p:spPr>
          <a:xfrm>
            <a:off x="1344168" y="5166360"/>
            <a:ext cx="3246120" cy="777240"/>
          </a:xfrm>
          <a:prstGeom prst="rect">
            <a:avLst/>
          </a:prstGeom>
          <a:noFill/>
          <a:ln/>
        </p:spPr>
        <p:txBody>
          <a:bodyPr wrap="square" lIns="25400" tIns="25400" rIns="25400" bIns="25400" rtlCol="0" anchor="t">
            <a:normAutofit/>
          </a:bodyPr>
          <a:lstStyle/>
          <a:p>
            <a:pPr marL="0" indent="0" algn="l">
              <a:lnSpc>
                <a:spcPct val="82540"/>
              </a:lnSpc>
              <a:buNone/>
            </a:pPr>
            <a:r>
              <a:rPr lang="en-US" sz="3300" kern="0" spc="0" dirty="0">
                <a:solidFill>
                  <a:srgbClr val="FFFFFF">
                    <a:alpha val="92000"/>
                  </a:srgbClr>
                </a:solidFill>
                <a:latin typeface="Helvetica Neue" pitchFamily="34" charset="0"/>
                <a:ea typeface="Helvetica Neue" pitchFamily="34" charset="-122"/>
                <a:cs typeface="Helvetica Neue" pitchFamily="34" charset="-120"/>
              </a:rPr>
              <a:t>Sin GPS</a:t>
            </a:r>
            <a:endParaRPr lang="en-US" sz="3300" dirty="0"/>
          </a:p>
        </p:txBody>
      </p:sp>
      <p:sp>
        <p:nvSpPr>
          <p:cNvPr id="17" name="Text 11"/>
          <p:cNvSpPr/>
          <p:nvPr/>
        </p:nvSpPr>
        <p:spPr>
          <a:xfrm>
            <a:off x="1344168" y="6126480"/>
            <a:ext cx="3246120" cy="1280160"/>
          </a:xfrm>
          <a:prstGeom prst="rect">
            <a:avLst/>
          </a:prstGeom>
          <a:noFill/>
          <a:ln/>
        </p:spPr>
        <p:txBody>
          <a:bodyPr wrap="square" lIns="25400" tIns="25400" rIns="25400" bIns="25400" rtlCol="0" anchor="t">
            <a:normAutofit/>
          </a:bodyPr>
          <a:lstStyle/>
          <a:p>
            <a:pPr marL="0" indent="0" algn="l">
              <a:lnSpc>
                <a:spcPct val="115862"/>
              </a:lnSpc>
              <a:buNone/>
            </a:pPr>
            <a:r>
              <a:rPr lang="en-US" sz="1800" dirty="0">
                <a:solidFill>
                  <a:srgbClr val="FFFFFF">
                    <a:alpha val="63000"/>
                  </a:srgbClr>
                </a:solidFill>
                <a:latin typeface="Helvetica Neue" pitchFamily="34" charset="0"/>
                <a:ea typeface="Helvetica Neue" pitchFamily="34" charset="-122"/>
                <a:cs typeface="Helvetica Neue" pitchFamily="34" charset="-120"/>
              </a:rPr>
              <a:t>No busca el grifo más cercano: los reportes oficiales no traen la ubicación exacta de cada estación.</a:t>
            </a:r>
            <a:endParaRPr lang="en-US" sz="1800" dirty="0"/>
          </a:p>
        </p:txBody>
      </p:sp>
      <p:sp>
        <p:nvSpPr>
          <p:cNvPr id="18" name="Shape 9"/>
          <p:cNvSpPr/>
          <p:nvPr/>
        </p:nvSpPr>
        <p:spPr>
          <a:xfrm>
            <a:off x="5257800" y="4892040"/>
            <a:ext cx="3794760" cy="2697480"/>
          </a:xfrm>
          <a:prstGeom prst="roundRect">
            <a:avLst>
              <a:gd name="adj" fmla="val 11111"/>
            </a:avLst>
          </a:prstGeom>
          <a:solidFill>
            <a:srgbClr val="FFFFFF">
              <a:alpha val="5000"/>
            </a:srgbClr>
          </a:solidFill>
          <a:ln w="9525">
            <a:solidFill>
              <a:srgbClr val="BFDDF5">
                <a:alpha val="15000"/>
              </a:srgbClr>
            </a:solidFill>
            <a:prstDash val="solid"/>
          </a:ln>
          <a:effectLst>
            <a:outerShdw blurRad="647700" dist="247650" dir="5400000" algn="bl" rotWithShape="0">
              <a:srgbClr val="000000">
                <a:alpha val="46080"/>
              </a:srgbClr>
            </a:outerShdw>
          </a:effectLst>
        </p:spPr>
        <p:txBody>
          <a:bodyPr/>
          <a:lstStyle/>
          <a:p>
            <a:endParaRPr lang="es-001"/>
          </a:p>
        </p:txBody>
      </p:sp>
      <p:sp>
        <p:nvSpPr>
          <p:cNvPr id="19" name="Text 10"/>
          <p:cNvSpPr/>
          <p:nvPr/>
        </p:nvSpPr>
        <p:spPr>
          <a:xfrm>
            <a:off x="5550408" y="5166360"/>
            <a:ext cx="3246120" cy="777240"/>
          </a:xfrm>
          <a:prstGeom prst="rect">
            <a:avLst/>
          </a:prstGeom>
          <a:noFill/>
          <a:ln/>
        </p:spPr>
        <p:txBody>
          <a:bodyPr wrap="square" lIns="25400" tIns="25400" rIns="25400" bIns="25400" rtlCol="0" anchor="t">
            <a:normAutofit/>
          </a:bodyPr>
          <a:lstStyle/>
          <a:p>
            <a:pPr marL="0" indent="0" algn="l">
              <a:lnSpc>
                <a:spcPct val="82540"/>
              </a:lnSpc>
              <a:buNone/>
            </a:pPr>
            <a:r>
              <a:rPr lang="en-US" sz="3300" kern="0" spc="0" dirty="0">
                <a:solidFill>
                  <a:srgbClr val="FFFFFF">
                    <a:alpha val="92000"/>
                  </a:srgbClr>
                </a:solidFill>
                <a:latin typeface="Helvetica Neue" pitchFamily="34" charset="0"/>
                <a:ea typeface="Helvetica Neue" pitchFamily="34" charset="-122"/>
                <a:cs typeface="Helvetica Neue" pitchFamily="34" charset="-120"/>
              </a:rPr>
              <a:t>Sin rutas</a:t>
            </a:r>
            <a:endParaRPr lang="en-US" sz="3300" dirty="0"/>
          </a:p>
        </p:txBody>
      </p:sp>
      <p:sp>
        <p:nvSpPr>
          <p:cNvPr id="20" name="Text 11"/>
          <p:cNvSpPr/>
          <p:nvPr/>
        </p:nvSpPr>
        <p:spPr>
          <a:xfrm>
            <a:off x="5550408" y="6126480"/>
            <a:ext cx="3246120" cy="1280160"/>
          </a:xfrm>
          <a:prstGeom prst="rect">
            <a:avLst/>
          </a:prstGeom>
          <a:noFill/>
          <a:ln/>
        </p:spPr>
        <p:txBody>
          <a:bodyPr wrap="square" lIns="25400" tIns="25400" rIns="25400" bIns="25400" rtlCol="0" anchor="t">
            <a:normAutofit/>
          </a:bodyPr>
          <a:lstStyle/>
          <a:p>
            <a:pPr marL="0" indent="0" algn="l">
              <a:lnSpc>
                <a:spcPct val="115862"/>
              </a:lnSpc>
              <a:buNone/>
            </a:pPr>
            <a:r>
              <a:rPr lang="en-US" sz="1800" dirty="0">
                <a:solidFill>
                  <a:srgbClr val="FFFFFF">
                    <a:alpha val="63000"/>
                  </a:srgbClr>
                </a:solidFill>
                <a:latin typeface="Helvetica Neue" pitchFamily="34" charset="0"/>
                <a:ea typeface="Helvetica Neue" pitchFamily="34" charset="-122"/>
                <a:cs typeface="Helvetica Neue" pitchFamily="34" charset="-120"/>
              </a:rPr>
              <a:t>No traza caminos ni te navega de un punto a otro.</a:t>
            </a:r>
            <a:endParaRPr lang="en-US" sz="1800" dirty="0"/>
          </a:p>
        </p:txBody>
      </p:sp>
      <p:sp>
        <p:nvSpPr>
          <p:cNvPr id="21" name="Shape 9"/>
          <p:cNvSpPr/>
          <p:nvPr/>
        </p:nvSpPr>
        <p:spPr>
          <a:xfrm>
            <a:off x="9464040" y="4892040"/>
            <a:ext cx="3794760" cy="2697480"/>
          </a:xfrm>
          <a:prstGeom prst="roundRect">
            <a:avLst>
              <a:gd name="adj" fmla="val 11111"/>
            </a:avLst>
          </a:prstGeom>
          <a:solidFill>
            <a:srgbClr val="FFFFFF">
              <a:alpha val="5000"/>
            </a:srgbClr>
          </a:solidFill>
          <a:ln w="9525">
            <a:solidFill>
              <a:srgbClr val="BFDDF5">
                <a:alpha val="15000"/>
              </a:srgbClr>
            </a:solidFill>
            <a:prstDash val="solid"/>
          </a:ln>
          <a:effectLst>
            <a:outerShdw blurRad="647700" dist="247650" dir="5400000" algn="bl" rotWithShape="0">
              <a:srgbClr val="000000">
                <a:alpha val="46080"/>
              </a:srgbClr>
            </a:outerShdw>
          </a:effectLst>
        </p:spPr>
        <p:txBody>
          <a:bodyPr/>
          <a:lstStyle/>
          <a:p>
            <a:endParaRPr lang="es-001"/>
          </a:p>
        </p:txBody>
      </p:sp>
      <p:sp>
        <p:nvSpPr>
          <p:cNvPr id="22" name="Text 10"/>
          <p:cNvSpPr/>
          <p:nvPr/>
        </p:nvSpPr>
        <p:spPr>
          <a:xfrm>
            <a:off x="9756648" y="5166360"/>
            <a:ext cx="3246120" cy="777240"/>
          </a:xfrm>
          <a:prstGeom prst="rect">
            <a:avLst/>
          </a:prstGeom>
          <a:noFill/>
          <a:ln/>
        </p:spPr>
        <p:txBody>
          <a:bodyPr wrap="square" lIns="25400" tIns="25400" rIns="25400" bIns="25400" rtlCol="0" anchor="t">
            <a:normAutofit/>
          </a:bodyPr>
          <a:lstStyle/>
          <a:p>
            <a:pPr marL="0" indent="0" algn="l">
              <a:lnSpc>
                <a:spcPct val="82540"/>
              </a:lnSpc>
              <a:buNone/>
            </a:pPr>
            <a:r>
              <a:rPr lang="en-US" sz="3300" kern="0" spc="0" dirty="0">
                <a:solidFill>
                  <a:srgbClr val="FFFFFF">
                    <a:alpha val="92000"/>
                  </a:srgbClr>
                </a:solidFill>
                <a:latin typeface="Helvetica Neue" pitchFamily="34" charset="0"/>
                <a:ea typeface="Helvetica Neue" pitchFamily="34" charset="-122"/>
                <a:cs typeface="Helvetica Neue" pitchFamily="34" charset="-120"/>
              </a:rPr>
              <a:t>Sin pagos</a:t>
            </a:r>
            <a:endParaRPr lang="en-US" sz="3300" dirty="0"/>
          </a:p>
        </p:txBody>
      </p:sp>
      <p:sp>
        <p:nvSpPr>
          <p:cNvPr id="23" name="Text 11"/>
          <p:cNvSpPr/>
          <p:nvPr/>
        </p:nvSpPr>
        <p:spPr>
          <a:xfrm>
            <a:off x="9756648" y="6126480"/>
            <a:ext cx="3246120" cy="1280160"/>
          </a:xfrm>
          <a:prstGeom prst="rect">
            <a:avLst/>
          </a:prstGeom>
          <a:noFill/>
          <a:ln/>
        </p:spPr>
        <p:txBody>
          <a:bodyPr wrap="square" lIns="25400" tIns="25400" rIns="25400" bIns="25400" rtlCol="0" anchor="t">
            <a:normAutofit/>
          </a:bodyPr>
          <a:lstStyle/>
          <a:p>
            <a:pPr marL="0" indent="0" algn="l">
              <a:lnSpc>
                <a:spcPct val="115862"/>
              </a:lnSpc>
              <a:buNone/>
            </a:pPr>
            <a:r>
              <a:rPr lang="en-US" sz="1800" dirty="0">
                <a:solidFill>
                  <a:srgbClr val="FFFFFF">
                    <a:alpha val="63000"/>
                  </a:srgbClr>
                </a:solidFill>
                <a:latin typeface="Helvetica Neue" pitchFamily="34" charset="0"/>
                <a:ea typeface="Helvetica Neue" pitchFamily="34" charset="-122"/>
                <a:cs typeface="Helvetica Neue" pitchFamily="34" charset="-120"/>
              </a:rPr>
              <a:t>No cobra ni paga dentro de la app. Solo te aconseja.</a:t>
            </a:r>
            <a:endParaRPr lang="en-US" sz="1800" dirty="0"/>
          </a:p>
        </p:txBody>
      </p:sp>
      <p:sp>
        <p:nvSpPr>
          <p:cNvPr id="24" name="Shape 9"/>
          <p:cNvSpPr/>
          <p:nvPr/>
        </p:nvSpPr>
        <p:spPr>
          <a:xfrm>
            <a:off x="13670280" y="4892040"/>
            <a:ext cx="3794760" cy="2697480"/>
          </a:xfrm>
          <a:prstGeom prst="roundRect">
            <a:avLst>
              <a:gd name="adj" fmla="val 11111"/>
            </a:avLst>
          </a:prstGeom>
          <a:solidFill>
            <a:srgbClr val="FFFFFF">
              <a:alpha val="5000"/>
            </a:srgbClr>
          </a:solidFill>
          <a:ln w="9525">
            <a:solidFill>
              <a:srgbClr val="BFDDF5">
                <a:alpha val="15000"/>
              </a:srgbClr>
            </a:solidFill>
            <a:prstDash val="solid"/>
          </a:ln>
          <a:effectLst>
            <a:outerShdw blurRad="647700" dist="247650" dir="5400000" algn="bl" rotWithShape="0">
              <a:srgbClr val="000000">
                <a:alpha val="46080"/>
              </a:srgbClr>
            </a:outerShdw>
          </a:effectLst>
        </p:spPr>
        <p:txBody>
          <a:bodyPr/>
          <a:lstStyle/>
          <a:p>
            <a:endParaRPr lang="es-001"/>
          </a:p>
        </p:txBody>
      </p:sp>
      <p:sp>
        <p:nvSpPr>
          <p:cNvPr id="25" name="Text 10"/>
          <p:cNvSpPr/>
          <p:nvPr/>
        </p:nvSpPr>
        <p:spPr>
          <a:xfrm>
            <a:off x="13962888" y="5166360"/>
            <a:ext cx="3246120" cy="777240"/>
          </a:xfrm>
          <a:prstGeom prst="rect">
            <a:avLst/>
          </a:prstGeom>
          <a:noFill/>
          <a:ln/>
        </p:spPr>
        <p:txBody>
          <a:bodyPr wrap="square" lIns="25400" tIns="25400" rIns="25400" bIns="25400" rtlCol="0" anchor="t">
            <a:normAutofit/>
          </a:bodyPr>
          <a:lstStyle/>
          <a:p>
            <a:pPr marL="0" indent="0" algn="l">
              <a:lnSpc>
                <a:spcPct val="82540"/>
              </a:lnSpc>
              <a:buNone/>
            </a:pPr>
            <a:r>
              <a:rPr lang="en-US" sz="3300" kern="0" spc="0" dirty="0">
                <a:solidFill>
                  <a:srgbClr val="FFFFFF">
                    <a:alpha val="92000"/>
                  </a:srgbClr>
                </a:solidFill>
                <a:latin typeface="Helvetica Neue" pitchFamily="34" charset="0"/>
                <a:ea typeface="Helvetica Neue" pitchFamily="34" charset="-122"/>
                <a:cs typeface="Helvetica Neue" pitchFamily="34" charset="-120"/>
              </a:rPr>
              <a:t>Sin instalar nada</a:t>
            </a:r>
            <a:endParaRPr lang="en-US" sz="3300" dirty="0"/>
          </a:p>
        </p:txBody>
      </p:sp>
      <p:sp>
        <p:nvSpPr>
          <p:cNvPr id="26" name="Text 11"/>
          <p:cNvSpPr/>
          <p:nvPr/>
        </p:nvSpPr>
        <p:spPr>
          <a:xfrm>
            <a:off x="13962888" y="6126480"/>
            <a:ext cx="3246120" cy="1280160"/>
          </a:xfrm>
          <a:prstGeom prst="rect">
            <a:avLst/>
          </a:prstGeom>
          <a:noFill/>
          <a:ln/>
        </p:spPr>
        <p:txBody>
          <a:bodyPr wrap="square" lIns="25400" tIns="25400" rIns="25400" bIns="25400" rtlCol="0" anchor="t">
            <a:normAutofit/>
          </a:bodyPr>
          <a:lstStyle/>
          <a:p>
            <a:pPr marL="0" indent="0" algn="l">
              <a:lnSpc>
                <a:spcPct val="115862"/>
              </a:lnSpc>
              <a:buNone/>
            </a:pPr>
            <a:r>
              <a:rPr lang="en-US" sz="1800" dirty="0">
                <a:solidFill>
                  <a:srgbClr val="FFFFFF">
                    <a:alpha val="63000"/>
                  </a:srgbClr>
                </a:solidFill>
                <a:latin typeface="Helvetica Neue" pitchFamily="34" charset="0"/>
                <a:ea typeface="Helvetica Neue" pitchFamily="34" charset="-122"/>
                <a:cs typeface="Helvetica Neue" pitchFamily="34" charset="-120"/>
              </a:rPr>
              <a:t>No es una app de tienda. Es una página web que abres desde el navegador.</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C2239">
                  <a:alpha val="100000"/>
                </a:srgbClr>
              </a:gs>
              <a:gs pos="56000">
                <a:srgbClr val="06101C">
                  <a:alpha val="100000"/>
                </a:srgbClr>
              </a:gs>
              <a:gs pos="100000">
                <a:srgbClr val="000000">
                  <a:alpha val="100000"/>
                </a:srgbClr>
              </a:gs>
            </a:gsLst>
            <a:path path="circle">
              <a:fillToRect l="50000" t="38000" r="50000" b="62000"/>
            </a:path>
          </a:gradFill>
          <a:ln/>
        </p:spPr>
        <p:txBody>
          <a:bodyPr/>
          <a:lstStyle/>
          <a:p>
            <a:endParaRPr lang="es-001"/>
          </a:p>
        </p:txBody>
      </p:sp>
      <p:sp>
        <p:nvSpPr>
          <p:cNvPr id="3" name="Shape 1"/>
          <p:cNvSpPr/>
          <p:nvPr/>
        </p:nvSpPr>
        <p:spPr>
          <a:xfrm>
            <a:off x="-2787717" y="-2352919"/>
            <a:ext cx="25233318" cy="14193741"/>
          </a:xfrm>
          <a:prstGeom prst="rect">
            <a:avLst/>
          </a:prstGeom>
          <a:gradFill rotWithShape="1">
            <a:gsLst>
              <a:gs pos="0">
                <a:srgbClr val="88C1ED">
                  <a:alpha val="34000"/>
                </a:srgbClr>
              </a:gs>
              <a:gs pos="40000">
                <a:srgbClr val="4686B7">
                  <a:alpha val="18000"/>
                </a:srgbClr>
              </a:gs>
              <a:gs pos="78000">
                <a:srgbClr val="4686B7">
                  <a:alpha val="0"/>
                </a:srgbClr>
              </a:gs>
            </a:gsLst>
            <a:path path="circle">
              <a:fillToRect l="50000" t="100000" r="50000"/>
            </a:path>
          </a:gradFill>
          <a:ln/>
        </p:spPr>
        <p:txBody>
          <a:bodyPr/>
          <a:lstStyle/>
          <a:p>
            <a:endParaRPr lang="es-001"/>
          </a:p>
        </p:txBody>
      </p:sp>
      <p:sp>
        <p:nvSpPr>
          <p:cNvPr id="4" name="Shape 2"/>
          <p:cNvSpPr/>
          <p:nvPr/>
        </p:nvSpPr>
        <p:spPr>
          <a:xfrm>
            <a:off x="-4572000" y="2743200"/>
            <a:ext cx="27432000" cy="8382000"/>
          </a:xfrm>
          <a:prstGeom prst="rect">
            <a:avLst/>
          </a:prstGeom>
          <a:gradFill rotWithShape="1">
            <a:gsLst>
              <a:gs pos="0">
                <a:srgbClr val="EAF4FC">
                  <a:alpha val="70000"/>
                </a:srgbClr>
              </a:gs>
              <a:gs pos="22000">
                <a:srgbClr val="88C1ED">
                  <a:alpha val="46000"/>
                </a:srgbClr>
              </a:gs>
              <a:gs pos="45000">
                <a:srgbClr val="4686B7">
                  <a:alpha val="28000"/>
                </a:srgbClr>
              </a:gs>
              <a:gs pos="68000">
                <a:srgbClr val="123A5C">
                  <a:alpha val="14000"/>
                </a:srgbClr>
              </a:gs>
              <a:gs pos="86000">
                <a:srgbClr val="123A5C">
                  <a:alpha val="0"/>
                </a:srgbClr>
              </a:gs>
            </a:gsLst>
            <a:path path="circle">
              <a:fillToRect l="50000" t="100000" r="50000"/>
            </a:path>
          </a:gradFill>
          <a:ln/>
        </p:spPr>
        <p:txBody>
          <a:bodyPr/>
          <a:lstStyle/>
          <a:p>
            <a:endParaRPr lang="es-001"/>
          </a:p>
        </p:txBody>
      </p:sp>
      <p:sp>
        <p:nvSpPr>
          <p:cNvPr id="9" name="Shape 6"/>
          <p:cNvSpPr/>
          <p:nvPr/>
        </p:nvSpPr>
        <p:spPr>
          <a:xfrm>
            <a:off x="1047750" y="647700"/>
            <a:ext cx="285750" cy="9525"/>
          </a:xfrm>
          <a:prstGeom prst="rect">
            <a:avLst/>
          </a:prstGeom>
          <a:solidFill>
            <a:srgbClr val="BFDDF5">
              <a:alpha val="50000"/>
            </a:srgbClr>
          </a:solidFill>
          <a:ln/>
        </p:spPr>
        <p:txBody>
          <a:bodyPr/>
          <a:lstStyle/>
          <a:p>
            <a:endParaRPr lang="es-001"/>
          </a:p>
        </p:txBody>
      </p:sp>
      <p:sp>
        <p:nvSpPr>
          <p:cNvPr id="10" name="Text 7"/>
          <p:cNvSpPr/>
          <p:nvPr/>
        </p:nvSpPr>
        <p:spPr>
          <a:xfrm>
            <a:off x="1466850" y="514350"/>
            <a:ext cx="2215896" cy="304800"/>
          </a:xfrm>
          <a:prstGeom prst="rect">
            <a:avLst/>
          </a:prstGeom>
          <a:noFill/>
          <a:ln/>
        </p:spPr>
        <p:txBody>
          <a:bodyPr wrap="square" lIns="0" tIns="0" rIns="0" bIns="0" rtlCol="0" anchor="t">
            <a:normAutofit/>
          </a:bodyPr>
          <a:lstStyle/>
          <a:p>
            <a:pPr marL="0" indent="0" algn="l">
              <a:buNone/>
            </a:pPr>
            <a:r>
              <a:rPr lang="en-US" sz="1800" kern="0" spc="0" dirty="0">
                <a:solidFill>
                  <a:srgbClr val="FFFFFF">
                    <a:alpha val="50000"/>
                  </a:srgbClr>
                </a:solidFill>
                <a:latin typeface="Helvetica Neue" pitchFamily="34" charset="0"/>
                <a:ea typeface="Helvetica Neue" pitchFamily="34" charset="-122"/>
                <a:cs typeface="Helvetica Neue" pitchFamily="34" charset="-120"/>
              </a:rPr>
              <a:t>QUÉ NOS FALTA</a:t>
            </a:r>
            <a:endParaRPr lang="en-US" sz="1800" dirty="0"/>
          </a:p>
        </p:txBody>
      </p:sp>
      <p:sp>
        <p:nvSpPr>
          <p:cNvPr id="11" name="Shape 8"/>
          <p:cNvSpPr/>
          <p:nvPr/>
        </p:nvSpPr>
        <p:spPr>
          <a:xfrm>
            <a:off x="1047750" y="9267825"/>
            <a:ext cx="16192500" cy="9525"/>
          </a:xfrm>
          <a:prstGeom prst="rect">
            <a:avLst/>
          </a:prstGeom>
          <a:solidFill>
            <a:srgbClr val="BFDDF5">
              <a:alpha val="12000"/>
            </a:srgbClr>
          </a:solidFill>
          <a:ln/>
        </p:spPr>
        <p:txBody>
          <a:bodyPr/>
          <a:lstStyle/>
          <a:p>
            <a:endParaRPr lang="es-001"/>
          </a:p>
        </p:txBody>
      </p:sp>
      <p:pic>
        <p:nvPicPr>
          <p:cNvPr id="12" name="Image 1" descr="preencoded.png"/>
          <p:cNvPicPr>
            <a:picLocks noChangeAspect="1"/>
          </p:cNvPicPr>
          <p:nvPr/>
        </p:nvPicPr>
        <p:blipFill>
          <a:blip r:embed="rId4">
            <a:alphaModFix amt="85000"/>
          </a:blip>
          <a:stretch>
            <a:fillRect/>
          </a:stretch>
        </p:blipFill>
        <p:spPr>
          <a:xfrm>
            <a:off x="1047750" y="9486900"/>
            <a:ext cx="639961" cy="304800"/>
          </a:xfrm>
          <a:prstGeom prst="rect">
            <a:avLst/>
          </a:prstGeom>
        </p:spPr>
      </p:pic>
      <p:sp>
        <p:nvSpPr>
          <p:cNvPr id="13" name="Shape 9"/>
          <p:cNvSpPr/>
          <p:nvPr/>
        </p:nvSpPr>
        <p:spPr>
          <a:xfrm>
            <a:off x="1859161" y="9515475"/>
            <a:ext cx="9525" cy="247650"/>
          </a:xfrm>
          <a:prstGeom prst="rect">
            <a:avLst/>
          </a:prstGeom>
          <a:solidFill>
            <a:srgbClr val="BFDDF5">
              <a:alpha val="22000"/>
            </a:srgbClr>
          </a:solidFill>
          <a:ln/>
        </p:spPr>
        <p:txBody>
          <a:bodyPr/>
          <a:lstStyle/>
          <a:p>
            <a:endParaRPr lang="es-001"/>
          </a:p>
        </p:txBody>
      </p:sp>
      <p:pic>
        <p:nvPicPr>
          <p:cNvPr id="14" name="Image 2" descr="preencoded.png"/>
          <p:cNvPicPr>
            <a:picLocks noChangeAspect="1"/>
          </p:cNvPicPr>
          <p:nvPr/>
        </p:nvPicPr>
        <p:blipFill>
          <a:blip r:embed="rId5">
            <a:alphaModFix amt="85000"/>
          </a:blip>
          <a:stretch>
            <a:fillRect/>
          </a:stretch>
        </p:blipFill>
        <p:spPr>
          <a:xfrm>
            <a:off x="2040136" y="9534525"/>
            <a:ext cx="279350" cy="209550"/>
          </a:xfrm>
          <a:prstGeom prst="rect">
            <a:avLst/>
          </a:prstGeom>
        </p:spPr>
      </p:pic>
      <p:sp>
        <p:nvSpPr>
          <p:cNvPr id="15" name="Text 10"/>
          <p:cNvSpPr/>
          <p:nvPr/>
        </p:nvSpPr>
        <p:spPr>
          <a:xfrm>
            <a:off x="2490936" y="9501188"/>
            <a:ext cx="1122164" cy="314325"/>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50000"/>
                  </a:srgbClr>
                </a:solidFill>
                <a:latin typeface="Helvetica Neue" pitchFamily="34" charset="0"/>
                <a:ea typeface="Helvetica Neue" pitchFamily="34" charset="-122"/>
                <a:cs typeface="Helvetica Neue" pitchFamily="34" charset="-120"/>
              </a:rPr>
              <a:t>Lunetra IA</a:t>
            </a:r>
            <a:endParaRPr lang="en-US" sz="1800" dirty="0"/>
          </a:p>
        </p:txBody>
      </p:sp>
      <p:sp>
        <p:nvSpPr>
          <p:cNvPr id="16" name="Text 11"/>
          <p:cNvSpPr/>
          <p:nvPr/>
        </p:nvSpPr>
        <p:spPr>
          <a:xfrm>
            <a:off x="16528554" y="9501188"/>
            <a:ext cx="787896" cy="314325"/>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45000"/>
                  </a:srgbClr>
                </a:solidFill>
                <a:latin typeface="Helvetica Neue" pitchFamily="34" charset="0"/>
                <a:ea typeface="Helvetica Neue" pitchFamily="34" charset="-122"/>
                <a:cs typeface="Helvetica Neue" pitchFamily="34" charset="-120"/>
              </a:rPr>
              <a:t>12 / 13</a:t>
            </a:r>
            <a:endParaRPr lang="en-US" sz="1800" dirty="0"/>
          </a:p>
        </p:txBody>
      </p:sp>
      <p:sp>
        <p:nvSpPr>
          <p:cNvPr id="17" name="Text 7"/>
          <p:cNvSpPr/>
          <p:nvPr/>
        </p:nvSpPr>
        <p:spPr>
          <a:xfrm>
            <a:off x="1051560" y="1207008"/>
            <a:ext cx="15544800" cy="1463040"/>
          </a:xfrm>
          <a:prstGeom prst="rect">
            <a:avLst/>
          </a:prstGeom>
          <a:noFill/>
          <a:ln/>
        </p:spPr>
        <p:txBody>
          <a:bodyPr wrap="square" lIns="25400" tIns="25400" rIns="25400" bIns="25400" rtlCol="0" anchor="t">
            <a:normAutofit/>
          </a:bodyPr>
          <a:lstStyle/>
          <a:p>
            <a:pPr marL="0" indent="0" algn="l">
              <a:lnSpc>
                <a:spcPct val="90467"/>
              </a:lnSpc>
              <a:buNone/>
            </a:pPr>
            <a:r>
              <a:rPr lang="en-US" sz="4600" kern="0" spc="0" dirty="0">
                <a:gradFill rotWithShape="1">
                  <a:gsLst>
                    <a:gs pos="0">
                      <a:srgbClr val="6F7C8A">
                        <a:alpha val="99000"/>
                      </a:srgbClr>
                    </a:gs>
                    <a:gs pos="16000">
                      <a:srgbClr val="8E9AA8">
                        <a:alpha val="99000"/>
                      </a:srgbClr>
                    </a:gs>
                    <a:gs pos="44000">
                      <a:srgbClr val="FFFFFF">
                        <a:alpha val="99000"/>
                      </a:srgbClr>
                    </a:gs>
                    <a:gs pos="66000">
                      <a:srgbClr val="BFDDF5">
                        <a:alpha val="99000"/>
                      </a:srgbClr>
                    </a:gs>
                    <a:gs pos="100000">
                      <a:srgbClr val="88C1ED">
                        <a:alpha val="99000"/>
                      </a:srgbClr>
                    </a:gs>
                  </a:gsLst>
                  <a:lin ang="600000" scaled="0"/>
                </a:gradFill>
                <a:latin typeface="Helvetica Neue" pitchFamily="34" charset="0"/>
                <a:ea typeface="Helvetica Neue" pitchFamily="34" charset="-122"/>
                <a:cs typeface="Helvetica Neue" pitchFamily="34" charset="-120"/>
              </a:rPr>
              <a:t>El camino que sigue, semana a semana</a:t>
            </a:r>
            <a:endParaRPr lang="en-US" sz="4600" dirty="0"/>
          </a:p>
        </p:txBody>
      </p:sp>
      <p:sp>
        <p:nvSpPr>
          <p:cNvPr id="18" name="Text 8"/>
          <p:cNvSpPr/>
          <p:nvPr/>
        </p:nvSpPr>
        <p:spPr>
          <a:xfrm>
            <a:off x="1051560" y="2880360"/>
            <a:ext cx="14630400" cy="822960"/>
          </a:xfrm>
          <a:prstGeom prst="rect">
            <a:avLst/>
          </a:prstGeom>
          <a:noFill/>
          <a:ln/>
        </p:spPr>
        <p:txBody>
          <a:bodyPr wrap="square" lIns="25400" tIns="25400" rIns="25400" bIns="25400" rtlCol="0" anchor="t">
            <a:normAutofit/>
          </a:bodyPr>
          <a:lstStyle/>
          <a:p>
            <a:pPr marL="0" indent="0" algn="l">
              <a:lnSpc>
                <a:spcPct val="120833"/>
              </a:lnSpc>
              <a:buNone/>
            </a:pPr>
            <a:r>
              <a:rPr lang="en-US" sz="2250" dirty="0">
                <a:solidFill>
                  <a:srgbClr val="FFFFFF">
                    <a:alpha val="69000"/>
                  </a:srgbClr>
                </a:solidFill>
                <a:latin typeface="Helvetica Neue" pitchFamily="34" charset="0"/>
                <a:ea typeface="Helvetica Neue" pitchFamily="34" charset="-122"/>
                <a:cs typeface="Helvetica Neue" pitchFamily="34" charset="-120"/>
              </a:rPr>
              <a:t>Hoy el problema está bien entendido y el producto bien diseñado. Esto es lo que construimos después.</a:t>
            </a:r>
            <a:endParaRPr lang="en-US" sz="2250" dirty="0"/>
          </a:p>
        </p:txBody>
      </p:sp>
      <p:sp>
        <p:nvSpPr>
          <p:cNvPr id="19" name="Shape 9"/>
          <p:cNvSpPr/>
          <p:nvPr/>
        </p:nvSpPr>
        <p:spPr>
          <a:xfrm>
            <a:off x="1051560" y="4892040"/>
            <a:ext cx="3794760" cy="3337560"/>
          </a:xfrm>
          <a:prstGeom prst="roundRect">
            <a:avLst>
              <a:gd name="adj" fmla="val 11111"/>
            </a:avLst>
          </a:prstGeom>
          <a:solidFill>
            <a:srgbClr val="FFFFFF">
              <a:alpha val="5000"/>
            </a:srgbClr>
          </a:solidFill>
          <a:ln w="9525">
            <a:solidFill>
              <a:srgbClr val="BFDDF5">
                <a:alpha val="15000"/>
              </a:srgbClr>
            </a:solidFill>
            <a:prstDash val="solid"/>
          </a:ln>
          <a:effectLst>
            <a:outerShdw blurRad="647700" dist="247650" dir="5400000" algn="bl" rotWithShape="0">
              <a:srgbClr val="000000">
                <a:alpha val="46080"/>
              </a:srgbClr>
            </a:outerShdw>
          </a:effectLst>
        </p:spPr>
        <p:txBody>
          <a:bodyPr/>
          <a:lstStyle/>
          <a:p>
            <a:endParaRPr lang="es-001"/>
          </a:p>
        </p:txBody>
      </p:sp>
      <p:sp>
        <p:nvSpPr>
          <p:cNvPr id="20" name="Text 10"/>
          <p:cNvSpPr/>
          <p:nvPr/>
        </p:nvSpPr>
        <p:spPr>
          <a:xfrm>
            <a:off x="1344168" y="5166360"/>
            <a:ext cx="3246120" cy="777240"/>
          </a:xfrm>
          <a:prstGeom prst="rect">
            <a:avLst/>
          </a:prstGeom>
          <a:noFill/>
          <a:ln/>
        </p:spPr>
        <p:txBody>
          <a:bodyPr wrap="square" lIns="25400" tIns="25400" rIns="25400" bIns="25400" rtlCol="0" anchor="t">
            <a:normAutofit/>
          </a:bodyPr>
          <a:lstStyle/>
          <a:p>
            <a:pPr marL="0" indent="0" algn="l">
              <a:lnSpc>
                <a:spcPct val="82540"/>
              </a:lnSpc>
              <a:buNone/>
            </a:pPr>
            <a:r>
              <a:rPr lang="en-US" sz="3300" kern="0" spc="0" dirty="0">
                <a:solidFill>
                  <a:srgbClr val="FFFFFF">
                    <a:alpha val="92000"/>
                  </a:srgbClr>
                </a:solidFill>
                <a:latin typeface="Helvetica Neue" pitchFamily="34" charset="0"/>
                <a:ea typeface="Helvetica Neue" pitchFamily="34" charset="-122"/>
                <a:cs typeface="Helvetica Neue" pitchFamily="34" charset="-120"/>
              </a:rPr>
              <a:t>Semanas 7 a 9</a:t>
            </a:r>
            <a:endParaRPr lang="en-US" sz="3300" dirty="0"/>
          </a:p>
        </p:txBody>
      </p:sp>
      <p:sp>
        <p:nvSpPr>
          <p:cNvPr id="21" name="Text 11"/>
          <p:cNvSpPr/>
          <p:nvPr/>
        </p:nvSpPr>
        <p:spPr>
          <a:xfrm>
            <a:off x="1344168" y="6126480"/>
            <a:ext cx="3246120" cy="1920240"/>
          </a:xfrm>
          <a:prstGeom prst="rect">
            <a:avLst/>
          </a:prstGeom>
          <a:noFill/>
          <a:ln/>
        </p:spPr>
        <p:txBody>
          <a:bodyPr wrap="square" lIns="25400" tIns="25400" rIns="25400" bIns="25400" rtlCol="0" anchor="t">
            <a:normAutofit/>
          </a:bodyPr>
          <a:lstStyle/>
          <a:p>
            <a:pPr marL="0" indent="0" algn="l">
              <a:lnSpc>
                <a:spcPct val="115862"/>
              </a:lnSpc>
              <a:buNone/>
            </a:pPr>
            <a:r>
              <a:rPr lang="en-US" sz="1650" dirty="0">
                <a:solidFill>
                  <a:srgbClr val="FFFFFF">
                    <a:alpha val="63000"/>
                  </a:srgbClr>
                </a:solidFill>
                <a:latin typeface="Helvetica Neue" pitchFamily="34" charset="0"/>
                <a:ea typeface="Helvetica Neue" pitchFamily="34" charset="-122"/>
                <a:cs typeface="Helvetica Neue" pitchFamily="34" charset="-120"/>
              </a:rPr>
              <a:t>Entrenamos el modelo con datos de 2020 a 2024, lo ajustamos con 2025 y lo probamos una sola vez con 2026 — datos que nunca vio, para que el resultado sea confiable.</a:t>
            </a:r>
            <a:endParaRPr lang="en-US" sz="1650" dirty="0"/>
          </a:p>
        </p:txBody>
      </p:sp>
      <p:sp>
        <p:nvSpPr>
          <p:cNvPr id="22" name="Shape 9"/>
          <p:cNvSpPr/>
          <p:nvPr/>
        </p:nvSpPr>
        <p:spPr>
          <a:xfrm>
            <a:off x="5257800" y="4892040"/>
            <a:ext cx="3794760" cy="3337560"/>
          </a:xfrm>
          <a:prstGeom prst="roundRect">
            <a:avLst>
              <a:gd name="adj" fmla="val 11111"/>
            </a:avLst>
          </a:prstGeom>
          <a:solidFill>
            <a:srgbClr val="FFFFFF">
              <a:alpha val="5000"/>
            </a:srgbClr>
          </a:solidFill>
          <a:ln w="9525">
            <a:solidFill>
              <a:srgbClr val="BFDDF5">
                <a:alpha val="15000"/>
              </a:srgbClr>
            </a:solidFill>
            <a:prstDash val="solid"/>
          </a:ln>
          <a:effectLst>
            <a:outerShdw blurRad="647700" dist="247650" dir="5400000" algn="bl" rotWithShape="0">
              <a:srgbClr val="000000">
                <a:alpha val="46080"/>
              </a:srgbClr>
            </a:outerShdw>
          </a:effectLst>
        </p:spPr>
        <p:txBody>
          <a:bodyPr/>
          <a:lstStyle/>
          <a:p>
            <a:endParaRPr lang="es-001"/>
          </a:p>
        </p:txBody>
      </p:sp>
      <p:sp>
        <p:nvSpPr>
          <p:cNvPr id="23" name="Text 10"/>
          <p:cNvSpPr/>
          <p:nvPr/>
        </p:nvSpPr>
        <p:spPr>
          <a:xfrm>
            <a:off x="5550408" y="5166360"/>
            <a:ext cx="3246120" cy="777240"/>
          </a:xfrm>
          <a:prstGeom prst="rect">
            <a:avLst/>
          </a:prstGeom>
          <a:noFill/>
          <a:ln/>
        </p:spPr>
        <p:txBody>
          <a:bodyPr wrap="square" lIns="25400" tIns="25400" rIns="25400" bIns="25400" rtlCol="0" anchor="t">
            <a:normAutofit/>
          </a:bodyPr>
          <a:lstStyle/>
          <a:p>
            <a:pPr marL="0" indent="0" algn="l">
              <a:lnSpc>
                <a:spcPct val="82540"/>
              </a:lnSpc>
              <a:buNone/>
            </a:pPr>
            <a:r>
              <a:rPr lang="en-US" sz="3300" kern="0" spc="0" dirty="0">
                <a:solidFill>
                  <a:srgbClr val="FFFFFF">
                    <a:alpha val="92000"/>
                  </a:srgbClr>
                </a:solidFill>
                <a:latin typeface="Helvetica Neue" pitchFamily="34" charset="0"/>
                <a:ea typeface="Helvetica Neue" pitchFamily="34" charset="-122"/>
                <a:cs typeface="Helvetica Neue" pitchFamily="34" charset="-120"/>
              </a:rPr>
              <a:t>Semana 10</a:t>
            </a:r>
            <a:endParaRPr lang="en-US" sz="3300" dirty="0"/>
          </a:p>
        </p:txBody>
      </p:sp>
      <p:sp>
        <p:nvSpPr>
          <p:cNvPr id="24" name="Text 11"/>
          <p:cNvSpPr/>
          <p:nvPr/>
        </p:nvSpPr>
        <p:spPr>
          <a:xfrm>
            <a:off x="5550408" y="6126480"/>
            <a:ext cx="3246120" cy="1920240"/>
          </a:xfrm>
          <a:prstGeom prst="rect">
            <a:avLst/>
          </a:prstGeom>
          <a:noFill/>
          <a:ln/>
        </p:spPr>
        <p:txBody>
          <a:bodyPr wrap="square" lIns="25400" tIns="25400" rIns="25400" bIns="25400" rtlCol="0" anchor="t">
            <a:normAutofit/>
          </a:bodyPr>
          <a:lstStyle/>
          <a:p>
            <a:pPr marL="0" indent="0" algn="l">
              <a:lnSpc>
                <a:spcPct val="115862"/>
              </a:lnSpc>
              <a:buNone/>
            </a:pPr>
            <a:r>
              <a:rPr lang="en-US" sz="1650" dirty="0">
                <a:solidFill>
                  <a:srgbClr val="FFFFFF">
                    <a:alpha val="63000"/>
                  </a:srgbClr>
                </a:solidFill>
                <a:latin typeface="Helvetica Neue" pitchFamily="34" charset="0"/>
                <a:ea typeface="Helvetica Neue" pitchFamily="34" charset="-122"/>
                <a:cs typeface="Helvetica Neue" pitchFamily="34" charset="-120"/>
              </a:rPr>
              <a:t>Sacamos la app al aire: pública, gratuita y en internet.</a:t>
            </a:r>
            <a:endParaRPr lang="en-US" sz="1650" dirty="0"/>
          </a:p>
        </p:txBody>
      </p:sp>
      <p:sp>
        <p:nvSpPr>
          <p:cNvPr id="25" name="Shape 9"/>
          <p:cNvSpPr/>
          <p:nvPr/>
        </p:nvSpPr>
        <p:spPr>
          <a:xfrm>
            <a:off x="9464040" y="4892040"/>
            <a:ext cx="3794760" cy="3337560"/>
          </a:xfrm>
          <a:prstGeom prst="roundRect">
            <a:avLst>
              <a:gd name="adj" fmla="val 11111"/>
            </a:avLst>
          </a:prstGeom>
          <a:solidFill>
            <a:srgbClr val="FFFFFF">
              <a:alpha val="5000"/>
            </a:srgbClr>
          </a:solidFill>
          <a:ln w="9525">
            <a:solidFill>
              <a:srgbClr val="BFDDF5">
                <a:alpha val="15000"/>
              </a:srgbClr>
            </a:solidFill>
            <a:prstDash val="solid"/>
          </a:ln>
          <a:effectLst>
            <a:outerShdw blurRad="647700" dist="247650" dir="5400000" algn="bl" rotWithShape="0">
              <a:srgbClr val="000000">
                <a:alpha val="46080"/>
              </a:srgbClr>
            </a:outerShdw>
          </a:effectLst>
        </p:spPr>
        <p:txBody>
          <a:bodyPr/>
          <a:lstStyle/>
          <a:p>
            <a:endParaRPr lang="es-001"/>
          </a:p>
        </p:txBody>
      </p:sp>
      <p:sp>
        <p:nvSpPr>
          <p:cNvPr id="26" name="Text 10"/>
          <p:cNvSpPr/>
          <p:nvPr/>
        </p:nvSpPr>
        <p:spPr>
          <a:xfrm>
            <a:off x="9756648" y="5166360"/>
            <a:ext cx="3246120" cy="777240"/>
          </a:xfrm>
          <a:prstGeom prst="rect">
            <a:avLst/>
          </a:prstGeom>
          <a:noFill/>
          <a:ln/>
        </p:spPr>
        <p:txBody>
          <a:bodyPr wrap="square" lIns="25400" tIns="25400" rIns="25400" bIns="25400" rtlCol="0" anchor="t">
            <a:normAutofit/>
          </a:bodyPr>
          <a:lstStyle/>
          <a:p>
            <a:pPr marL="0" indent="0" algn="l">
              <a:lnSpc>
                <a:spcPct val="82540"/>
              </a:lnSpc>
              <a:buNone/>
            </a:pPr>
            <a:r>
              <a:rPr lang="en-US" sz="3300" kern="0" spc="0" dirty="0">
                <a:solidFill>
                  <a:srgbClr val="FFFFFF">
                    <a:alpha val="92000"/>
                  </a:srgbClr>
                </a:solidFill>
                <a:latin typeface="Helvetica Neue" pitchFamily="34" charset="0"/>
                <a:ea typeface="Helvetica Neue" pitchFamily="34" charset="-122"/>
                <a:cs typeface="Helvetica Neue" pitchFamily="34" charset="-120"/>
              </a:rPr>
              <a:t>Semana 11</a:t>
            </a:r>
            <a:endParaRPr lang="en-US" sz="3300" dirty="0"/>
          </a:p>
        </p:txBody>
      </p:sp>
      <p:sp>
        <p:nvSpPr>
          <p:cNvPr id="27" name="Text 11"/>
          <p:cNvSpPr/>
          <p:nvPr/>
        </p:nvSpPr>
        <p:spPr>
          <a:xfrm>
            <a:off x="9756648" y="6126480"/>
            <a:ext cx="3246120" cy="1920240"/>
          </a:xfrm>
          <a:prstGeom prst="rect">
            <a:avLst/>
          </a:prstGeom>
          <a:noFill/>
          <a:ln/>
        </p:spPr>
        <p:txBody>
          <a:bodyPr wrap="square" lIns="25400" tIns="25400" rIns="25400" bIns="25400" rtlCol="0" anchor="t">
            <a:normAutofit/>
          </a:bodyPr>
          <a:lstStyle/>
          <a:p>
            <a:pPr marL="0" indent="0" algn="l">
              <a:lnSpc>
                <a:spcPct val="115862"/>
              </a:lnSpc>
              <a:buNone/>
            </a:pPr>
            <a:r>
              <a:rPr lang="en-US" sz="1650" dirty="0">
                <a:solidFill>
                  <a:srgbClr val="FFFFFF">
                    <a:alpha val="63000"/>
                  </a:srgbClr>
                </a:solidFill>
                <a:latin typeface="Helvetica Neue" pitchFamily="34" charset="0"/>
                <a:ea typeface="Helvetica Neue" pitchFamily="34" charset="-122"/>
                <a:cs typeface="Helvetica Neue" pitchFamily="34" charset="-120"/>
              </a:rPr>
              <a:t>La probamos con conductores reales y escuchamos qué opinan.</a:t>
            </a:r>
            <a:endParaRPr lang="en-US" sz="1650" dirty="0"/>
          </a:p>
        </p:txBody>
      </p:sp>
      <p:sp>
        <p:nvSpPr>
          <p:cNvPr id="28" name="Shape 9"/>
          <p:cNvSpPr/>
          <p:nvPr/>
        </p:nvSpPr>
        <p:spPr>
          <a:xfrm>
            <a:off x="13670280" y="4892040"/>
            <a:ext cx="3794760" cy="3337560"/>
          </a:xfrm>
          <a:prstGeom prst="roundRect">
            <a:avLst>
              <a:gd name="adj" fmla="val 11111"/>
            </a:avLst>
          </a:prstGeom>
          <a:solidFill>
            <a:srgbClr val="FFFFFF">
              <a:alpha val="5000"/>
            </a:srgbClr>
          </a:solidFill>
          <a:ln w="9525">
            <a:solidFill>
              <a:srgbClr val="BFDDF5">
                <a:alpha val="15000"/>
              </a:srgbClr>
            </a:solidFill>
            <a:prstDash val="solid"/>
          </a:ln>
          <a:effectLst>
            <a:outerShdw blurRad="647700" dist="247650" dir="5400000" algn="bl" rotWithShape="0">
              <a:srgbClr val="000000">
                <a:alpha val="46080"/>
              </a:srgbClr>
            </a:outerShdw>
          </a:effectLst>
        </p:spPr>
        <p:txBody>
          <a:bodyPr/>
          <a:lstStyle/>
          <a:p>
            <a:endParaRPr lang="es-001"/>
          </a:p>
        </p:txBody>
      </p:sp>
      <p:sp>
        <p:nvSpPr>
          <p:cNvPr id="29" name="Text 10"/>
          <p:cNvSpPr/>
          <p:nvPr/>
        </p:nvSpPr>
        <p:spPr>
          <a:xfrm>
            <a:off x="13962888" y="5166360"/>
            <a:ext cx="3246120" cy="777240"/>
          </a:xfrm>
          <a:prstGeom prst="rect">
            <a:avLst/>
          </a:prstGeom>
          <a:noFill/>
          <a:ln/>
        </p:spPr>
        <p:txBody>
          <a:bodyPr wrap="square" lIns="25400" tIns="25400" rIns="25400" bIns="25400" rtlCol="0" anchor="t">
            <a:normAutofit/>
          </a:bodyPr>
          <a:lstStyle/>
          <a:p>
            <a:pPr marL="0" indent="0" algn="l">
              <a:lnSpc>
                <a:spcPct val="82540"/>
              </a:lnSpc>
              <a:buNone/>
            </a:pPr>
            <a:r>
              <a:rPr lang="en-US" sz="3300" kern="0" spc="0" dirty="0">
                <a:solidFill>
                  <a:srgbClr val="FFFFFF">
                    <a:alpha val="92000"/>
                  </a:srgbClr>
                </a:solidFill>
                <a:latin typeface="Helvetica Neue" pitchFamily="34" charset="0"/>
                <a:ea typeface="Helvetica Neue" pitchFamily="34" charset="-122"/>
                <a:cs typeface="Helvetica Neue" pitchFamily="34" charset="-120"/>
              </a:rPr>
              <a:t>Semanas 12 y 13</a:t>
            </a:r>
            <a:endParaRPr lang="en-US" sz="3300" dirty="0"/>
          </a:p>
        </p:txBody>
      </p:sp>
      <p:sp>
        <p:nvSpPr>
          <p:cNvPr id="30" name="Text 11"/>
          <p:cNvSpPr/>
          <p:nvPr/>
        </p:nvSpPr>
        <p:spPr>
          <a:xfrm>
            <a:off x="13962888" y="6126480"/>
            <a:ext cx="3246120" cy="1920240"/>
          </a:xfrm>
          <a:prstGeom prst="rect">
            <a:avLst/>
          </a:prstGeom>
          <a:noFill/>
          <a:ln/>
        </p:spPr>
        <p:txBody>
          <a:bodyPr wrap="square" lIns="25400" tIns="25400" rIns="25400" bIns="25400" rtlCol="0" anchor="t">
            <a:normAutofit/>
          </a:bodyPr>
          <a:lstStyle/>
          <a:p>
            <a:pPr marL="0" indent="0" algn="l">
              <a:lnSpc>
                <a:spcPct val="115862"/>
              </a:lnSpc>
              <a:buNone/>
            </a:pPr>
            <a:r>
              <a:rPr lang="en-US" sz="1650" dirty="0">
                <a:solidFill>
                  <a:srgbClr val="FFFFFF">
                    <a:alpha val="63000"/>
                  </a:srgbClr>
                </a:solidFill>
                <a:latin typeface="Helvetica Neue" pitchFamily="34" charset="0"/>
                <a:ea typeface="Helvetica Neue" pitchFamily="34" charset="-122"/>
                <a:cs typeface="Helvetica Neue" pitchFamily="34" charset="-120"/>
              </a:rPr>
              <a:t>Medimos si de verdad ahorra dinero frente al baseline —la opción más simple, «todo sigue igual»— y cerramos el curso con la sustentación final.</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4395C">
                  <a:alpha val="100000"/>
                </a:srgbClr>
              </a:gs>
              <a:gs pos="30000">
                <a:srgbClr val="0A1E33">
                  <a:alpha val="100000"/>
                </a:srgbClr>
              </a:gs>
              <a:gs pos="62000">
                <a:srgbClr val="040B14">
                  <a:alpha val="100000"/>
                </a:srgbClr>
              </a:gs>
              <a:gs pos="100000">
                <a:srgbClr val="000000">
                  <a:alpha val="100000"/>
                </a:srgbClr>
              </a:gs>
            </a:gsLst>
            <a:path path="circle">
              <a:fillToRect l="50000" t="100000" r="50000"/>
            </a:path>
          </a:gradFill>
          <a:ln/>
        </p:spPr>
        <p:txBody>
          <a:bodyPr/>
          <a:lstStyle/>
          <a:p>
            <a:endParaRPr lang="es-001"/>
          </a:p>
        </p:txBody>
      </p:sp>
      <p:sp>
        <p:nvSpPr>
          <p:cNvPr id="3" name="Shape 1"/>
          <p:cNvSpPr/>
          <p:nvPr/>
        </p:nvSpPr>
        <p:spPr>
          <a:xfrm>
            <a:off x="-2787717" y="-2352919"/>
            <a:ext cx="25233318" cy="14193741"/>
          </a:xfrm>
          <a:prstGeom prst="rect">
            <a:avLst/>
          </a:prstGeom>
          <a:gradFill rotWithShape="1">
            <a:gsLst>
              <a:gs pos="0">
                <a:srgbClr val="EAF4FC">
                  <a:alpha val="80000"/>
                </a:srgbClr>
              </a:gs>
              <a:gs pos="18000">
                <a:srgbClr val="88C1ED">
                  <a:alpha val="48000"/>
                </a:srgbClr>
              </a:gs>
              <a:gs pos="44000">
                <a:srgbClr val="4686B7">
                  <a:alpha val="24000"/>
                </a:srgbClr>
              </a:gs>
              <a:gs pos="80000">
                <a:srgbClr val="4686B7">
                  <a:alpha val="0"/>
                </a:srgbClr>
              </a:gs>
            </a:gsLst>
            <a:path path="circle">
              <a:fillToRect l="50000" t="100000" r="50000"/>
            </a:path>
          </a:gradFill>
          <a:ln/>
        </p:spPr>
        <p:txBody>
          <a:bodyPr/>
          <a:lstStyle/>
          <a:p>
            <a:endParaRPr lang="es-001"/>
          </a:p>
        </p:txBody>
      </p:sp>
      <p:pic>
        <p:nvPicPr>
          <p:cNvPr id="4" name="Image 0" descr="preencoded.png"/>
          <p:cNvPicPr>
            <a:picLocks noChangeAspect="1"/>
          </p:cNvPicPr>
          <p:nvPr/>
        </p:nvPicPr>
        <p:blipFill>
          <a:blip r:embed="rId3"/>
          <a:srcRect t="3363" b="7846"/>
          <a:stretch/>
        </p:blipFill>
        <p:spPr>
          <a:xfrm>
            <a:off x="0" y="0"/>
            <a:ext cx="18288000" cy="10287000"/>
          </a:xfrm>
          <a:prstGeom prst="rect">
            <a:avLst/>
          </a:prstGeom>
        </p:spPr>
      </p:pic>
      <p:sp>
        <p:nvSpPr>
          <p:cNvPr id="5" name="Shape 2"/>
          <p:cNvSpPr/>
          <p:nvPr/>
        </p:nvSpPr>
        <p:spPr>
          <a:xfrm>
            <a:off x="0" y="0"/>
            <a:ext cx="18288000" cy="10287000"/>
          </a:xfrm>
          <a:prstGeom prst="rect">
            <a:avLst/>
          </a:prstGeom>
          <a:gradFill rotWithShape="1">
            <a:gsLst>
              <a:gs pos="0">
                <a:srgbClr val="010409">
                  <a:alpha val="18000"/>
                </a:srgbClr>
              </a:gs>
              <a:gs pos="38000">
                <a:srgbClr val="010409">
                  <a:alpha val="50000"/>
                </a:srgbClr>
              </a:gs>
              <a:gs pos="70000">
                <a:srgbClr val="010409">
                  <a:alpha val="86000"/>
                </a:srgbClr>
              </a:gs>
              <a:gs pos="100000">
                <a:srgbClr val="010409">
                  <a:alpha val="96000"/>
                </a:srgbClr>
              </a:gs>
            </a:gsLst>
            <a:path path="circle">
              <a:fillToRect l="50000" t="30000" r="50000" b="70000"/>
            </a:path>
          </a:gradFill>
          <a:ln/>
        </p:spPr>
        <p:txBody>
          <a:bodyPr/>
          <a:lstStyle/>
          <a:p>
            <a:endParaRPr lang="es-001"/>
          </a:p>
        </p:txBody>
      </p:sp>
      <p:sp>
        <p:nvSpPr>
          <p:cNvPr id="6" name="Shape 3"/>
          <p:cNvSpPr/>
          <p:nvPr/>
        </p:nvSpPr>
        <p:spPr>
          <a:xfrm>
            <a:off x="0" y="0"/>
            <a:ext cx="18288000" cy="10287000"/>
          </a:xfrm>
          <a:prstGeom prst="rect">
            <a:avLst/>
          </a:prstGeom>
          <a:blipFill>
            <a:blip r:embed="rId4"/>
            <a:tile tx="0" ty="0" sx="100000" sy="100000" flip="none" algn="tl"/>
          </a:blipFill>
          <a:ln/>
        </p:spPr>
        <p:txBody>
          <a:bodyPr/>
          <a:lstStyle/>
          <a:p>
            <a:endParaRPr lang="es-001"/>
          </a:p>
        </p:txBody>
      </p:sp>
      <p:pic>
        <p:nvPicPr>
          <p:cNvPr id="7" name="Image 1"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0" y="0"/>
            <a:ext cx="18288000" cy="10287000"/>
          </a:xfrm>
          <a:prstGeom prst="rect">
            <a:avLst/>
          </a:prstGeom>
        </p:spPr>
      </p:pic>
      <p:sp>
        <p:nvSpPr>
          <p:cNvPr id="8" name="Shape 4"/>
          <p:cNvSpPr/>
          <p:nvPr/>
        </p:nvSpPr>
        <p:spPr>
          <a:xfrm>
            <a:off x="0" y="0"/>
            <a:ext cx="18288000" cy="10287000"/>
          </a:xfrm>
          <a:prstGeom prst="rect">
            <a:avLst/>
          </a:prstGeom>
          <a:gradFill rotWithShape="1">
            <a:gsLst>
              <a:gs pos="48000">
                <a:srgbClr val="000000">
                  <a:alpha val="0"/>
                </a:srgbClr>
              </a:gs>
              <a:gs pos="100000">
                <a:srgbClr val="000000">
                  <a:alpha val="74000"/>
                </a:srgbClr>
              </a:gs>
            </a:gsLst>
            <a:path path="circle">
              <a:fillToRect l="50000" t="50000" r="50000" b="50000"/>
            </a:path>
          </a:gradFill>
          <a:ln/>
        </p:spPr>
        <p:txBody>
          <a:bodyPr/>
          <a:lstStyle/>
          <a:p>
            <a:endParaRPr lang="es-001"/>
          </a:p>
        </p:txBody>
      </p:sp>
      <p:sp>
        <p:nvSpPr>
          <p:cNvPr id="9" name="Shape 5"/>
          <p:cNvSpPr/>
          <p:nvPr/>
        </p:nvSpPr>
        <p:spPr>
          <a:xfrm>
            <a:off x="0" y="5334000"/>
            <a:ext cx="18288000" cy="4953000"/>
          </a:xfrm>
          <a:prstGeom prst="rect">
            <a:avLst/>
          </a:prstGeom>
          <a:gradFill rotWithShape="1">
            <a:gsLst>
              <a:gs pos="0">
                <a:srgbClr val="010409">
                  <a:alpha val="0"/>
                </a:srgbClr>
              </a:gs>
              <a:gs pos="46000">
                <a:srgbClr val="010409">
                  <a:alpha val="72000"/>
                </a:srgbClr>
              </a:gs>
              <a:gs pos="100000">
                <a:srgbClr val="010409">
                  <a:alpha val="92000"/>
                </a:srgbClr>
              </a:gs>
            </a:gsLst>
            <a:lin ang="5400000" scaled="0"/>
          </a:gradFill>
          <a:ln/>
        </p:spPr>
        <p:txBody>
          <a:bodyPr/>
          <a:lstStyle/>
          <a:p>
            <a:endParaRPr lang="es-001"/>
          </a:p>
        </p:txBody>
      </p:sp>
      <p:sp>
        <p:nvSpPr>
          <p:cNvPr id="10" name="Text 5"/>
          <p:cNvSpPr/>
          <p:nvPr/>
        </p:nvSpPr>
        <p:spPr>
          <a:xfrm>
            <a:off x="5394960" y="3657600"/>
            <a:ext cx="7772400" cy="1554480"/>
          </a:xfrm>
          <a:prstGeom prst="rect">
            <a:avLst/>
          </a:prstGeom>
          <a:noFill/>
          <a:ln/>
        </p:spPr>
        <p:txBody>
          <a:bodyPr wrap="none" lIns="25400" tIns="25400" rIns="25400" bIns="25400" rtlCol="0" anchor="t">
            <a:normAutofit/>
          </a:bodyPr>
          <a:lstStyle/>
          <a:p>
            <a:pPr marL="0" indent="0" algn="l">
              <a:lnSpc>
                <a:spcPct val="82292"/>
              </a:lnSpc>
              <a:buNone/>
            </a:pPr>
            <a:r>
              <a:rPr lang="en-US" sz="11850" kern="0" spc="0" dirty="0">
                <a:gradFill rotWithShape="1">
                  <a:gsLst>
                    <a:gs pos="0">
                      <a:srgbClr val="6F7C8A">
                        <a:alpha val="95000"/>
                      </a:srgbClr>
                    </a:gs>
                    <a:gs pos="16000">
                      <a:srgbClr val="8E9AA8">
                        <a:alpha val="95000"/>
                      </a:srgbClr>
                    </a:gs>
                    <a:gs pos="42000">
                      <a:srgbClr val="FFFFFF">
                        <a:alpha val="95000"/>
                      </a:srgbClr>
                    </a:gs>
                    <a:gs pos="64000">
                      <a:srgbClr val="BFDDF5">
                        <a:alpha val="95000"/>
                      </a:srgbClr>
                    </a:gs>
                    <a:gs pos="100000">
                      <a:srgbClr val="88C1ED">
                        <a:alpha val="95000"/>
                      </a:srgbClr>
                    </a:gs>
                  </a:gsLst>
                  <a:lin ang="600000" scaled="0"/>
                </a:gradFill>
                <a:latin typeface="Helvetica Neue" pitchFamily="34" charset="0"/>
                <a:ea typeface="Helvetica Neue" pitchFamily="34" charset="-122"/>
                <a:cs typeface="Helvetica Neue" pitchFamily="34" charset="-120"/>
              </a:rPr>
              <a:t>Gracias</a:t>
            </a:r>
            <a:endParaRPr lang="en-US" sz="11850" dirty="0"/>
          </a:p>
        </p:txBody>
      </p:sp>
      <p:sp>
        <p:nvSpPr>
          <p:cNvPr id="11" name="Text 7"/>
          <p:cNvSpPr/>
          <p:nvPr/>
        </p:nvSpPr>
        <p:spPr>
          <a:xfrm>
            <a:off x="1143000" y="8823960"/>
            <a:ext cx="7863840" cy="347472"/>
          </a:xfrm>
          <a:prstGeom prst="rect">
            <a:avLst/>
          </a:prstGeom>
          <a:noFill/>
          <a:ln/>
        </p:spPr>
        <p:txBody>
          <a:bodyPr wrap="square" lIns="25400" tIns="25400" rIns="25400" bIns="25400" rtlCol="0" anchor="t">
            <a:normAutofit/>
          </a:bodyPr>
          <a:lstStyle/>
          <a:p>
            <a:pPr marL="0" indent="0" algn="l">
              <a:buNone/>
            </a:pPr>
            <a:r>
              <a:rPr lang="en-US" sz="1950" dirty="0">
                <a:solidFill>
                  <a:srgbClr val="FFFFFF">
                    <a:alpha val="70000"/>
                  </a:srgbClr>
                </a:solidFill>
                <a:latin typeface="Helvetica Neue" pitchFamily="34" charset="0"/>
                <a:ea typeface="Helvetica Neue" pitchFamily="34" charset="-122"/>
                <a:cs typeface="Helvetica Neue" pitchFamily="34" charset="-120"/>
              </a:rPr>
              <a:t>Stefano Canales · Carlos Flores · Carlos Alcazar · Miguel Ángel Mori</a:t>
            </a:r>
            <a:endParaRPr lang="en-US" sz="1950" dirty="0"/>
          </a:p>
        </p:txBody>
      </p:sp>
      <p:sp>
        <p:nvSpPr>
          <p:cNvPr id="12" name="Text 8"/>
          <p:cNvSpPr/>
          <p:nvPr/>
        </p:nvSpPr>
        <p:spPr>
          <a:xfrm>
            <a:off x="9692640" y="8823960"/>
            <a:ext cx="7406640" cy="347472"/>
          </a:xfrm>
          <a:prstGeom prst="rect">
            <a:avLst/>
          </a:prstGeom>
          <a:noFill/>
          <a:ln/>
        </p:spPr>
        <p:txBody>
          <a:bodyPr wrap="square" lIns="25400" tIns="25400" rIns="25400" bIns="25400" rtlCol="0" anchor="t">
            <a:normAutofit/>
          </a:bodyPr>
          <a:lstStyle/>
          <a:p>
            <a:pPr marL="0" indent="0" algn="l">
              <a:buNone/>
            </a:pPr>
            <a:r>
              <a:rPr lang="en-US" sz="1950" dirty="0">
                <a:solidFill>
                  <a:srgbClr val="FFFFFF">
                    <a:alpha val="70000"/>
                  </a:srgbClr>
                </a:solidFill>
                <a:latin typeface="Helvetica Neue" pitchFamily="34" charset="0"/>
                <a:ea typeface="Helvetica Neue" pitchFamily="34" charset="-122"/>
                <a:cs typeface="Helvetica Neue" pitchFamily="34" charset="-120"/>
              </a:rPr>
              <a:t>Inteligencia Artificial para Negocios · 19 de septiembre de 2026</a:t>
            </a:r>
            <a:endParaRPr lang="en-US" sz="1950" dirty="0"/>
          </a:p>
        </p:txBody>
      </p:sp>
      <p:sp>
        <p:nvSpPr>
          <p:cNvPr id="13" name="Text 11"/>
          <p:cNvSpPr/>
          <p:nvPr/>
        </p:nvSpPr>
        <p:spPr>
          <a:xfrm>
            <a:off x="1143000" y="8366760"/>
            <a:ext cx="9144000" cy="411480"/>
          </a:xfrm>
          <a:prstGeom prst="rect">
            <a:avLst/>
          </a:prstGeom>
          <a:noFill/>
          <a:ln/>
        </p:spPr>
        <p:txBody>
          <a:bodyPr wrap="square" lIns="25400" tIns="25400" rIns="25400" bIns="25400" rtlCol="0" anchor="t">
            <a:normAutofit/>
          </a:bodyPr>
          <a:lstStyle/>
          <a:p>
            <a:pPr marL="0" indent="0" algn="l">
              <a:lnSpc>
                <a:spcPct val="115862"/>
              </a:lnSpc>
              <a:buNone/>
            </a:pPr>
            <a:r>
              <a:rPr lang="en-US" sz="1600" dirty="0">
                <a:solidFill>
                  <a:srgbClr val="FFFFFF">
                    <a:alpha val="55000"/>
                  </a:srgbClr>
                </a:solidFill>
                <a:latin typeface="Helvetica Neue" pitchFamily="34" charset="0"/>
                <a:ea typeface="Helvetica Neue" pitchFamily="34" charset="-122"/>
                <a:cs typeface="Helvetica Neue" pitchFamily="34" charset="-120"/>
              </a:rPr>
              <a:t>github.com/Los-1000/tanquelleno-ai</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1537</Words>
  <Application>Microsoft Macintosh PowerPoint</Application>
  <PresentationFormat>Personalizado</PresentationFormat>
  <Paragraphs>157</Paragraphs>
  <Slides>13</Slides>
  <Notes>13</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13</vt:i4>
      </vt:variant>
    </vt:vector>
  </HeadingPairs>
  <TitlesOfParts>
    <vt:vector size="16" baseType="lpstr">
      <vt:lpstr>Arial</vt:lpstr>
      <vt:lpstr>Helvetica Neue</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Miguel Angel Mori Valderrama</cp:lastModifiedBy>
  <cp:revision>1</cp:revision>
  <dcterms:created xsi:type="dcterms:W3CDTF">2026-09-21T23:51:50Z</dcterms:created>
  <dcterms:modified xsi:type="dcterms:W3CDTF">2026-09-22T00:45:03Z</dcterms:modified>
</cp:coreProperties>
</file>